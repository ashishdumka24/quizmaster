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This is QuizMaster - my online quiz, assessment and Total Quality Management platform. In one line: students take timed quizzes that are graded the instant they submit, administrators manage everything from one console, and a built-in TQM workspace keeps improving the system using real data. It runs in any browser, on phone or desktop, and everything I will show today is a real, working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baseline. In a typical classroom a quiz means paper, manual checking that takes hours, and results that reach students days later - too late to fix weak topics. There is no record of past attempts, marking errors and duplicate entries creep in, and with nothing measured, nothing can improve. QuizMaster removes each of these pain points one-to-one: instant grading, instant feedback, complete history, validated data and built-in quality tools.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was planned, not added later. We defined twenty quality goals - reliability, performance, usability, security, reporting and continuous improvement - and every single one maps to a feature that actually works in the app. On the right is the SRS in brief: what the system must do, and how well it must do it. Because the mapping lives in the code itself, an examiner can open the TQM centre and verify each goal live.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exactly two user roles. Students get a learning-focused portal: sign up with email OTP verification, explore quizzes, attempt them under a timer with autosave protection, and track their growth. Administrators get a complete management console: users, quizzes, the question bank, analytics, audit logs and system maintenance. Both portals share one database, but access is strictly separated by role - that separation is itself one of our security quality goals.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Functionally the system is seven modules. Security first: OTP verification and role-based access. Then the learning side - student portal and the quiz engine with its timer, autosave and instant grading. The question bank lets admins build content quickly, including bulk import. Analytics turns attempts into insight and exportable reports. And the seventh module, the TQM workspace, is what makes this project different - quality tools running inside the product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requests flow through four clean layers: templates render the pages, seven blueprints route requests, twelve services hold the business logic like grading and exports, and SQLAlchemy models talk to the database. The 22 tables fall into four domains - users, quiz core, quality and system. And the folder structure mirrors the architecture exactly, so any developer can find any feature in seconds. This modularity is our maintainability quality goal, Q11,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main workflow end to end. A student registers and verifies an email OTP, explores and picks a quiz, attempts it under a timer, and submits. Grading happens on the server immediately - no teacher action needed. The student reviews the result, and the data flows into admin analytics, which feeds the PDCA improvement cycle. Notice the three safety nets: answers autosave continuously, the quiz auto-submits at the deadline, and even a refresh or disconnect cannot lose an attempt. That is reliability, goal Q01, in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data operations are proper CRUD, integrated end to end with the database. Admins create quizzes and questions - or import them in bulk from CSV or JSON. Every list supports search, filters, sorting and pagination. Updates cover everything from editing a question to changing a user's account status. Deletes always ask for confirmation and are written to an append-only audit log. Under the hood, SQLAlchemy ORM prevents SQL injection, and unique constraints make duplicate entries - quality goal Q06 - impossible at the database level.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student experience. The dashboard acts like a coach: it shows the study streak, a score-trend graph, subject-wise performance, and it recommends quizzes in the student's weakest subjects - here, Mathematics. During a quiz the player shows the timer and progress and supports keyboard answering. The moment a quiz is submitted, the student sees the score and can review every answer with explanations. Themes, colour palettes and accessibility settings make it personal - quality goals Q03, Q08 and Q12.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project. The TQM centre applies the classic quality tools to QuizMaster itself. Sixteen genuine defects found during development are logged and root-caused - all closed. Pareto analysis shows UI/layout, authentication and validation are the vital-few categories. FMEA scores twelve risks by RPN and re-scores them after corrective action. PDCA, SIPOC-CTQ and control charts complete the cycle. And look at the live CTQ metrics: submissions process in about 7 milliseconds against a 500-millisecond target, with 100 percent autosave success and perfectly reproducible grading.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QuizMaster is a complete, tested, working system - over thirteen thousand lines of code, more than a hundred routes, twenty-two tables, and a pytest suite covering authentication, the quiz flow, grading security and the quality tools. All sixteen real defects we found are fixed and documented. Next steps are richer question types, deeper analytics, CI/CD and further scaling. Thank you for your time - I am happy to take questions, and even happier to give a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15.jpg"/><Relationship Id="rId4" Type="http://schemas.openxmlformats.org/officeDocument/2006/relationships/image" Target="../media/image11.jpg"/><Relationship Id="rId5" Type="http://schemas.openxmlformats.org/officeDocument/2006/relationships/image" Target="../media/image12.jp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jpg"/>
          <p:cNvPicPr>
            <a:picLocks noChangeAspect="1"/>
          </p:cNvPicPr>
          <p:nvPr/>
        </p:nvPicPr>
        <p:blipFill>
          <a:blip r:embed="rId2"/>
          <a:stretch>
            <a:fillRect/>
          </a:stretch>
        </p:blipFill>
        <p:spPr>
          <a:xfrm>
            <a:off x="0" y="0"/>
            <a:ext cx="12191695" cy="6858000"/>
          </a:xfrm>
          <a:prstGeom prst="rect">
            <a:avLst/>
          </a:prstGeom>
        </p:spPr>
      </p:pic>
      <p:pic>
        <p:nvPicPr>
          <p:cNvPr id="3" name="Picture 2" descr="logo.png"/>
          <p:cNvPicPr>
            <a:picLocks noChangeAspect="1"/>
          </p:cNvPicPr>
          <p:nvPr/>
        </p:nvPicPr>
        <p:blipFill>
          <a:blip r:embed="rId3"/>
          <a:stretch>
            <a:fillRect/>
          </a:stretch>
        </p:blipFill>
        <p:spPr>
          <a:xfrm>
            <a:off x="521207" y="365760"/>
            <a:ext cx="457200" cy="457200"/>
          </a:xfrm>
          <a:prstGeom prst="rect">
            <a:avLst/>
          </a:prstGeom>
        </p:spPr>
      </p:pic>
      <p:sp>
        <p:nvSpPr>
          <p:cNvPr id="4" name="TextBox 3"/>
          <p:cNvSpPr txBox="1"/>
          <p:nvPr/>
        </p:nvSpPr>
        <p:spPr>
          <a:xfrm>
            <a:off x="1060704" y="365760"/>
            <a:ext cx="3108960" cy="475488"/>
          </a:xfrm>
          <a:prstGeom prst="rect">
            <a:avLst/>
          </a:prstGeom>
          <a:noFill/>
        </p:spPr>
        <p:txBody>
          <a:bodyPr wrap="square" anchor="ctr" lIns="0" rIns="0" tIns="0" bIns="0">
            <a:spAutoFit/>
          </a:bodyPr>
          <a:lstStyle/>
          <a:p>
            <a:pPr algn="l">
              <a:spcBef>
                <a:spcPts val="0"/>
              </a:spcBef>
              <a:spcAft>
                <a:spcPts val="0"/>
              </a:spcAft>
            </a:pPr>
            <a:r>
              <a:rPr sz="2100" b="1" i="0">
                <a:solidFill>
                  <a:srgbClr val="FFFFFF"/>
                </a:solidFill>
                <a:latin typeface="Segoe UI"/>
              </a:rPr>
              <a:t>Quiz</a:t>
            </a:r>
            <a:r>
              <a:rPr sz="2100" b="1" i="0">
                <a:gradFill rotWithShape="1">
                  <a:gsLst>
                    <a:gs pos="0">
                      <a:srgbClr val="6366F1"/>
                    </a:gs>
                    <a:gs pos="55000">
                      <a:srgbClr val="8B5CF6"/>
                    </a:gs>
                    <a:gs pos="100000">
                      <a:srgbClr val="06B6D4"/>
                    </a:gs>
                  </a:gsLst>
                  <a:lin ang="0" scaled="1"/>
                </a:gradFill>
                <a:latin typeface="Segoe UI"/>
              </a:rPr>
              <a:t>Master</a:t>
            </a:r>
          </a:p>
        </p:txBody>
      </p:sp>
      <p:sp>
        <p:nvSpPr>
          <p:cNvPr id="5" name="Rounded Rectangle 4"/>
          <p:cNvSpPr/>
          <p:nvPr/>
        </p:nvSpPr>
        <p:spPr>
          <a:xfrm>
            <a:off x="8284464" y="420624"/>
            <a:ext cx="3383280" cy="329184"/>
          </a:xfrm>
          <a:prstGeom prst="roundRect">
            <a:avLst>
              <a:gd name="adj" fmla="val 50000"/>
            </a:avLst>
          </a:prstGeom>
          <a:solidFill>
            <a:srgbClr val="20204E"/>
          </a:solidFill>
          <a:ln w="9525">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50" b="1" i="0">
                <a:solidFill>
                  <a:srgbClr val="A5B4FC"/>
                </a:solidFill>
                <a:latin typeface="Segoe UI"/>
              </a:rPr>
              <a:t>ONLINE QUIZ · ASSESSMENT · TQM</a:t>
            </a:r>
          </a:p>
        </p:txBody>
      </p:sp>
      <p:sp>
        <p:nvSpPr>
          <p:cNvPr id="6" name="TextBox 5"/>
          <p:cNvSpPr txBox="1"/>
          <p:nvPr/>
        </p:nvSpPr>
        <p:spPr>
          <a:xfrm>
            <a:off x="521207" y="1353312"/>
            <a:ext cx="5623560" cy="320040"/>
          </a:xfrm>
          <a:prstGeom prst="rect">
            <a:avLst/>
          </a:prstGeom>
          <a:noFill/>
        </p:spPr>
        <p:txBody>
          <a:bodyPr wrap="square" anchor="t" lIns="0" rIns="0" tIns="0" bIns="0">
            <a:spAutoFit/>
          </a:bodyPr>
          <a:lstStyle/>
          <a:p>
            <a:pPr algn="l">
              <a:spcBef>
                <a:spcPts val="0"/>
              </a:spcBef>
              <a:spcAft>
                <a:spcPts val="0"/>
              </a:spcAft>
            </a:pPr>
            <a:r>
              <a:rPr sz="1050" b="1" i="0" spc="120">
                <a:solidFill>
                  <a:srgbClr val="22D3EE"/>
                </a:solidFill>
                <a:latin typeface="Segoe UI"/>
              </a:rPr>
              <a:t>LEARN SMARTER · ASSESS BETTER · IMPROVE CONTINUOUSLY</a:t>
            </a:r>
          </a:p>
        </p:txBody>
      </p:sp>
      <p:sp>
        <p:nvSpPr>
          <p:cNvPr id="7" name="TextBox 6"/>
          <p:cNvSpPr txBox="1"/>
          <p:nvPr/>
        </p:nvSpPr>
        <p:spPr>
          <a:xfrm>
            <a:off x="521207" y="1645920"/>
            <a:ext cx="5577840" cy="2057400"/>
          </a:xfrm>
          <a:prstGeom prst="rect">
            <a:avLst/>
          </a:prstGeom>
          <a:noFill/>
        </p:spPr>
        <p:txBody>
          <a:bodyPr wrap="square" anchor="t" lIns="0" rIns="0" tIns="0" bIns="0">
            <a:spAutoFit/>
          </a:bodyPr>
          <a:lstStyle/>
          <a:p>
            <a:pPr algn="l">
              <a:lnSpc>
                <a:spcPct val="104000"/>
              </a:lnSpc>
              <a:spcBef>
                <a:spcPts val="0"/>
              </a:spcBef>
              <a:spcAft>
                <a:spcPts val="0"/>
              </a:spcAft>
            </a:pPr>
            <a:r>
              <a:rPr sz="3600" b="1" i="0">
                <a:solidFill>
                  <a:srgbClr val="FFFFFF"/>
                </a:solidFill>
                <a:latin typeface="Segoe UI"/>
              </a:rPr>
              <a:t>Quizzes that</a:t>
            </a:r>
          </a:p>
          <a:p>
            <a:pPr algn="l">
              <a:lnSpc>
                <a:spcPct val="104000"/>
              </a:lnSpc>
              <a:spcBef>
                <a:spcPts val="0"/>
              </a:spcBef>
              <a:spcAft>
                <a:spcPts val="0"/>
              </a:spcAft>
            </a:pPr>
            <a:r>
              <a:rPr sz="3600" b="1" i="0">
                <a:gradFill rotWithShape="1">
                  <a:gsLst>
                    <a:gs pos="0">
                      <a:srgbClr val="6366F1"/>
                    </a:gs>
                    <a:gs pos="55000">
                      <a:srgbClr val="8B5CF6"/>
                    </a:gs>
                    <a:gs pos="100000">
                      <a:srgbClr val="06B6D4"/>
                    </a:gs>
                  </a:gsLst>
                  <a:lin ang="0" scaled="1"/>
                </a:gradFill>
                <a:latin typeface="Segoe UI"/>
              </a:rPr>
              <a:t>grade instantly</a:t>
            </a:r>
          </a:p>
          <a:p>
            <a:pPr algn="l">
              <a:lnSpc>
                <a:spcPct val="104000"/>
              </a:lnSpc>
              <a:spcBef>
                <a:spcPts val="0"/>
              </a:spcBef>
              <a:spcAft>
                <a:spcPts val="0"/>
              </a:spcAft>
            </a:pPr>
            <a:r>
              <a:rPr sz="3600" b="1" i="0">
                <a:solidFill>
                  <a:srgbClr val="FFFFFF"/>
                </a:solidFill>
                <a:latin typeface="Segoe UI"/>
              </a:rPr>
              <a:t>and keep improving.</a:t>
            </a:r>
          </a:p>
        </p:txBody>
      </p:sp>
      <p:sp>
        <p:nvSpPr>
          <p:cNvPr id="8" name="TextBox 7"/>
          <p:cNvSpPr txBox="1"/>
          <p:nvPr/>
        </p:nvSpPr>
        <p:spPr>
          <a:xfrm>
            <a:off x="521207" y="3730752"/>
            <a:ext cx="5257800" cy="1737360"/>
          </a:xfrm>
          <a:prstGeom prst="rect">
            <a:avLst/>
          </a:prstGeom>
          <a:noFill/>
        </p:spPr>
        <p:txBody>
          <a:bodyPr wrap="square" anchor="t" lIns="0" rIns="0" tIns="0" bIns="0">
            <a:spAutoFit/>
          </a:bodyPr>
          <a:lstStyle/>
          <a:p>
            <a:pPr algn="l" marL="173736" indent="-173736">
              <a:lnSpc>
                <a:spcPct val="112000"/>
              </a:lnSpc>
              <a:spcBef>
                <a:spcPts val="0"/>
              </a:spcBef>
              <a:spcAft>
                <a:spcPts val="800"/>
              </a:spcAft>
            </a:pPr>
            <a:r>
              <a:rPr sz="806" b="1" i="0">
                <a:solidFill>
                  <a:srgbClr val="22D3EE"/>
                </a:solidFill>
                <a:latin typeface="Segoe UI"/>
              </a:rPr>
              <a:t>●  </a:t>
            </a:r>
            <a:r>
              <a:rPr sz="1300" b="1" i="0">
                <a:solidFill>
                  <a:srgbClr val="FFFFFF"/>
                </a:solidFill>
                <a:latin typeface="Segoe UI"/>
              </a:rPr>
              <a:t>One platform </a:t>
            </a:r>
            <a:r>
              <a:rPr sz="1300" b="0" i="0">
                <a:solidFill>
                  <a:srgbClr val="CDD1F2"/>
                </a:solidFill>
                <a:latin typeface="Segoe UI"/>
              </a:rPr>
              <a:t>— students, administrators &amp; quality teams</a:t>
            </a:r>
          </a:p>
          <a:p>
            <a:pPr algn="l" marL="173736" indent="-173736">
              <a:lnSpc>
                <a:spcPct val="112000"/>
              </a:lnSpc>
              <a:spcBef>
                <a:spcPts val="0"/>
              </a:spcBef>
              <a:spcAft>
                <a:spcPts val="800"/>
              </a:spcAft>
            </a:pPr>
            <a:r>
              <a:rPr sz="806" b="1" i="0">
                <a:solidFill>
                  <a:srgbClr val="22D3EE"/>
                </a:solidFill>
                <a:latin typeface="Segoe UI"/>
              </a:rPr>
              <a:t>●  </a:t>
            </a:r>
            <a:r>
              <a:rPr sz="1300" b="1" i="0">
                <a:solidFill>
                  <a:srgbClr val="FFFFFF"/>
                </a:solidFill>
                <a:latin typeface="Segoe UI"/>
              </a:rPr>
              <a:t>Timed quizzes </a:t>
            </a:r>
            <a:r>
              <a:rPr sz="1300" b="0" i="0">
                <a:solidFill>
                  <a:srgbClr val="CDD1F2"/>
                </a:solidFill>
                <a:latin typeface="Segoe UI"/>
              </a:rPr>
              <a:t>with instant, server-side auto-grading</a:t>
            </a:r>
          </a:p>
          <a:p>
            <a:pPr algn="l" marL="173736" indent="-173736">
              <a:lnSpc>
                <a:spcPct val="112000"/>
              </a:lnSpc>
              <a:spcBef>
                <a:spcPts val="0"/>
              </a:spcBef>
              <a:spcAft>
                <a:spcPts val="800"/>
              </a:spcAft>
            </a:pPr>
            <a:r>
              <a:rPr sz="806" b="1" i="0">
                <a:solidFill>
                  <a:srgbClr val="22D3EE"/>
                </a:solidFill>
                <a:latin typeface="Segoe UI"/>
              </a:rPr>
              <a:t>●  </a:t>
            </a:r>
            <a:r>
              <a:rPr sz="1300" b="1" i="0">
                <a:solidFill>
                  <a:srgbClr val="FFFFFF"/>
                </a:solidFill>
                <a:latin typeface="Segoe UI"/>
              </a:rPr>
              <a:t>Live analytics </a:t>
            </a:r>
            <a:r>
              <a:rPr sz="1300" b="0" i="0">
                <a:solidFill>
                  <a:srgbClr val="CDD1F2"/>
                </a:solidFill>
                <a:latin typeface="Segoe UI"/>
              </a:rPr>
              <a:t>— scores, trends, leaderboards &amp; reports</a:t>
            </a:r>
          </a:p>
          <a:p>
            <a:pPr algn="l" marL="173736" indent="-173736">
              <a:lnSpc>
                <a:spcPct val="112000"/>
              </a:lnSpc>
              <a:spcBef>
                <a:spcPts val="0"/>
              </a:spcBef>
              <a:spcAft>
                <a:spcPts val="800"/>
              </a:spcAft>
            </a:pPr>
            <a:r>
              <a:rPr sz="806" b="1" i="0">
                <a:solidFill>
                  <a:srgbClr val="22D3EE"/>
                </a:solidFill>
                <a:latin typeface="Segoe UI"/>
              </a:rPr>
              <a:t>●  </a:t>
            </a:r>
            <a:r>
              <a:rPr sz="1300" b="1" i="0">
                <a:solidFill>
                  <a:srgbClr val="FFFFFF"/>
                </a:solidFill>
                <a:latin typeface="Segoe UI"/>
              </a:rPr>
              <a:t>Built-in TQM workspace </a:t>
            </a:r>
            <a:r>
              <a:rPr sz="1300" b="0" i="0">
                <a:solidFill>
                  <a:srgbClr val="CDD1F2"/>
                </a:solidFill>
                <a:latin typeface="Segoe UI"/>
              </a:rPr>
              <a:t>— Pareto · Fishbone · FMEA · PDCA</a:t>
            </a:r>
          </a:p>
        </p:txBody>
      </p:sp>
      <p:sp>
        <p:nvSpPr>
          <p:cNvPr id="9" name="TextBox 8"/>
          <p:cNvSpPr txBox="1"/>
          <p:nvPr/>
        </p:nvSpPr>
        <p:spPr>
          <a:xfrm>
            <a:off x="521207" y="5504688"/>
            <a:ext cx="1371600" cy="777240"/>
          </a:xfrm>
          <a:prstGeom prst="rect">
            <a:avLst/>
          </a:prstGeom>
          <a:noFill/>
        </p:spPr>
        <p:txBody>
          <a:bodyPr wrap="square" anchor="t" lIns="0" rIns="0" tIns="0" bIns="0">
            <a:spAutoFit/>
          </a:bodyPr>
          <a:lstStyle/>
          <a:p>
            <a:pPr algn="l">
              <a:lnSpc>
                <a:spcPct val="100000"/>
              </a:lnSpc>
              <a:spcBef>
                <a:spcPts val="0"/>
              </a:spcBef>
              <a:spcAft>
                <a:spcPts val="0"/>
              </a:spcAft>
            </a:pPr>
            <a:r>
              <a:rPr sz="2200" b="1" i="0">
                <a:gradFill rotWithShape="1">
                  <a:gsLst>
                    <a:gs pos="0">
                      <a:srgbClr val="6366F1"/>
                    </a:gs>
                    <a:gs pos="55000">
                      <a:srgbClr val="8B5CF6"/>
                    </a:gs>
                    <a:gs pos="100000">
                      <a:srgbClr val="06B6D4"/>
                    </a:gs>
                  </a:gsLst>
                  <a:lin ang="0" scaled="1"/>
                </a:gradFill>
                <a:latin typeface="Segoe UI"/>
              </a:rPr>
              <a:t>22</a:t>
            </a:r>
          </a:p>
          <a:p>
            <a:pPr algn="l">
              <a:lnSpc>
                <a:spcPct val="105000"/>
              </a:lnSpc>
              <a:spcBef>
                <a:spcPts val="0"/>
              </a:spcBef>
              <a:spcAft>
                <a:spcPts val="0"/>
              </a:spcAft>
            </a:pPr>
            <a:r>
              <a:rPr sz="950" b="0" i="0">
                <a:solidFill>
                  <a:srgbClr val="9699CC"/>
                </a:solidFill>
                <a:latin typeface="Segoe UI"/>
              </a:rPr>
              <a:t>database tables</a:t>
            </a:r>
          </a:p>
        </p:txBody>
      </p:sp>
      <p:sp>
        <p:nvSpPr>
          <p:cNvPr id="10" name="TextBox 9"/>
          <p:cNvSpPr txBox="1"/>
          <p:nvPr/>
        </p:nvSpPr>
        <p:spPr>
          <a:xfrm>
            <a:off x="1911095" y="5504688"/>
            <a:ext cx="1371600" cy="777240"/>
          </a:xfrm>
          <a:prstGeom prst="rect">
            <a:avLst/>
          </a:prstGeom>
          <a:noFill/>
        </p:spPr>
        <p:txBody>
          <a:bodyPr wrap="square" anchor="t" lIns="0" rIns="0" tIns="0" bIns="0">
            <a:spAutoFit/>
          </a:bodyPr>
          <a:lstStyle/>
          <a:p>
            <a:pPr algn="l">
              <a:lnSpc>
                <a:spcPct val="100000"/>
              </a:lnSpc>
              <a:spcBef>
                <a:spcPts val="0"/>
              </a:spcBef>
              <a:spcAft>
                <a:spcPts val="0"/>
              </a:spcAft>
            </a:pPr>
            <a:r>
              <a:rPr sz="2200" b="1" i="0">
                <a:gradFill rotWithShape="1">
                  <a:gsLst>
                    <a:gs pos="0">
                      <a:srgbClr val="6366F1"/>
                    </a:gs>
                    <a:gs pos="55000">
                      <a:srgbClr val="8B5CF6"/>
                    </a:gs>
                    <a:gs pos="100000">
                      <a:srgbClr val="06B6D4"/>
                    </a:gs>
                  </a:gsLst>
                  <a:lin ang="0" scaled="1"/>
                </a:gradFill>
                <a:latin typeface="Segoe UI"/>
              </a:rPr>
              <a:t>110+</a:t>
            </a:r>
          </a:p>
          <a:p>
            <a:pPr algn="l">
              <a:lnSpc>
                <a:spcPct val="105000"/>
              </a:lnSpc>
              <a:spcBef>
                <a:spcPts val="0"/>
              </a:spcBef>
              <a:spcAft>
                <a:spcPts val="0"/>
              </a:spcAft>
            </a:pPr>
            <a:r>
              <a:rPr sz="950" b="0" i="0">
                <a:solidFill>
                  <a:srgbClr val="9699CC"/>
                </a:solidFill>
                <a:latin typeface="Segoe UI"/>
              </a:rPr>
              <a:t>application routes</a:t>
            </a:r>
          </a:p>
        </p:txBody>
      </p:sp>
      <p:sp>
        <p:nvSpPr>
          <p:cNvPr id="11" name="TextBox 10"/>
          <p:cNvSpPr txBox="1"/>
          <p:nvPr/>
        </p:nvSpPr>
        <p:spPr>
          <a:xfrm>
            <a:off x="3300984" y="5504688"/>
            <a:ext cx="1371600" cy="777240"/>
          </a:xfrm>
          <a:prstGeom prst="rect">
            <a:avLst/>
          </a:prstGeom>
          <a:noFill/>
        </p:spPr>
        <p:txBody>
          <a:bodyPr wrap="square" anchor="t" lIns="0" rIns="0" tIns="0" bIns="0">
            <a:spAutoFit/>
          </a:bodyPr>
          <a:lstStyle/>
          <a:p>
            <a:pPr algn="l">
              <a:lnSpc>
                <a:spcPct val="100000"/>
              </a:lnSpc>
              <a:spcBef>
                <a:spcPts val="0"/>
              </a:spcBef>
              <a:spcAft>
                <a:spcPts val="0"/>
              </a:spcAft>
            </a:pPr>
            <a:r>
              <a:rPr sz="2200" b="1" i="0">
                <a:gradFill rotWithShape="1">
                  <a:gsLst>
                    <a:gs pos="0">
                      <a:srgbClr val="6366F1"/>
                    </a:gs>
                    <a:gs pos="55000">
                      <a:srgbClr val="8B5CF6"/>
                    </a:gs>
                    <a:gs pos="100000">
                      <a:srgbClr val="06B6D4"/>
                    </a:gs>
                  </a:gsLst>
                  <a:lin ang="0" scaled="1"/>
                </a:gradFill>
                <a:latin typeface="Segoe UI"/>
              </a:rPr>
              <a:t>20</a:t>
            </a:r>
          </a:p>
          <a:p>
            <a:pPr algn="l">
              <a:lnSpc>
                <a:spcPct val="105000"/>
              </a:lnSpc>
              <a:spcBef>
                <a:spcPts val="0"/>
              </a:spcBef>
              <a:spcAft>
                <a:spcPts val="0"/>
              </a:spcAft>
            </a:pPr>
            <a:r>
              <a:rPr sz="950" b="0" i="0">
                <a:solidFill>
                  <a:srgbClr val="9699CC"/>
                </a:solidFill>
                <a:latin typeface="Segoe UI"/>
              </a:rPr>
              <a:t>quality goals mapped</a:t>
            </a:r>
          </a:p>
        </p:txBody>
      </p:sp>
      <p:sp>
        <p:nvSpPr>
          <p:cNvPr id="12" name="TextBox 11"/>
          <p:cNvSpPr txBox="1"/>
          <p:nvPr/>
        </p:nvSpPr>
        <p:spPr>
          <a:xfrm>
            <a:off x="4690872" y="5504688"/>
            <a:ext cx="1371600" cy="777240"/>
          </a:xfrm>
          <a:prstGeom prst="rect">
            <a:avLst/>
          </a:prstGeom>
          <a:noFill/>
        </p:spPr>
        <p:txBody>
          <a:bodyPr wrap="square" anchor="t" lIns="0" rIns="0" tIns="0" bIns="0">
            <a:spAutoFit/>
          </a:bodyPr>
          <a:lstStyle/>
          <a:p>
            <a:pPr algn="l">
              <a:lnSpc>
                <a:spcPct val="100000"/>
              </a:lnSpc>
              <a:spcBef>
                <a:spcPts val="0"/>
              </a:spcBef>
              <a:spcAft>
                <a:spcPts val="0"/>
              </a:spcAft>
            </a:pPr>
            <a:r>
              <a:rPr sz="2200" b="1" i="0">
                <a:gradFill rotWithShape="1">
                  <a:gsLst>
                    <a:gs pos="0">
                      <a:srgbClr val="6366F1"/>
                    </a:gs>
                    <a:gs pos="55000">
                      <a:srgbClr val="8B5CF6"/>
                    </a:gs>
                    <a:gs pos="100000">
                      <a:srgbClr val="06B6D4"/>
                    </a:gs>
                  </a:gsLst>
                  <a:lin ang="0" scaled="1"/>
                </a:gradFill>
                <a:latin typeface="Segoe UI"/>
              </a:rPr>
              <a:t>50+</a:t>
            </a:r>
          </a:p>
          <a:p>
            <a:pPr algn="l">
              <a:lnSpc>
                <a:spcPct val="105000"/>
              </a:lnSpc>
              <a:spcBef>
                <a:spcPts val="0"/>
              </a:spcBef>
              <a:spcAft>
                <a:spcPts val="0"/>
              </a:spcAft>
            </a:pPr>
            <a:r>
              <a:rPr sz="950" b="0" i="0">
                <a:solidFill>
                  <a:srgbClr val="9699CC"/>
                </a:solidFill>
                <a:latin typeface="Segoe UI"/>
              </a:rPr>
              <a:t>automated tests</a:t>
            </a:r>
          </a:p>
        </p:txBody>
      </p:sp>
      <p:sp>
        <p:nvSpPr>
          <p:cNvPr id="13" name="Rounded Rectangle 12"/>
          <p:cNvSpPr/>
          <p:nvPr/>
        </p:nvSpPr>
        <p:spPr>
          <a:xfrm>
            <a:off x="6199632" y="1371600"/>
            <a:ext cx="5504688" cy="3738752"/>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5080" y="1481328"/>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47104" y="1481328"/>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739128" y="1481328"/>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685897" y="1431036"/>
            <a:ext cx="2532156"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5897" y="1431036"/>
            <a:ext cx="2532156"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19" name="Picture 18" descr="home.jpg"/>
          <p:cNvPicPr>
            <a:picLocks noChangeAspect="1"/>
          </p:cNvPicPr>
          <p:nvPr/>
        </p:nvPicPr>
        <p:blipFill>
          <a:blip r:embed="rId4"/>
          <a:stretch>
            <a:fillRect/>
          </a:stretch>
        </p:blipFill>
        <p:spPr>
          <a:xfrm>
            <a:off x="6249924" y="1682496"/>
            <a:ext cx="5404103" cy="3377564"/>
          </a:xfrm>
          <a:prstGeom prst="roundRect">
            <a:avLst>
              <a:gd name="adj" fmla="val 2600"/>
            </a:avLst>
          </a:prstGeom>
        </p:spPr>
      </p:pic>
      <p:sp>
        <p:nvSpPr>
          <p:cNvPr id="20" name="Rounded Rectangle 19"/>
          <p:cNvSpPr/>
          <p:nvPr/>
        </p:nvSpPr>
        <p:spPr>
          <a:xfrm>
            <a:off x="5687568" y="3310128"/>
            <a:ext cx="1389888" cy="2625734"/>
          </a:xfrm>
          <a:prstGeom prst="roundRect">
            <a:avLst>
              <a:gd name="adj" fmla="val 8500"/>
            </a:avLst>
          </a:prstGeom>
          <a:solidFill>
            <a:srgbClr val="10102E"/>
          </a:solidFill>
          <a:ln w="17780">
            <a:solidFill>
              <a:srgbClr val="3D3D7D"/>
            </a:solidFill>
          </a:ln>
          <a:effectLst>
            <a:outerShdw blurRad="128016" dist="54864" dir="5400000" rotWithShape="0">
              <a:srgbClr val="000000">
                <a:alpha val="5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obile.jpg"/>
          <p:cNvPicPr>
            <a:picLocks noChangeAspect="1"/>
          </p:cNvPicPr>
          <p:nvPr/>
        </p:nvPicPr>
        <p:blipFill>
          <a:blip r:embed="rId5"/>
          <a:stretch>
            <a:fillRect/>
          </a:stretch>
        </p:blipFill>
        <p:spPr>
          <a:xfrm>
            <a:off x="5737859" y="3387852"/>
            <a:ext cx="1289304" cy="2479430"/>
          </a:xfrm>
          <a:prstGeom prst="roundRect">
            <a:avLst>
              <a:gd name="adj" fmla="val 5200"/>
            </a:avLst>
          </a:prstGeom>
        </p:spPr>
      </p:pic>
      <p:sp>
        <p:nvSpPr>
          <p:cNvPr id="22" name="Rounded Rectangle 21"/>
          <p:cNvSpPr/>
          <p:nvPr/>
        </p:nvSpPr>
        <p:spPr>
          <a:xfrm>
            <a:off x="6108192" y="3401568"/>
            <a:ext cx="548640" cy="77724"/>
          </a:xfrm>
          <a:prstGeom prst="roundRect">
            <a:avLst>
              <a:gd name="adj" fmla="val 50000"/>
            </a:avLst>
          </a:prstGeom>
          <a:solidFill>
            <a:srgbClr val="0505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7" y="6473952"/>
            <a:ext cx="6949440" cy="274320"/>
          </a:xfrm>
          <a:prstGeom prst="rect">
            <a:avLst/>
          </a:prstGeom>
          <a:noFill/>
        </p:spPr>
        <p:txBody>
          <a:bodyPr wrap="square" anchor="t" lIns="0" rIns="0" tIns="0" bIns="0">
            <a:spAutoFit/>
          </a:bodyPr>
          <a:lstStyle/>
          <a:p>
            <a:pPr algn="l">
              <a:spcBef>
                <a:spcPts val="0"/>
              </a:spcBef>
              <a:spcAft>
                <a:spcPts val="0"/>
              </a:spcAft>
            </a:pPr>
            <a:r>
              <a:rPr sz="1050" b="0" i="0">
                <a:solidFill>
                  <a:srgbClr val="9699CC"/>
                </a:solidFill>
                <a:latin typeface="Segoe UI"/>
              </a:rPr>
              <a:t>Presented by </a:t>
            </a:r>
            <a:r>
              <a:rPr sz="1050" b="1" i="0">
                <a:solidFill>
                  <a:srgbClr val="FFFFFF"/>
                </a:solidFill>
                <a:latin typeface="Segoe UI"/>
              </a:rPr>
              <a:t>Ashish</a:t>
            </a:r>
            <a:r>
              <a:rPr sz="1050" b="0" i="0">
                <a:solidFill>
                  <a:srgbClr val="9699CC"/>
                </a:solidFill>
                <a:latin typeface="Segoe UI"/>
              </a:rPr>
              <a:t>   ·   Fundamentals of TQM (BBAT104) — Project Presentation</a:t>
            </a:r>
          </a:p>
        </p:txBody>
      </p:sp>
      <p:sp>
        <p:nvSpPr>
          <p:cNvPr id="24" name="TextBox 23"/>
          <p:cNvSpPr txBox="1"/>
          <p:nvPr/>
        </p:nvSpPr>
        <p:spPr>
          <a:xfrm>
            <a:off x="7680960" y="6473952"/>
            <a:ext cx="3986784" cy="274320"/>
          </a:xfrm>
          <a:prstGeom prst="rect">
            <a:avLst/>
          </a:prstGeom>
          <a:noFill/>
        </p:spPr>
        <p:txBody>
          <a:bodyPr wrap="square" anchor="t" lIns="0" rIns="0" tIns="0" bIns="0">
            <a:spAutoFit/>
          </a:bodyPr>
          <a:lstStyle/>
          <a:p>
            <a:pPr algn="r">
              <a:spcBef>
                <a:spcPts val="0"/>
              </a:spcBef>
              <a:spcAft>
                <a:spcPts val="0"/>
              </a:spcAft>
            </a:pPr>
            <a:r>
              <a:rPr sz="1050" b="0" i="0">
                <a:solidFill>
                  <a:srgbClr val="6F72AA"/>
                </a:solidFill>
                <a:latin typeface="Segoe UI"/>
              </a:rPr>
              <a:t>github.com/Ashishdumka24/QuizMaster</a:t>
            </a:r>
          </a:p>
        </p:txBody>
      </p:sp>
    </p:spTree>
  </p:cSld>
  <p:clrMapOvr>
    <a:masterClrMapping/>
  </p:clrMapOvr>
  <p:transition spd="med" advClick="1">
    <p:fade thruBlk="1"/>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12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24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420"/>
                                  </p:stCondLst>
                                  <p:childTnLst>
                                    <p:set>
                                      <p:cBhvr>
                                        <p:cTn id="124" dur="1" fill="hold">
                                          <p:stCondLst>
                                            <p:cond delay="0"/>
                                          </p:stCondLst>
                                          <p:attrNameLst>
                                            <p:attrName>style.visibility</p:attrName>
                                          </p:attrNameLst>
                                        </p:cTn>
                                        <p:tgtEl>
                                          <p:spTgt spid="8"/>
                                        </p:tgtEl>
                                      </p:cBhvr>
                                      <p:to>
                                        <p:strVal val="visible"/>
                                      </p:to>
                                    </p:set>
                                    <p:animEffect transition="in" filter="fade">
                                      <p:cBhvr>
                                        <p:cTn id="125" dur="550"/>
                                        <p:tgtEl>
                                          <p:spTgt spid="8"/>
                                        </p:tgtEl>
                                      </p:cBhvr>
                                    </p:animEffect>
                                  </p:childTnLst>
                                </p:cTn>
                              </p:par>
                            </p:childTnLst>
                          </p:cTn>
                        </p:par>
                        <p:par>
                          <p:cTn id="126" fill="hold">
                            <p:stCondLst>
                              <p:cond delay="0"/>
                            </p:stCondLst>
                            <p:childTnLst>
                              <p:par>
                                <p:cTn id="127" presetID="10" presetClass="entr" presetSubtype="0" fill="hold" grpId="0" nodeType="withEffect">
                                  <p:stCondLst>
                                    <p:cond delay="600"/>
                                  </p:stCondLst>
                                  <p:childTnLst>
                                    <p:set>
                                      <p:cBhvr>
                                        <p:cTn id="128" dur="1" fill="hold">
                                          <p:stCondLst>
                                            <p:cond delay="0"/>
                                          </p:stCondLst>
                                          <p:attrNameLst>
                                            <p:attrName>style.visibility</p:attrName>
                                          </p:attrNameLst>
                                        </p:cTn>
                                        <p:tgtEl>
                                          <p:spTgt spid="9"/>
                                        </p:tgtEl>
                                      </p:cBhvr>
                                      <p:to>
                                        <p:strVal val="visible"/>
                                      </p:to>
                                    </p:set>
                                    <p:animEffect transition="in" filter="fade">
                                      <p:cBhvr>
                                        <p:cTn id="129" dur="550"/>
                                        <p:tgtEl>
                                          <p:spTgt spid="9"/>
                                        </p:tgtEl>
                                      </p:cBhvr>
                                    </p:animEffect>
                                  </p:childTnLst>
                                </p:cTn>
                              </p:par>
                            </p:childTnLst>
                          </p:cTn>
                        </p:par>
                        <p:par>
                          <p:cTn id="130" fill="hold">
                            <p:stCondLst>
                              <p:cond delay="0"/>
                            </p:stCondLst>
                            <p:childTnLst>
                              <p:par>
                                <p:cTn id="131" presetID="10" presetClass="entr" presetSubtype="0" fill="hold" grpId="0" nodeType="withEffect">
                                  <p:stCondLst>
                                    <p:cond delay="600"/>
                                  </p:stCondLst>
                                  <p:childTnLst>
                                    <p:set>
                                      <p:cBhvr>
                                        <p:cTn id="132" dur="1" fill="hold">
                                          <p:stCondLst>
                                            <p:cond delay="0"/>
                                          </p:stCondLst>
                                          <p:attrNameLst>
                                            <p:attrName>style.visibility</p:attrName>
                                          </p:attrNameLst>
                                        </p:cTn>
                                        <p:tgtEl>
                                          <p:spTgt spid="10"/>
                                        </p:tgtEl>
                                      </p:cBhvr>
                                      <p:to>
                                        <p:strVal val="visible"/>
                                      </p:to>
                                    </p:set>
                                    <p:animEffect transition="in" filter="fade">
                                      <p:cBhvr>
                                        <p:cTn id="133" dur="550"/>
                                        <p:tgtEl>
                                          <p:spTgt spid="10"/>
                                        </p:tgtEl>
                                      </p:cBhvr>
                                    </p:animEffect>
                                  </p:childTnLst>
                                </p:cTn>
                              </p:par>
                            </p:childTnLst>
                          </p:cTn>
                        </p:par>
                        <p:par>
                          <p:cTn id="134" fill="hold">
                            <p:stCondLst>
                              <p:cond delay="0"/>
                            </p:stCondLst>
                            <p:childTnLst>
                              <p:par>
                                <p:cTn id="135" presetID="10" presetClass="entr" presetSubtype="0" fill="hold" grpId="0" nodeType="withEffect">
                                  <p:stCondLst>
                                    <p:cond delay="600"/>
                                  </p:stCondLst>
                                  <p:childTnLst>
                                    <p:set>
                                      <p:cBhvr>
                                        <p:cTn id="136" dur="1" fill="hold">
                                          <p:stCondLst>
                                            <p:cond delay="0"/>
                                          </p:stCondLst>
                                          <p:attrNameLst>
                                            <p:attrName>style.visibility</p:attrName>
                                          </p:attrNameLst>
                                        </p:cTn>
                                        <p:tgtEl>
                                          <p:spTgt spid="11"/>
                                        </p:tgtEl>
                                      </p:cBhvr>
                                      <p:to>
                                        <p:strVal val="visible"/>
                                      </p:to>
                                    </p:set>
                                    <p:animEffect transition="in" filter="fade">
                                      <p:cBhvr>
                                        <p:cTn id="137" dur="550"/>
                                        <p:tgtEl>
                                          <p:spTgt spid="11"/>
                                        </p:tgtEl>
                                      </p:cBhvr>
                                    </p:animEffect>
                                  </p:childTnLst>
                                </p:cTn>
                              </p:par>
                            </p:childTnLst>
                          </p:cTn>
                        </p:par>
                        <p:par>
                          <p:cTn id="138" fill="hold">
                            <p:stCondLst>
                              <p:cond delay="0"/>
                            </p:stCondLst>
                            <p:childTnLst>
                              <p:par>
                                <p:cTn id="139" presetID="10" presetClass="entr" presetSubtype="0" fill="hold" grpId="0" nodeType="withEffect">
                                  <p:stCondLst>
                                    <p:cond delay="600"/>
                                  </p:stCondLst>
                                  <p:childTnLst>
                                    <p:set>
                                      <p:cBhvr>
                                        <p:cTn id="140" dur="1" fill="hold">
                                          <p:stCondLst>
                                            <p:cond delay="0"/>
                                          </p:stCondLst>
                                          <p:attrNameLst>
                                            <p:attrName>style.visibility</p:attrName>
                                          </p:attrNameLst>
                                        </p:cTn>
                                        <p:tgtEl>
                                          <p:spTgt spid="12"/>
                                        </p:tgtEl>
                                      </p:cBhvr>
                                      <p:to>
                                        <p:strVal val="visible"/>
                                      </p:to>
                                    </p:set>
                                    <p:animEffect transition="in" filter="fade">
                                      <p:cBhvr>
                                        <p:cTn id="141" dur="550"/>
                                        <p:tgtEl>
                                          <p:spTgt spid="12"/>
                                        </p:tgtEl>
                                      </p:cBhvr>
                                    </p:animEffect>
                                  </p:childTnLst>
                                </p:cTn>
                              </p:par>
                            </p:childTnLst>
                          </p:cTn>
                        </p:par>
                        <p:par>
                          <p:cTn id="142" fill="hold">
                            <p:stCondLst>
                              <p:cond delay="0"/>
                            </p:stCondLst>
                            <p:childTnLst>
                              <p:par>
                                <p:cTn id="143" presetID="10" presetClass="entr" presetSubtype="0" fill="hold" grpId="0" nodeType="withEffect">
                                  <p:stCondLst>
                                    <p:cond delay="340"/>
                                  </p:stCondLst>
                                  <p:childTnLst>
                                    <p:set>
                                      <p:cBhvr>
                                        <p:cTn id="144" dur="1" fill="hold">
                                          <p:stCondLst>
                                            <p:cond delay="0"/>
                                          </p:stCondLst>
                                          <p:attrNameLst>
                                            <p:attrName>style.visibility</p:attrName>
                                          </p:attrNameLst>
                                        </p:cTn>
                                        <p:tgtEl>
                                          <p:spTgt spid="13"/>
                                        </p:tgtEl>
                                      </p:cBhvr>
                                      <p:to>
                                        <p:strVal val="visible"/>
                                      </p:to>
                                    </p:set>
                                    <p:animEffect transition="in" filter="fade">
                                      <p:cBhvr>
                                        <p:cTn id="145" dur="550"/>
                                        <p:tgtEl>
                                          <p:spTgt spid="13"/>
                                        </p:tgtEl>
                                      </p:cBhvr>
                                    </p:animEffect>
                                  </p:childTnLst>
                                </p:cTn>
                              </p:par>
                            </p:childTnLst>
                          </p:cTn>
                        </p:par>
                        <p:par>
                          <p:cTn id="146" fill="hold">
                            <p:stCondLst>
                              <p:cond delay="0"/>
                            </p:stCondLst>
                            <p:childTnLst>
                              <p:par>
                                <p:cTn id="147" presetID="10" presetClass="entr" presetSubtype="0" fill="hold" grpId="0" nodeType="withEffect">
                                  <p:stCondLst>
                                    <p:cond delay="340"/>
                                  </p:stCondLst>
                                  <p:childTnLst>
                                    <p:set>
                                      <p:cBhvr>
                                        <p:cTn id="148" dur="1" fill="hold">
                                          <p:stCondLst>
                                            <p:cond delay="0"/>
                                          </p:stCondLst>
                                          <p:attrNameLst>
                                            <p:attrName>style.visibility</p:attrName>
                                          </p:attrNameLst>
                                        </p:cTn>
                                        <p:tgtEl>
                                          <p:spTgt spid="14"/>
                                        </p:tgtEl>
                                      </p:cBhvr>
                                      <p:to>
                                        <p:strVal val="visible"/>
                                      </p:to>
                                    </p:set>
                                    <p:animEffect transition="in" filter="fade">
                                      <p:cBhvr>
                                        <p:cTn id="149" dur="550"/>
                                        <p:tgtEl>
                                          <p:spTgt spid="14"/>
                                        </p:tgtEl>
                                      </p:cBhvr>
                                    </p:animEffect>
                                  </p:childTnLst>
                                </p:cTn>
                              </p:par>
                            </p:childTnLst>
                          </p:cTn>
                        </p:par>
                        <p:par>
                          <p:cTn id="150" fill="hold">
                            <p:stCondLst>
                              <p:cond delay="0"/>
                            </p:stCondLst>
                            <p:childTnLst>
                              <p:par>
                                <p:cTn id="151" presetID="10" presetClass="entr" presetSubtype="0" fill="hold" grpId="0" nodeType="withEffect">
                                  <p:stCondLst>
                                    <p:cond delay="340"/>
                                  </p:stCondLst>
                                  <p:childTnLst>
                                    <p:set>
                                      <p:cBhvr>
                                        <p:cTn id="152" dur="1" fill="hold">
                                          <p:stCondLst>
                                            <p:cond delay="0"/>
                                          </p:stCondLst>
                                          <p:attrNameLst>
                                            <p:attrName>style.visibility</p:attrName>
                                          </p:attrNameLst>
                                        </p:cTn>
                                        <p:tgtEl>
                                          <p:spTgt spid="15"/>
                                        </p:tgtEl>
                                      </p:cBhvr>
                                      <p:to>
                                        <p:strVal val="visible"/>
                                      </p:to>
                                    </p:set>
                                    <p:animEffect transition="in" filter="fade">
                                      <p:cBhvr>
                                        <p:cTn id="153" dur="550"/>
                                        <p:tgtEl>
                                          <p:spTgt spid="15"/>
                                        </p:tgtEl>
                                      </p:cBhvr>
                                    </p:animEffect>
                                  </p:childTnLst>
                                </p:cTn>
                              </p:par>
                            </p:childTnLst>
                          </p:cTn>
                        </p:par>
                        <p:par>
                          <p:cTn id="154" fill="hold">
                            <p:stCondLst>
                              <p:cond delay="0"/>
                            </p:stCondLst>
                            <p:childTnLst>
                              <p:par>
                                <p:cTn id="155" presetID="10" presetClass="entr" presetSubtype="0" fill="hold" grpId="0" nodeType="withEffect">
                                  <p:stCondLst>
                                    <p:cond delay="340"/>
                                  </p:stCondLst>
                                  <p:childTnLst>
                                    <p:set>
                                      <p:cBhvr>
                                        <p:cTn id="156" dur="1" fill="hold">
                                          <p:stCondLst>
                                            <p:cond delay="0"/>
                                          </p:stCondLst>
                                          <p:attrNameLst>
                                            <p:attrName>style.visibility</p:attrName>
                                          </p:attrNameLst>
                                        </p:cTn>
                                        <p:tgtEl>
                                          <p:spTgt spid="16"/>
                                        </p:tgtEl>
                                      </p:cBhvr>
                                      <p:to>
                                        <p:strVal val="visible"/>
                                      </p:to>
                                    </p:set>
                                    <p:animEffect transition="in" filter="fade">
                                      <p:cBhvr>
                                        <p:cTn id="157" dur="550"/>
                                        <p:tgtEl>
                                          <p:spTgt spid="16"/>
                                        </p:tgtEl>
                                      </p:cBhvr>
                                    </p:animEffect>
                                  </p:childTnLst>
                                </p:cTn>
                              </p:par>
                            </p:childTnLst>
                          </p:cTn>
                        </p:par>
                        <p:par>
                          <p:cTn id="158" fill="hold">
                            <p:stCondLst>
                              <p:cond delay="0"/>
                            </p:stCondLst>
                            <p:childTnLst>
                              <p:par>
                                <p:cTn id="159" presetID="10" presetClass="entr" presetSubtype="0" fill="hold" grpId="0" nodeType="withEffect">
                                  <p:stCondLst>
                                    <p:cond delay="340"/>
                                  </p:stCondLst>
                                  <p:childTnLst>
                                    <p:set>
                                      <p:cBhvr>
                                        <p:cTn id="160" dur="1" fill="hold">
                                          <p:stCondLst>
                                            <p:cond delay="0"/>
                                          </p:stCondLst>
                                          <p:attrNameLst>
                                            <p:attrName>style.visibility</p:attrName>
                                          </p:attrNameLst>
                                        </p:cTn>
                                        <p:tgtEl>
                                          <p:spTgt spid="17"/>
                                        </p:tgtEl>
                                      </p:cBhvr>
                                      <p:to>
                                        <p:strVal val="visible"/>
                                      </p:to>
                                    </p:set>
                                    <p:animEffect transition="in" filter="fade">
                                      <p:cBhvr>
                                        <p:cTn id="161" dur="550"/>
                                        <p:tgtEl>
                                          <p:spTgt spid="17"/>
                                        </p:tgtEl>
                                      </p:cBhvr>
                                    </p:animEffect>
                                  </p:childTnLst>
                                </p:cTn>
                              </p:par>
                            </p:childTnLst>
                          </p:cTn>
                        </p:par>
                        <p:par>
                          <p:cTn id="162" fill="hold">
                            <p:stCondLst>
                              <p:cond delay="0"/>
                            </p:stCondLst>
                            <p:childTnLst>
                              <p:par>
                                <p:cTn id="163" presetID="10" presetClass="entr" presetSubtype="0" fill="hold" grpId="0" nodeType="withEffect">
                                  <p:stCondLst>
                                    <p:cond delay="340"/>
                                  </p:stCondLst>
                                  <p:childTnLst>
                                    <p:set>
                                      <p:cBhvr>
                                        <p:cTn id="164" dur="1" fill="hold">
                                          <p:stCondLst>
                                            <p:cond delay="0"/>
                                          </p:stCondLst>
                                          <p:attrNameLst>
                                            <p:attrName>style.visibility</p:attrName>
                                          </p:attrNameLst>
                                        </p:cTn>
                                        <p:tgtEl>
                                          <p:spTgt spid="18"/>
                                        </p:tgtEl>
                                      </p:cBhvr>
                                      <p:to>
                                        <p:strVal val="visible"/>
                                      </p:to>
                                    </p:set>
                                    <p:animEffect transition="in" filter="fade">
                                      <p:cBhvr>
                                        <p:cTn id="165" dur="550"/>
                                        <p:tgtEl>
                                          <p:spTgt spid="18"/>
                                        </p:tgtEl>
                                      </p:cBhvr>
                                    </p:animEffect>
                                  </p:childTnLst>
                                </p:cTn>
                              </p:par>
                            </p:childTnLst>
                          </p:cTn>
                        </p:par>
                        <p:par>
                          <p:cTn id="166" fill="hold">
                            <p:stCondLst>
                              <p:cond delay="0"/>
                            </p:stCondLst>
                            <p:childTnLst>
                              <p:par>
                                <p:cTn id="167" presetID="10" presetClass="entr" presetSubtype="0" fill="hold" grpId="0" nodeType="withEffect">
                                  <p:stCondLst>
                                    <p:cond delay="340"/>
                                  </p:stCondLst>
                                  <p:childTnLst>
                                    <p:set>
                                      <p:cBhvr>
                                        <p:cTn id="168" dur="1" fill="hold">
                                          <p:stCondLst>
                                            <p:cond delay="0"/>
                                          </p:stCondLst>
                                          <p:attrNameLst>
                                            <p:attrName>style.visibility</p:attrName>
                                          </p:attrNameLst>
                                        </p:cTn>
                                        <p:tgtEl>
                                          <p:spTgt spid="19"/>
                                        </p:tgtEl>
                                      </p:cBhvr>
                                      <p:to>
                                        <p:strVal val="visible"/>
                                      </p:to>
                                    </p:set>
                                    <p:animEffect transition="in" filter="fade">
                                      <p:cBhvr>
                                        <p:cTn id="169" dur="550"/>
                                        <p:tgtEl>
                                          <p:spTgt spid="19"/>
                                        </p:tgtEl>
                                      </p:cBhvr>
                                    </p:animEffect>
                                  </p:childTnLst>
                                </p:cTn>
                              </p:par>
                            </p:childTnLst>
                          </p:cTn>
                        </p:par>
                        <p:par>
                          <p:cTn id="170" fill="hold">
                            <p:stCondLst>
                              <p:cond delay="0"/>
                            </p:stCondLst>
                            <p:childTnLst>
                              <p:par>
                                <p:cTn id="171" presetID="10" presetClass="entr" presetSubtype="0" fill="hold" grpId="0" nodeType="withEffect">
                                  <p:stCondLst>
                                    <p:cond delay="720"/>
                                  </p:stCondLst>
                                  <p:childTnLst>
                                    <p:set>
                                      <p:cBhvr>
                                        <p:cTn id="172" dur="1" fill="hold">
                                          <p:stCondLst>
                                            <p:cond delay="0"/>
                                          </p:stCondLst>
                                          <p:attrNameLst>
                                            <p:attrName>style.visibility</p:attrName>
                                          </p:attrNameLst>
                                        </p:cTn>
                                        <p:tgtEl>
                                          <p:spTgt spid="20"/>
                                        </p:tgtEl>
                                      </p:cBhvr>
                                      <p:to>
                                        <p:strVal val="visible"/>
                                      </p:to>
                                    </p:set>
                                    <p:animEffect transition="in" filter="fade">
                                      <p:cBhvr>
                                        <p:cTn id="173" dur="550"/>
                                        <p:tgtEl>
                                          <p:spTgt spid="20"/>
                                        </p:tgtEl>
                                      </p:cBhvr>
                                    </p:animEffect>
                                  </p:childTnLst>
                                </p:cTn>
                              </p:par>
                            </p:childTnLst>
                          </p:cTn>
                        </p:par>
                        <p:par>
                          <p:cTn id="174" fill="hold">
                            <p:stCondLst>
                              <p:cond delay="0"/>
                            </p:stCondLst>
                            <p:childTnLst>
                              <p:par>
                                <p:cTn id="175" presetID="10" presetClass="entr" presetSubtype="0" fill="hold" grpId="0" nodeType="withEffect">
                                  <p:stCondLst>
                                    <p:cond delay="720"/>
                                  </p:stCondLst>
                                  <p:childTnLst>
                                    <p:set>
                                      <p:cBhvr>
                                        <p:cTn id="176" dur="1" fill="hold">
                                          <p:stCondLst>
                                            <p:cond delay="0"/>
                                          </p:stCondLst>
                                          <p:attrNameLst>
                                            <p:attrName>style.visibility</p:attrName>
                                          </p:attrNameLst>
                                        </p:cTn>
                                        <p:tgtEl>
                                          <p:spTgt spid="21"/>
                                        </p:tgtEl>
                                      </p:cBhvr>
                                      <p:to>
                                        <p:strVal val="visible"/>
                                      </p:to>
                                    </p:set>
                                    <p:animEffect transition="in" filter="fade">
                                      <p:cBhvr>
                                        <p:cTn id="177" dur="550"/>
                                        <p:tgtEl>
                                          <p:spTgt spid="21"/>
                                        </p:tgtEl>
                                      </p:cBhvr>
                                    </p:animEffect>
                                  </p:childTnLst>
                                </p:cTn>
                              </p:par>
                            </p:childTnLst>
                          </p:cTn>
                        </p:par>
                        <p:par>
                          <p:cTn id="178" fill="hold">
                            <p:stCondLst>
                              <p:cond delay="0"/>
                            </p:stCondLst>
                            <p:childTnLst>
                              <p:par>
                                <p:cTn id="179" presetID="10" presetClass="entr" presetSubtype="0" fill="hold" grpId="0" nodeType="withEffect">
                                  <p:stCondLst>
                                    <p:cond delay="720"/>
                                  </p:stCondLst>
                                  <p:childTnLst>
                                    <p:set>
                                      <p:cBhvr>
                                        <p:cTn id="180" dur="1" fill="hold">
                                          <p:stCondLst>
                                            <p:cond delay="0"/>
                                          </p:stCondLst>
                                          <p:attrNameLst>
                                            <p:attrName>style.visibility</p:attrName>
                                          </p:attrNameLst>
                                        </p:cTn>
                                        <p:tgtEl>
                                          <p:spTgt spid="22"/>
                                        </p:tgtEl>
                                      </p:cBhvr>
                                      <p:to>
                                        <p:strVal val="visible"/>
                                      </p:to>
                                    </p:set>
                                    <p:animEffect transition="in" filter="fade">
                                      <p:cBhvr>
                                        <p:cTn id="181" dur="550"/>
                                        <p:tgtEl>
                                          <p:spTgt spid="22"/>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WHY QUIZMASTER · PROBLEM STATEMENT</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Assessment today is </a:t>
            </a:r>
            <a:r>
              <a:rPr sz="2700" b="1" i="0">
                <a:gradFill rotWithShape="1">
                  <a:gsLst>
                    <a:gs pos="0">
                      <a:srgbClr val="6366F1"/>
                    </a:gs>
                    <a:gs pos="55000">
                      <a:srgbClr val="8B5CF6"/>
                    </a:gs>
                    <a:gs pos="100000">
                      <a:srgbClr val="06B6D4"/>
                    </a:gs>
                  </a:gsLst>
                  <a:lin ang="0" scaled="1"/>
                </a:gradFill>
                <a:latin typeface="Segoe UI"/>
              </a:rPr>
              <a:t>slow, manual &amp; blind</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The baseline — how quizzes still run in most classrooms, and what it costs.</a:t>
            </a:r>
          </a:p>
        </p:txBody>
      </p:sp>
      <p:sp>
        <p:nvSpPr>
          <p:cNvPr id="7" name="Rounded Rectangle 6"/>
          <p:cNvSpPr/>
          <p:nvPr/>
        </p:nvSpPr>
        <p:spPr>
          <a:xfrm>
            <a:off x="521207" y="1755648"/>
            <a:ext cx="5321808" cy="345643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56816"/>
            <a:ext cx="4846320" cy="320040"/>
          </a:xfrm>
          <a:prstGeom prst="rect">
            <a:avLst/>
          </a:prstGeom>
          <a:noFill/>
        </p:spPr>
        <p:txBody>
          <a:bodyPr wrap="square" anchor="t" lIns="0" rIns="0" tIns="0" bIns="0">
            <a:spAutoFit/>
          </a:bodyPr>
          <a:lstStyle/>
          <a:p>
            <a:pPr algn="l">
              <a:spcBef>
                <a:spcPts val="0"/>
              </a:spcBef>
              <a:spcAft>
                <a:spcPts val="0"/>
              </a:spcAft>
            </a:pPr>
            <a:r>
              <a:rPr sz="1200" b="1" i="0" spc="160">
                <a:solidFill>
                  <a:srgbClr val="F87171"/>
                </a:solidFill>
                <a:latin typeface="Segoe UI"/>
              </a:rPr>
              <a:t>BASELINE — THE MANUAL WAY</a:t>
            </a:r>
          </a:p>
        </p:txBody>
      </p:sp>
      <p:sp>
        <p:nvSpPr>
          <p:cNvPr id="9" name="TextBox 8"/>
          <p:cNvSpPr txBox="1"/>
          <p:nvPr/>
        </p:nvSpPr>
        <p:spPr>
          <a:xfrm>
            <a:off x="777240" y="2395728"/>
            <a:ext cx="4846320" cy="2651760"/>
          </a:xfrm>
          <a:prstGeom prst="rect">
            <a:avLst/>
          </a:prstGeom>
          <a:noFill/>
        </p:spPr>
        <p:txBody>
          <a:bodyPr wrap="square" anchor="t" lIns="0" rIns="0" tIns="0" bIns="0">
            <a:spAutoFit/>
          </a:bodyPr>
          <a:lstStyle/>
          <a:p>
            <a:pPr algn="l" marL="173736" indent="-173736">
              <a:lnSpc>
                <a:spcPct val="112000"/>
              </a:lnSpc>
              <a:spcBef>
                <a:spcPts val="0"/>
              </a:spcBef>
              <a:spcAft>
                <a:spcPts val="1000"/>
              </a:spcAft>
            </a:pPr>
            <a:r>
              <a:rPr sz="1187" b="1" i="0">
                <a:solidFill>
                  <a:srgbClr val="F87171"/>
                </a:solidFill>
                <a:latin typeface="Segoe UI"/>
              </a:rPr>
              <a:t>✗  </a:t>
            </a:r>
            <a:r>
              <a:rPr sz="1250" b="1" i="0">
                <a:solidFill>
                  <a:srgbClr val="FFFFFF"/>
                </a:solidFill>
                <a:latin typeface="Segoe UI"/>
              </a:rPr>
              <a:t>Hours of checking </a:t>
            </a:r>
            <a:r>
              <a:rPr sz="1250" b="0" i="0">
                <a:solidFill>
                  <a:srgbClr val="CDD1F2"/>
                </a:solidFill>
                <a:latin typeface="Segoe UI"/>
              </a:rPr>
              <a:t>— every paper copy marked by hand</a:t>
            </a:r>
          </a:p>
          <a:p>
            <a:pPr algn="l" marL="173736" indent="-173736">
              <a:lnSpc>
                <a:spcPct val="112000"/>
              </a:lnSpc>
              <a:spcBef>
                <a:spcPts val="0"/>
              </a:spcBef>
              <a:spcAft>
                <a:spcPts val="1000"/>
              </a:spcAft>
            </a:pPr>
            <a:r>
              <a:rPr sz="1187" b="1" i="0">
                <a:solidFill>
                  <a:srgbClr val="F87171"/>
                </a:solidFill>
                <a:latin typeface="Segoe UI"/>
              </a:rPr>
              <a:t>✗  </a:t>
            </a:r>
            <a:r>
              <a:rPr sz="1250" b="1" i="0">
                <a:solidFill>
                  <a:srgbClr val="FFFFFF"/>
                </a:solidFill>
                <a:latin typeface="Segoe UI"/>
              </a:rPr>
              <a:t>Results take days </a:t>
            </a:r>
            <a:r>
              <a:rPr sz="1250" b="0" i="0">
                <a:solidFill>
                  <a:srgbClr val="CDD1F2"/>
                </a:solidFill>
                <a:latin typeface="Segoe UI"/>
              </a:rPr>
              <a:t>— feedback arrives too late to act on</a:t>
            </a:r>
          </a:p>
          <a:p>
            <a:pPr algn="l" marL="173736" indent="-173736">
              <a:lnSpc>
                <a:spcPct val="112000"/>
              </a:lnSpc>
              <a:spcBef>
                <a:spcPts val="0"/>
              </a:spcBef>
              <a:spcAft>
                <a:spcPts val="1000"/>
              </a:spcAft>
            </a:pPr>
            <a:r>
              <a:rPr sz="1187" b="1" i="0">
                <a:solidFill>
                  <a:srgbClr val="F87171"/>
                </a:solidFill>
                <a:latin typeface="Segoe UI"/>
              </a:rPr>
              <a:t>✗  </a:t>
            </a:r>
            <a:r>
              <a:rPr sz="1250" b="1" i="0">
                <a:solidFill>
                  <a:srgbClr val="FFFFFF"/>
                </a:solidFill>
                <a:latin typeface="Segoe UI"/>
              </a:rPr>
              <a:t>No attempt history </a:t>
            </a:r>
            <a:r>
              <a:rPr sz="1250" b="0" i="0">
                <a:solidFill>
                  <a:srgbClr val="CDD1F2"/>
                </a:solidFill>
                <a:latin typeface="Segoe UI"/>
              </a:rPr>
              <a:t>— weak topics stay invisible</a:t>
            </a:r>
          </a:p>
          <a:p>
            <a:pPr algn="l" marL="173736" indent="-173736">
              <a:lnSpc>
                <a:spcPct val="112000"/>
              </a:lnSpc>
              <a:spcBef>
                <a:spcPts val="0"/>
              </a:spcBef>
              <a:spcAft>
                <a:spcPts val="1000"/>
              </a:spcAft>
            </a:pPr>
            <a:r>
              <a:rPr sz="1187" b="1" i="0">
                <a:solidFill>
                  <a:srgbClr val="F87171"/>
                </a:solidFill>
                <a:latin typeface="Segoe UI"/>
              </a:rPr>
              <a:t>✗  </a:t>
            </a:r>
            <a:r>
              <a:rPr sz="1250" b="1" i="0">
                <a:solidFill>
                  <a:srgbClr val="FFFFFF"/>
                </a:solidFill>
                <a:latin typeface="Segoe UI"/>
              </a:rPr>
              <a:t>Errors &amp; duplicates </a:t>
            </a:r>
            <a:r>
              <a:rPr sz="1250" b="0" i="0">
                <a:solidFill>
                  <a:srgbClr val="CDD1F2"/>
                </a:solidFill>
                <a:latin typeface="Segoe UI"/>
              </a:rPr>
              <a:t>— totalling mistakes, repeat entries</a:t>
            </a:r>
          </a:p>
          <a:p>
            <a:pPr algn="l" marL="173736" indent="-173736">
              <a:lnSpc>
                <a:spcPct val="112000"/>
              </a:lnSpc>
              <a:spcBef>
                <a:spcPts val="0"/>
              </a:spcBef>
              <a:spcAft>
                <a:spcPts val="1000"/>
              </a:spcAft>
            </a:pPr>
            <a:r>
              <a:rPr sz="1187" b="1" i="0">
                <a:solidFill>
                  <a:srgbClr val="F87171"/>
                </a:solidFill>
                <a:latin typeface="Segoe UI"/>
              </a:rPr>
              <a:t>✗  </a:t>
            </a:r>
            <a:r>
              <a:rPr sz="1250" b="1" i="0">
                <a:solidFill>
                  <a:srgbClr val="FFFFFF"/>
                </a:solidFill>
                <a:latin typeface="Segoe UI"/>
              </a:rPr>
              <a:t>Nothing measured </a:t>
            </a:r>
            <a:r>
              <a:rPr sz="1250" b="0" i="0">
                <a:solidFill>
                  <a:srgbClr val="CDD1F2"/>
                </a:solidFill>
                <a:latin typeface="Segoe UI"/>
              </a:rPr>
              <a:t>— so teaching quality can't improve</a:t>
            </a:r>
          </a:p>
        </p:txBody>
      </p:sp>
      <p:sp>
        <p:nvSpPr>
          <p:cNvPr id="10" name="Oval 9"/>
          <p:cNvSpPr/>
          <p:nvPr/>
        </p:nvSpPr>
        <p:spPr>
          <a:xfrm>
            <a:off x="5815584" y="3127248"/>
            <a:ext cx="566928" cy="566928"/>
          </a:xfrm>
          <a:prstGeom prst="ellipse">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Segoe UI"/>
              </a:rPr>
              <a:t>→</a:t>
            </a:r>
          </a:p>
        </p:txBody>
      </p:sp>
      <p:sp>
        <p:nvSpPr>
          <p:cNvPr id="11" name="Rounded Rectangle 10"/>
          <p:cNvSpPr/>
          <p:nvPr/>
        </p:nvSpPr>
        <p:spPr>
          <a:xfrm>
            <a:off x="6345936" y="1755648"/>
            <a:ext cx="5321808" cy="3456432"/>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01968" y="1956816"/>
            <a:ext cx="4846320" cy="320040"/>
          </a:xfrm>
          <a:prstGeom prst="rect">
            <a:avLst/>
          </a:prstGeom>
          <a:noFill/>
        </p:spPr>
        <p:txBody>
          <a:bodyPr wrap="square" anchor="t" lIns="0" rIns="0" tIns="0" bIns="0">
            <a:spAutoFit/>
          </a:bodyPr>
          <a:lstStyle/>
          <a:p>
            <a:pPr algn="l">
              <a:spcBef>
                <a:spcPts val="0"/>
              </a:spcBef>
              <a:spcAft>
                <a:spcPts val="0"/>
              </a:spcAft>
            </a:pPr>
            <a:r>
              <a:rPr sz="1200" b="1" i="0" spc="160">
                <a:solidFill>
                  <a:srgbClr val="34D399"/>
                </a:solidFill>
                <a:latin typeface="Segoe UI"/>
              </a:rPr>
              <a:t>WITH QUIZMASTER</a:t>
            </a:r>
          </a:p>
        </p:txBody>
      </p:sp>
      <p:sp>
        <p:nvSpPr>
          <p:cNvPr id="13" name="TextBox 12"/>
          <p:cNvSpPr txBox="1"/>
          <p:nvPr/>
        </p:nvSpPr>
        <p:spPr>
          <a:xfrm>
            <a:off x="6601968" y="2395728"/>
            <a:ext cx="4846320" cy="2651760"/>
          </a:xfrm>
          <a:prstGeom prst="rect">
            <a:avLst/>
          </a:prstGeom>
          <a:noFill/>
        </p:spPr>
        <p:txBody>
          <a:bodyPr wrap="square" anchor="t" lIns="0" rIns="0" tIns="0" bIns="0">
            <a:spAutoFit/>
          </a:bodyPr>
          <a:lstStyle/>
          <a:p>
            <a:pPr algn="l" marL="173736" indent="-173736">
              <a:lnSpc>
                <a:spcPct val="112000"/>
              </a:lnSpc>
              <a:spcBef>
                <a:spcPts val="0"/>
              </a:spcBef>
              <a:spcAft>
                <a:spcPts val="1000"/>
              </a:spcAft>
            </a:pPr>
            <a:r>
              <a:rPr sz="1250" b="1" i="0">
                <a:solidFill>
                  <a:srgbClr val="34D399"/>
                </a:solidFill>
                <a:latin typeface="Segoe UI"/>
              </a:rPr>
              <a:t>✓  </a:t>
            </a:r>
            <a:r>
              <a:rPr sz="1250" b="1" i="0">
                <a:solidFill>
                  <a:srgbClr val="FFFFFF"/>
                </a:solidFill>
                <a:latin typeface="Segoe UI"/>
              </a:rPr>
              <a:t>Graded in milliseconds </a:t>
            </a:r>
            <a:r>
              <a:rPr sz="1250" b="0" i="0">
                <a:solidFill>
                  <a:srgbClr val="CDD1F2"/>
                </a:solidFill>
                <a:latin typeface="Segoe UI"/>
              </a:rPr>
              <a:t>— automatically, on the server</a:t>
            </a:r>
          </a:p>
          <a:p>
            <a:pPr algn="l" marL="173736" indent="-173736">
              <a:lnSpc>
                <a:spcPct val="112000"/>
              </a:lnSpc>
              <a:spcBef>
                <a:spcPts val="0"/>
              </a:spcBef>
              <a:spcAft>
                <a:spcPts val="1000"/>
              </a:spcAft>
            </a:pPr>
            <a:r>
              <a:rPr sz="1250" b="1" i="0">
                <a:solidFill>
                  <a:srgbClr val="34D399"/>
                </a:solidFill>
                <a:latin typeface="Segoe UI"/>
              </a:rPr>
              <a:t>✓  </a:t>
            </a:r>
            <a:r>
              <a:rPr sz="1250" b="1" i="0">
                <a:solidFill>
                  <a:srgbClr val="FFFFFF"/>
                </a:solidFill>
                <a:latin typeface="Segoe UI"/>
              </a:rPr>
              <a:t>Instant feedback </a:t>
            </a:r>
            <a:r>
              <a:rPr sz="1250" b="0" i="0">
                <a:solidFill>
                  <a:srgbClr val="CDD1F2"/>
                </a:solidFill>
                <a:latin typeface="Segoe UI"/>
              </a:rPr>
              <a:t>— score, solutions &amp; weak-topic insight</a:t>
            </a:r>
          </a:p>
          <a:p>
            <a:pPr algn="l" marL="173736" indent="-173736">
              <a:lnSpc>
                <a:spcPct val="112000"/>
              </a:lnSpc>
              <a:spcBef>
                <a:spcPts val="0"/>
              </a:spcBef>
              <a:spcAft>
                <a:spcPts val="1000"/>
              </a:spcAft>
            </a:pPr>
            <a:r>
              <a:rPr sz="1250" b="1" i="0">
                <a:solidFill>
                  <a:srgbClr val="34D399"/>
                </a:solidFill>
                <a:latin typeface="Segoe UI"/>
              </a:rPr>
              <a:t>✓  </a:t>
            </a:r>
            <a:r>
              <a:rPr sz="1250" b="1" i="0">
                <a:solidFill>
                  <a:srgbClr val="FFFFFF"/>
                </a:solidFill>
                <a:latin typeface="Segoe UI"/>
              </a:rPr>
              <a:t>Complete history </a:t>
            </a:r>
            <a:r>
              <a:rPr sz="1250" b="0" i="0">
                <a:solidFill>
                  <a:srgbClr val="CDD1F2"/>
                </a:solidFill>
                <a:latin typeface="Segoe UI"/>
              </a:rPr>
              <a:t>— every attempt, trend &amp; leaderboard</a:t>
            </a:r>
          </a:p>
          <a:p>
            <a:pPr algn="l" marL="173736" indent="-173736">
              <a:lnSpc>
                <a:spcPct val="112000"/>
              </a:lnSpc>
              <a:spcBef>
                <a:spcPts val="0"/>
              </a:spcBef>
              <a:spcAft>
                <a:spcPts val="1000"/>
              </a:spcAft>
            </a:pPr>
            <a:r>
              <a:rPr sz="1250" b="1" i="0">
                <a:solidFill>
                  <a:srgbClr val="34D399"/>
                </a:solidFill>
                <a:latin typeface="Segoe UI"/>
              </a:rPr>
              <a:t>✓  </a:t>
            </a:r>
            <a:r>
              <a:rPr sz="1250" b="1" i="0">
                <a:solidFill>
                  <a:srgbClr val="FFFFFF"/>
                </a:solidFill>
                <a:latin typeface="Segoe UI"/>
              </a:rPr>
              <a:t>Validated, duplicate-safe data </a:t>
            </a:r>
            <a:r>
              <a:rPr sz="1250" b="0" i="0">
                <a:solidFill>
                  <a:srgbClr val="CDD1F2"/>
                </a:solidFill>
                <a:latin typeface="Segoe UI"/>
              </a:rPr>
              <a:t>with a full audit trail</a:t>
            </a:r>
          </a:p>
          <a:p>
            <a:pPr algn="l" marL="173736" indent="-173736">
              <a:lnSpc>
                <a:spcPct val="112000"/>
              </a:lnSpc>
              <a:spcBef>
                <a:spcPts val="0"/>
              </a:spcBef>
              <a:spcAft>
                <a:spcPts val="1000"/>
              </a:spcAft>
            </a:pPr>
            <a:r>
              <a:rPr sz="1250" b="1" i="0">
                <a:solidFill>
                  <a:srgbClr val="34D399"/>
                </a:solidFill>
                <a:latin typeface="Segoe UI"/>
              </a:rPr>
              <a:t>✓  </a:t>
            </a:r>
            <a:r>
              <a:rPr sz="1250" b="1" i="0">
                <a:solidFill>
                  <a:srgbClr val="FFFFFF"/>
                </a:solidFill>
                <a:latin typeface="Segoe UI"/>
              </a:rPr>
              <a:t>Quality tools built in </a:t>
            </a:r>
            <a:r>
              <a:rPr sz="1250" b="0" i="0">
                <a:solidFill>
                  <a:srgbClr val="CDD1F2"/>
                </a:solidFill>
                <a:latin typeface="Segoe UI"/>
              </a:rPr>
              <a:t>— defects, Pareto, FMEA, PDCA</a:t>
            </a:r>
          </a:p>
        </p:txBody>
      </p:sp>
      <p:sp>
        <p:nvSpPr>
          <p:cNvPr id="14" name="Rounded Rectangle 13"/>
          <p:cNvSpPr/>
          <p:nvPr/>
        </p:nvSpPr>
        <p:spPr>
          <a:xfrm>
            <a:off x="521207" y="5431536"/>
            <a:ext cx="11149279" cy="676656"/>
          </a:xfrm>
          <a:prstGeom prst="roundRect">
            <a:avLst>
              <a:gd name="adj" fmla="val 16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7" y="5431536"/>
            <a:ext cx="11149279" cy="676656"/>
          </a:xfrm>
          <a:prstGeom prst="rect">
            <a:avLst/>
          </a:prstGeom>
          <a:noFill/>
        </p:spPr>
        <p:txBody>
          <a:bodyPr wrap="square" anchor="ctr" lIns="0" rIns="0" tIns="0" bIns="0">
            <a:spAutoFit/>
          </a:bodyPr>
          <a:lstStyle/>
          <a:p>
            <a:pPr algn="ctr">
              <a:spcBef>
                <a:spcPts val="0"/>
              </a:spcBef>
              <a:spcAft>
                <a:spcPts val="0"/>
              </a:spcAft>
            </a:pPr>
            <a:r>
              <a:rPr sz="1450" b="1" i="0">
                <a:solidFill>
                  <a:srgbClr val="FFFFFF"/>
                </a:solidFill>
                <a:latin typeface="Segoe UI"/>
              </a:rPr>
              <a:t>From days of manual checking  →  results in milliseconds, with data you can actually improve on.</a:t>
            </a:r>
          </a:p>
        </p:txBody>
      </p:sp>
      <p:sp>
        <p:nvSpPr>
          <p:cNvPr id="16" name="TextBox 15"/>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17" name="TextBox 16"/>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02</a:t>
            </a:r>
            <a:r>
              <a:rPr sz="1000" b="0" i="0">
                <a:solidFill>
                  <a:srgbClr val="6F72AA"/>
                </a:solidFill>
                <a:latin typeface="Segoe UI"/>
              </a:rPr>
              <a:t> / 11</a:t>
            </a:r>
          </a:p>
        </p:txBody>
      </p:sp>
    </p:spTree>
  </p:cSld>
  <p:clrMapOvr>
    <a:masterClrMapping/>
  </p:clrMapOvr>
  <p:transition spd="med" advClick="1">
    <p:push dir="l"/>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20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320"/>
                                  </p:stCondLst>
                                  <p:childTnLst>
                                    <p:set>
                                      <p:cBhvr>
                                        <p:cTn id="124" dur="1" fill="hold">
                                          <p:stCondLst>
                                            <p:cond delay="0"/>
                                          </p:stCondLst>
                                          <p:attrNameLst>
                                            <p:attrName>style.visibility</p:attrName>
                                          </p:attrNameLst>
                                        </p:cTn>
                                        <p:tgtEl>
                                          <p:spTgt spid="9"/>
                                        </p:tgtEl>
                                      </p:cBhvr>
                                      <p:to>
                                        <p:strVal val="visible"/>
                                      </p:to>
                                    </p:set>
                                    <p:animEffect transition="in" filter="fade">
                                      <p:cBhvr>
                                        <p:cTn id="125" dur="550"/>
                                        <p:tgtEl>
                                          <p:spTgt spid="9"/>
                                        </p:tgtEl>
                                      </p:cBhvr>
                                    </p:animEffect>
                                  </p:childTnLst>
                                </p:cTn>
                              </p:par>
                            </p:childTnLst>
                          </p:cTn>
                        </p:par>
                        <p:par>
                          <p:cTn id="126" fill="hold">
                            <p:stCondLst>
                              <p:cond delay="0"/>
                            </p:stCondLst>
                            <p:childTnLst>
                              <p:par>
                                <p:cTn id="127" presetID="10" presetClass="entr" presetSubtype="0" fill="hold" grpId="0" nodeType="withEffect">
                                  <p:stCondLst>
                                    <p:cond delay="480"/>
                                  </p:stCondLst>
                                  <p:childTnLst>
                                    <p:set>
                                      <p:cBhvr>
                                        <p:cTn id="128" dur="1" fill="hold">
                                          <p:stCondLst>
                                            <p:cond delay="0"/>
                                          </p:stCondLst>
                                          <p:attrNameLst>
                                            <p:attrName>style.visibility</p:attrName>
                                          </p:attrNameLst>
                                        </p:cTn>
                                        <p:tgtEl>
                                          <p:spTgt spid="10"/>
                                        </p:tgtEl>
                                      </p:cBhvr>
                                      <p:to>
                                        <p:strVal val="visible"/>
                                      </p:to>
                                    </p:set>
                                    <p:animEffect transition="in" filter="fade">
                                      <p:cBhvr>
                                        <p:cTn id="129" dur="550"/>
                                        <p:tgtEl>
                                          <p:spTgt spid="10"/>
                                        </p:tgtEl>
                                      </p:cBhvr>
                                    </p:animEffect>
                                  </p:childTnLst>
                                </p:cTn>
                              </p:par>
                            </p:childTnLst>
                          </p:cTn>
                        </p:par>
                        <p:par>
                          <p:cTn id="130" fill="hold">
                            <p:stCondLst>
                              <p:cond delay="0"/>
                            </p:stCondLst>
                            <p:childTnLst>
                              <p:par>
                                <p:cTn id="131" presetID="10" presetClass="entr" presetSubtype="0" fill="hold" grpId="0" nodeType="withEffect">
                                  <p:stCondLst>
                                    <p:cond delay="260"/>
                                  </p:stCondLst>
                                  <p:childTnLst>
                                    <p:set>
                                      <p:cBhvr>
                                        <p:cTn id="132" dur="1" fill="hold">
                                          <p:stCondLst>
                                            <p:cond delay="0"/>
                                          </p:stCondLst>
                                          <p:attrNameLst>
                                            <p:attrName>style.visibility</p:attrName>
                                          </p:attrNameLst>
                                        </p:cTn>
                                        <p:tgtEl>
                                          <p:spTgt spid="11"/>
                                        </p:tgtEl>
                                      </p:cBhvr>
                                      <p:to>
                                        <p:strVal val="visible"/>
                                      </p:to>
                                    </p:set>
                                    <p:animEffect transition="in" filter="fade">
                                      <p:cBhvr>
                                        <p:cTn id="133" dur="550"/>
                                        <p:tgtEl>
                                          <p:spTgt spid="11"/>
                                        </p:tgtEl>
                                      </p:cBhvr>
                                    </p:animEffect>
                                  </p:childTnLst>
                                </p:cTn>
                              </p:par>
                            </p:childTnLst>
                          </p:cTn>
                        </p:par>
                        <p:par>
                          <p:cTn id="134" fill="hold">
                            <p:stCondLst>
                              <p:cond delay="0"/>
                            </p:stCondLst>
                            <p:childTnLst>
                              <p:par>
                                <p:cTn id="135" presetID="10" presetClass="entr" presetSubtype="0" fill="hold" grpId="0" nodeType="withEffect">
                                  <p:stCondLst>
                                    <p:cond delay="380"/>
                                  </p:stCondLst>
                                  <p:childTnLst>
                                    <p:set>
                                      <p:cBhvr>
                                        <p:cTn id="136" dur="1" fill="hold">
                                          <p:stCondLst>
                                            <p:cond delay="0"/>
                                          </p:stCondLst>
                                          <p:attrNameLst>
                                            <p:attrName>style.visibility</p:attrName>
                                          </p:attrNameLst>
                                        </p:cTn>
                                        <p:tgtEl>
                                          <p:spTgt spid="13"/>
                                        </p:tgtEl>
                                      </p:cBhvr>
                                      <p:to>
                                        <p:strVal val="visible"/>
                                      </p:to>
                                    </p:set>
                                    <p:animEffect transition="in" filter="fade">
                                      <p:cBhvr>
                                        <p:cTn id="137" dur="550"/>
                                        <p:tgtEl>
                                          <p:spTgt spid="13"/>
                                        </p:tgtEl>
                                      </p:cBhvr>
                                    </p:animEffect>
                                  </p:childTnLst>
                                </p:cTn>
                              </p:par>
                            </p:childTnLst>
                          </p:cTn>
                        </p:par>
                        <p:par>
                          <p:cTn id="138" fill="hold">
                            <p:stCondLst>
                              <p:cond delay="0"/>
                            </p:stCondLst>
                            <p:childTnLst>
                              <p:par>
                                <p:cTn id="139" presetID="10" presetClass="entr" presetSubtype="0" fill="hold" grpId="0" nodeType="withEffect">
                                  <p:stCondLst>
                                    <p:cond delay="620"/>
                                  </p:stCondLst>
                                  <p:childTnLst>
                                    <p:set>
                                      <p:cBhvr>
                                        <p:cTn id="140" dur="1" fill="hold">
                                          <p:stCondLst>
                                            <p:cond delay="0"/>
                                          </p:stCondLst>
                                          <p:attrNameLst>
                                            <p:attrName>style.visibility</p:attrName>
                                          </p:attrNameLst>
                                        </p:cTn>
                                        <p:tgtEl>
                                          <p:spTgt spid="14"/>
                                        </p:tgtEl>
                                      </p:cBhvr>
                                      <p:to>
                                        <p:strVal val="visible"/>
                                      </p:to>
                                    </p:set>
                                    <p:animEffect transition="in" filter="fade">
                                      <p:cBhvr>
                                        <p:cTn id="141" dur="550"/>
                                        <p:tgtEl>
                                          <p:spTgt spid="14"/>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QUALITY OBJECTIVES · SRS SNAPSHOT</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Built around </a:t>
            </a:r>
            <a:r>
              <a:rPr sz="2700" b="1" i="0">
                <a:gradFill rotWithShape="1">
                  <a:gsLst>
                    <a:gs pos="0">
                      <a:srgbClr val="6366F1"/>
                    </a:gs>
                    <a:gs pos="55000">
                      <a:srgbClr val="8B5CF6"/>
                    </a:gs>
                    <a:gs pos="100000">
                      <a:srgbClr val="06B6D4"/>
                    </a:gs>
                  </a:gsLst>
                  <a:lin ang="0" scaled="1"/>
                </a:gradFill>
                <a:latin typeface="Segoe UI"/>
              </a:rPr>
              <a:t>20 measurable quality goals</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Every guideline goal (Q01–Q20) maps to a working, verifiable feature.</a:t>
            </a:r>
          </a:p>
        </p:txBody>
      </p:sp>
      <p:sp>
        <p:nvSpPr>
          <p:cNvPr id="7" name="Rounded Rectangle 6"/>
          <p:cNvSpPr/>
          <p:nvPr/>
        </p:nvSpPr>
        <p:spPr>
          <a:xfrm>
            <a:off x="521207" y="1810512"/>
            <a:ext cx="3255264" cy="1152144"/>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965960"/>
            <a:ext cx="310896" cy="54864"/>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 y="1901952"/>
            <a:ext cx="2542032" cy="274320"/>
          </a:xfrm>
          <a:prstGeom prst="rect">
            <a:avLst/>
          </a:prstGeom>
          <a:noFill/>
        </p:spPr>
        <p:txBody>
          <a:bodyPr wrap="square" anchor="t" lIns="0" rIns="0" tIns="0" bIns="0">
            <a:spAutoFit/>
          </a:bodyPr>
          <a:lstStyle/>
          <a:p>
            <a:pPr algn="l">
              <a:spcBef>
                <a:spcPts val="0"/>
              </a:spcBef>
              <a:spcAft>
                <a:spcPts val="0"/>
              </a:spcAft>
            </a:pPr>
            <a:r>
              <a:rPr sz="1250" b="1" i="0">
                <a:solidFill>
                  <a:srgbClr val="FFFFFF"/>
                </a:solidFill>
                <a:latin typeface="Segoe UI"/>
              </a:rPr>
              <a:t>Reliability &amp; Accuracy</a:t>
            </a:r>
          </a:p>
        </p:txBody>
      </p:sp>
      <p:sp>
        <p:nvSpPr>
          <p:cNvPr id="10" name="TextBox 9"/>
          <p:cNvSpPr txBox="1"/>
          <p:nvPr/>
        </p:nvSpPr>
        <p:spPr>
          <a:xfrm>
            <a:off x="685800" y="2240280"/>
            <a:ext cx="2926080" cy="228600"/>
          </a:xfrm>
          <a:prstGeom prst="rect">
            <a:avLst/>
          </a:prstGeom>
          <a:noFill/>
        </p:spPr>
        <p:txBody>
          <a:bodyPr wrap="square" anchor="t" lIns="0" rIns="0" tIns="0" bIns="0">
            <a:spAutoFit/>
          </a:bodyPr>
          <a:lstStyle/>
          <a:p>
            <a:pPr algn="l">
              <a:spcBef>
                <a:spcPts val="0"/>
              </a:spcBef>
              <a:spcAft>
                <a:spcPts val="0"/>
              </a:spcAft>
            </a:pPr>
            <a:r>
              <a:rPr sz="900" b="1" i="0" spc="80">
                <a:solidFill>
                  <a:srgbClr val="22D3EE"/>
                </a:solidFill>
                <a:latin typeface="Segoe UI"/>
              </a:rPr>
              <a:t>Q01 · Q06 · Q07</a:t>
            </a:r>
          </a:p>
        </p:txBody>
      </p:sp>
      <p:sp>
        <p:nvSpPr>
          <p:cNvPr id="11" name="TextBox 10"/>
          <p:cNvSpPr txBox="1"/>
          <p:nvPr/>
        </p:nvSpPr>
        <p:spPr>
          <a:xfrm>
            <a:off x="685800" y="2459736"/>
            <a:ext cx="2944368" cy="475488"/>
          </a:xfrm>
          <a:prstGeom prst="rect">
            <a:avLst/>
          </a:prstGeom>
          <a:noFill/>
        </p:spPr>
        <p:txBody>
          <a:bodyPr wrap="square" anchor="t" lIns="0" rIns="0" tIns="0" bIns="0">
            <a:spAutoFit/>
          </a:bodyPr>
          <a:lstStyle/>
          <a:p>
            <a:pPr algn="l">
              <a:lnSpc>
                <a:spcPct val="110000"/>
              </a:lnSpc>
              <a:spcBef>
                <a:spcPts val="0"/>
              </a:spcBef>
              <a:spcAft>
                <a:spcPts val="0"/>
              </a:spcAft>
            </a:pPr>
            <a:r>
              <a:rPr sz="1000" b="0" i="0">
                <a:solidFill>
                  <a:srgbClr val="9699CC"/>
                </a:solidFill>
                <a:latin typeface="Segoe UI"/>
              </a:rPr>
              <a:t>Auto-backups, audit log, strict validation, duplicate-entry guards.</a:t>
            </a:r>
          </a:p>
        </p:txBody>
      </p:sp>
      <p:sp>
        <p:nvSpPr>
          <p:cNvPr id="12" name="Rounded Rectangle 11"/>
          <p:cNvSpPr/>
          <p:nvPr/>
        </p:nvSpPr>
        <p:spPr>
          <a:xfrm>
            <a:off x="3904488" y="1810512"/>
            <a:ext cx="3255264" cy="1152144"/>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069080" y="1965960"/>
            <a:ext cx="310896" cy="54864"/>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1416" y="1901952"/>
            <a:ext cx="2542032" cy="274320"/>
          </a:xfrm>
          <a:prstGeom prst="rect">
            <a:avLst/>
          </a:prstGeom>
          <a:noFill/>
        </p:spPr>
        <p:txBody>
          <a:bodyPr wrap="square" anchor="t" lIns="0" rIns="0" tIns="0" bIns="0">
            <a:spAutoFit/>
          </a:bodyPr>
          <a:lstStyle/>
          <a:p>
            <a:pPr algn="l">
              <a:spcBef>
                <a:spcPts val="0"/>
              </a:spcBef>
              <a:spcAft>
                <a:spcPts val="0"/>
              </a:spcAft>
            </a:pPr>
            <a:r>
              <a:rPr sz="1250" b="1" i="0">
                <a:solidFill>
                  <a:srgbClr val="FFFFFF"/>
                </a:solidFill>
                <a:latin typeface="Segoe UI"/>
              </a:rPr>
              <a:t>Performance &amp; Speed</a:t>
            </a:r>
          </a:p>
        </p:txBody>
      </p:sp>
      <p:sp>
        <p:nvSpPr>
          <p:cNvPr id="15" name="TextBox 14"/>
          <p:cNvSpPr txBox="1"/>
          <p:nvPr/>
        </p:nvSpPr>
        <p:spPr>
          <a:xfrm>
            <a:off x="4069080" y="2240280"/>
            <a:ext cx="2926080" cy="228600"/>
          </a:xfrm>
          <a:prstGeom prst="rect">
            <a:avLst/>
          </a:prstGeom>
          <a:noFill/>
        </p:spPr>
        <p:txBody>
          <a:bodyPr wrap="square" anchor="t" lIns="0" rIns="0" tIns="0" bIns="0">
            <a:spAutoFit/>
          </a:bodyPr>
          <a:lstStyle/>
          <a:p>
            <a:pPr algn="l">
              <a:spcBef>
                <a:spcPts val="0"/>
              </a:spcBef>
              <a:spcAft>
                <a:spcPts val="0"/>
              </a:spcAft>
            </a:pPr>
            <a:r>
              <a:rPr sz="900" b="1" i="0" spc="80">
                <a:solidFill>
                  <a:srgbClr val="22D3EE"/>
                </a:solidFill>
                <a:latin typeface="Segoe UI"/>
              </a:rPr>
              <a:t>Q02 · Q05 · Q13 · Q17</a:t>
            </a:r>
          </a:p>
        </p:txBody>
      </p:sp>
      <p:sp>
        <p:nvSpPr>
          <p:cNvPr id="16" name="TextBox 15"/>
          <p:cNvSpPr txBox="1"/>
          <p:nvPr/>
        </p:nvSpPr>
        <p:spPr>
          <a:xfrm>
            <a:off x="4069080" y="2459736"/>
            <a:ext cx="2944368" cy="475488"/>
          </a:xfrm>
          <a:prstGeom prst="rect">
            <a:avLst/>
          </a:prstGeom>
          <a:noFill/>
        </p:spPr>
        <p:txBody>
          <a:bodyPr wrap="square" anchor="t" lIns="0" rIns="0" tIns="0" bIns="0">
            <a:spAutoFit/>
          </a:bodyPr>
          <a:lstStyle/>
          <a:p>
            <a:pPr algn="l">
              <a:lnSpc>
                <a:spcPct val="110000"/>
              </a:lnSpc>
              <a:spcBef>
                <a:spcPts val="0"/>
              </a:spcBef>
              <a:spcAft>
                <a:spcPts val="0"/>
              </a:spcAft>
            </a:pPr>
            <a:r>
              <a:rPr sz="1000" b="0" i="0">
                <a:solidFill>
                  <a:srgbClr val="9699CC"/>
                </a:solidFill>
                <a:latin typeface="Segoe UI"/>
              </a:rPr>
              <a:t>Indexed search, cached dashboards, pagination, compressed assets.</a:t>
            </a:r>
          </a:p>
        </p:txBody>
      </p:sp>
      <p:sp>
        <p:nvSpPr>
          <p:cNvPr id="17" name="Rounded Rectangle 16"/>
          <p:cNvSpPr/>
          <p:nvPr/>
        </p:nvSpPr>
        <p:spPr>
          <a:xfrm>
            <a:off x="521207" y="3090672"/>
            <a:ext cx="3255264" cy="1152144"/>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5800" y="3246120"/>
            <a:ext cx="310896" cy="54864"/>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8136" y="3182112"/>
            <a:ext cx="2542032" cy="274320"/>
          </a:xfrm>
          <a:prstGeom prst="rect">
            <a:avLst/>
          </a:prstGeom>
          <a:noFill/>
        </p:spPr>
        <p:txBody>
          <a:bodyPr wrap="square" anchor="t" lIns="0" rIns="0" tIns="0" bIns="0">
            <a:spAutoFit/>
          </a:bodyPr>
          <a:lstStyle/>
          <a:p>
            <a:pPr algn="l">
              <a:spcBef>
                <a:spcPts val="0"/>
              </a:spcBef>
              <a:spcAft>
                <a:spcPts val="0"/>
              </a:spcAft>
            </a:pPr>
            <a:r>
              <a:rPr sz="1250" b="1" i="0">
                <a:solidFill>
                  <a:srgbClr val="FFFFFF"/>
                </a:solidFill>
                <a:latin typeface="Segoe UI"/>
              </a:rPr>
              <a:t>Usability &amp; Accessibility</a:t>
            </a:r>
          </a:p>
        </p:txBody>
      </p:sp>
      <p:sp>
        <p:nvSpPr>
          <p:cNvPr id="20" name="TextBox 19"/>
          <p:cNvSpPr txBox="1"/>
          <p:nvPr/>
        </p:nvSpPr>
        <p:spPr>
          <a:xfrm>
            <a:off x="685800" y="3520439"/>
            <a:ext cx="2926080" cy="228600"/>
          </a:xfrm>
          <a:prstGeom prst="rect">
            <a:avLst/>
          </a:prstGeom>
          <a:noFill/>
        </p:spPr>
        <p:txBody>
          <a:bodyPr wrap="square" anchor="t" lIns="0" rIns="0" tIns="0" bIns="0">
            <a:spAutoFit/>
          </a:bodyPr>
          <a:lstStyle/>
          <a:p>
            <a:pPr algn="l">
              <a:spcBef>
                <a:spcPts val="0"/>
              </a:spcBef>
              <a:spcAft>
                <a:spcPts val="0"/>
              </a:spcAft>
            </a:pPr>
            <a:r>
              <a:rPr sz="900" b="1" i="0" spc="80">
                <a:solidFill>
                  <a:srgbClr val="22D3EE"/>
                </a:solidFill>
                <a:latin typeface="Segoe UI"/>
              </a:rPr>
              <a:t>Q03 · Q08 · Q12 · Q14</a:t>
            </a:r>
          </a:p>
        </p:txBody>
      </p:sp>
      <p:sp>
        <p:nvSpPr>
          <p:cNvPr id="21" name="TextBox 20"/>
          <p:cNvSpPr txBox="1"/>
          <p:nvPr/>
        </p:nvSpPr>
        <p:spPr>
          <a:xfrm>
            <a:off x="685800" y="3739896"/>
            <a:ext cx="2944368" cy="475488"/>
          </a:xfrm>
          <a:prstGeom prst="rect">
            <a:avLst/>
          </a:prstGeom>
          <a:noFill/>
        </p:spPr>
        <p:txBody>
          <a:bodyPr wrap="square" anchor="t" lIns="0" rIns="0" tIns="0" bIns="0">
            <a:spAutoFit/>
          </a:bodyPr>
          <a:lstStyle/>
          <a:p>
            <a:pPr algn="l">
              <a:lnSpc>
                <a:spcPct val="110000"/>
              </a:lnSpc>
              <a:spcBef>
                <a:spcPts val="0"/>
              </a:spcBef>
              <a:spcAft>
                <a:spcPts val="0"/>
              </a:spcAft>
            </a:pPr>
            <a:r>
              <a:rPr sz="1000" b="0" i="0">
                <a:solidFill>
                  <a:srgbClr val="9699CC"/>
                </a:solidFill>
                <a:latin typeface="Segoe UI"/>
              </a:rPr>
              <a:t>Themes &amp; palettes, dashboards, keyboard navigation, high contrast.</a:t>
            </a:r>
          </a:p>
        </p:txBody>
      </p:sp>
      <p:sp>
        <p:nvSpPr>
          <p:cNvPr id="22" name="Rounded Rectangle 21"/>
          <p:cNvSpPr/>
          <p:nvPr/>
        </p:nvSpPr>
        <p:spPr>
          <a:xfrm>
            <a:off x="3904488" y="3090672"/>
            <a:ext cx="3255264" cy="1152144"/>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069080" y="3246120"/>
            <a:ext cx="310896" cy="54864"/>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1416" y="3182112"/>
            <a:ext cx="2542032" cy="274320"/>
          </a:xfrm>
          <a:prstGeom prst="rect">
            <a:avLst/>
          </a:prstGeom>
          <a:noFill/>
        </p:spPr>
        <p:txBody>
          <a:bodyPr wrap="square" anchor="t" lIns="0" rIns="0" tIns="0" bIns="0">
            <a:spAutoFit/>
          </a:bodyPr>
          <a:lstStyle/>
          <a:p>
            <a:pPr algn="l">
              <a:spcBef>
                <a:spcPts val="0"/>
              </a:spcBef>
              <a:spcAft>
                <a:spcPts val="0"/>
              </a:spcAft>
            </a:pPr>
            <a:r>
              <a:rPr sz="1250" b="1" i="0">
                <a:solidFill>
                  <a:srgbClr val="FFFFFF"/>
                </a:solidFill>
                <a:latin typeface="Segoe UI"/>
              </a:rPr>
              <a:t>Security</a:t>
            </a:r>
          </a:p>
        </p:txBody>
      </p:sp>
      <p:sp>
        <p:nvSpPr>
          <p:cNvPr id="25" name="TextBox 24"/>
          <p:cNvSpPr txBox="1"/>
          <p:nvPr/>
        </p:nvSpPr>
        <p:spPr>
          <a:xfrm>
            <a:off x="4069080" y="3520439"/>
            <a:ext cx="2926080" cy="228600"/>
          </a:xfrm>
          <a:prstGeom prst="rect">
            <a:avLst/>
          </a:prstGeom>
          <a:noFill/>
        </p:spPr>
        <p:txBody>
          <a:bodyPr wrap="square" anchor="t" lIns="0" rIns="0" tIns="0" bIns="0">
            <a:spAutoFit/>
          </a:bodyPr>
          <a:lstStyle/>
          <a:p>
            <a:pPr algn="l">
              <a:spcBef>
                <a:spcPts val="0"/>
              </a:spcBef>
              <a:spcAft>
                <a:spcPts val="0"/>
              </a:spcAft>
            </a:pPr>
            <a:r>
              <a:rPr sz="900" b="1" i="0" spc="80">
                <a:solidFill>
                  <a:srgbClr val="22D3EE"/>
                </a:solidFill>
                <a:latin typeface="Segoe UI"/>
              </a:rPr>
              <a:t>Q04</a:t>
            </a:r>
          </a:p>
        </p:txBody>
      </p:sp>
      <p:sp>
        <p:nvSpPr>
          <p:cNvPr id="26" name="TextBox 25"/>
          <p:cNvSpPr txBox="1"/>
          <p:nvPr/>
        </p:nvSpPr>
        <p:spPr>
          <a:xfrm>
            <a:off x="4069080" y="3739896"/>
            <a:ext cx="2944368" cy="475488"/>
          </a:xfrm>
          <a:prstGeom prst="rect">
            <a:avLst/>
          </a:prstGeom>
          <a:noFill/>
        </p:spPr>
        <p:txBody>
          <a:bodyPr wrap="square" anchor="t" lIns="0" rIns="0" tIns="0" bIns="0">
            <a:spAutoFit/>
          </a:bodyPr>
          <a:lstStyle/>
          <a:p>
            <a:pPr algn="l">
              <a:lnSpc>
                <a:spcPct val="110000"/>
              </a:lnSpc>
              <a:spcBef>
                <a:spcPts val="0"/>
              </a:spcBef>
              <a:spcAft>
                <a:spcPts val="0"/>
              </a:spcAft>
            </a:pPr>
            <a:r>
              <a:rPr sz="1000" b="0" i="0">
                <a:solidFill>
                  <a:srgbClr val="9699CC"/>
                </a:solidFill>
                <a:latin typeface="Segoe UI"/>
              </a:rPr>
              <a:t>Role-based portals, hashed passwords &amp; OTPs, CSRF, rate limiting.</a:t>
            </a:r>
          </a:p>
        </p:txBody>
      </p:sp>
      <p:sp>
        <p:nvSpPr>
          <p:cNvPr id="27" name="Rounded Rectangle 26"/>
          <p:cNvSpPr/>
          <p:nvPr/>
        </p:nvSpPr>
        <p:spPr>
          <a:xfrm>
            <a:off x="521207" y="4370831"/>
            <a:ext cx="3255264" cy="1152144"/>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85800" y="4526279"/>
            <a:ext cx="310896" cy="54864"/>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88136" y="4462271"/>
            <a:ext cx="2542032" cy="274320"/>
          </a:xfrm>
          <a:prstGeom prst="rect">
            <a:avLst/>
          </a:prstGeom>
          <a:noFill/>
        </p:spPr>
        <p:txBody>
          <a:bodyPr wrap="square" anchor="t" lIns="0" rIns="0" tIns="0" bIns="0">
            <a:spAutoFit/>
          </a:bodyPr>
          <a:lstStyle/>
          <a:p>
            <a:pPr algn="l">
              <a:spcBef>
                <a:spcPts val="0"/>
              </a:spcBef>
              <a:spcAft>
                <a:spcPts val="0"/>
              </a:spcAft>
            </a:pPr>
            <a:r>
              <a:rPr sz="1250" b="1" i="0">
                <a:solidFill>
                  <a:srgbClr val="FFFFFF"/>
                </a:solidFill>
                <a:latin typeface="Segoe UI"/>
              </a:rPr>
              <a:t>Reporting &amp; Insight</a:t>
            </a:r>
          </a:p>
        </p:txBody>
      </p:sp>
      <p:sp>
        <p:nvSpPr>
          <p:cNvPr id="30" name="TextBox 29"/>
          <p:cNvSpPr txBox="1"/>
          <p:nvPr/>
        </p:nvSpPr>
        <p:spPr>
          <a:xfrm>
            <a:off x="685800" y="4800599"/>
            <a:ext cx="2926080" cy="228600"/>
          </a:xfrm>
          <a:prstGeom prst="rect">
            <a:avLst/>
          </a:prstGeom>
          <a:noFill/>
        </p:spPr>
        <p:txBody>
          <a:bodyPr wrap="square" anchor="t" lIns="0" rIns="0" tIns="0" bIns="0">
            <a:spAutoFit/>
          </a:bodyPr>
          <a:lstStyle/>
          <a:p>
            <a:pPr algn="l">
              <a:spcBef>
                <a:spcPts val="0"/>
              </a:spcBef>
              <a:spcAft>
                <a:spcPts val="0"/>
              </a:spcAft>
            </a:pPr>
            <a:r>
              <a:rPr sz="900" b="1" i="0" spc="80">
                <a:solidFill>
                  <a:srgbClr val="22D3EE"/>
                </a:solidFill>
                <a:latin typeface="Segoe UI"/>
              </a:rPr>
              <a:t>Q15 · Q20</a:t>
            </a:r>
          </a:p>
        </p:txBody>
      </p:sp>
      <p:sp>
        <p:nvSpPr>
          <p:cNvPr id="31" name="TextBox 30"/>
          <p:cNvSpPr txBox="1"/>
          <p:nvPr/>
        </p:nvSpPr>
        <p:spPr>
          <a:xfrm>
            <a:off x="685800" y="5020055"/>
            <a:ext cx="2944368" cy="475488"/>
          </a:xfrm>
          <a:prstGeom prst="rect">
            <a:avLst/>
          </a:prstGeom>
          <a:noFill/>
        </p:spPr>
        <p:txBody>
          <a:bodyPr wrap="square" anchor="t" lIns="0" rIns="0" tIns="0" bIns="0">
            <a:spAutoFit/>
          </a:bodyPr>
          <a:lstStyle/>
          <a:p>
            <a:pPr algn="l">
              <a:lnSpc>
                <a:spcPct val="110000"/>
              </a:lnSpc>
              <a:spcBef>
                <a:spcPts val="0"/>
              </a:spcBef>
              <a:spcAft>
                <a:spcPts val="0"/>
              </a:spcAft>
            </a:pPr>
            <a:r>
              <a:rPr sz="1000" b="0" i="0">
                <a:solidFill>
                  <a:srgbClr val="9699CC"/>
                </a:solidFill>
                <a:latin typeface="Segoe UI"/>
              </a:rPr>
              <a:t>PDF / Excel / CSV exports, charts, date-range &amp; printable reports.</a:t>
            </a:r>
          </a:p>
        </p:txBody>
      </p:sp>
      <p:sp>
        <p:nvSpPr>
          <p:cNvPr id="32" name="Rounded Rectangle 31"/>
          <p:cNvSpPr/>
          <p:nvPr/>
        </p:nvSpPr>
        <p:spPr>
          <a:xfrm>
            <a:off x="3904488" y="4370831"/>
            <a:ext cx="3255264" cy="1152144"/>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069080" y="4526279"/>
            <a:ext cx="310896" cy="54864"/>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71416" y="4462271"/>
            <a:ext cx="2542032" cy="274320"/>
          </a:xfrm>
          <a:prstGeom prst="rect">
            <a:avLst/>
          </a:prstGeom>
          <a:noFill/>
        </p:spPr>
        <p:txBody>
          <a:bodyPr wrap="square" anchor="t" lIns="0" rIns="0" tIns="0" bIns="0">
            <a:spAutoFit/>
          </a:bodyPr>
          <a:lstStyle/>
          <a:p>
            <a:pPr algn="l">
              <a:spcBef>
                <a:spcPts val="0"/>
              </a:spcBef>
              <a:spcAft>
                <a:spcPts val="0"/>
              </a:spcAft>
            </a:pPr>
            <a:r>
              <a:rPr sz="1250" b="1" i="0">
                <a:solidFill>
                  <a:srgbClr val="FFFFFF"/>
                </a:solidFill>
                <a:latin typeface="Segoe UI"/>
              </a:rPr>
              <a:t>Continuous Improvement</a:t>
            </a:r>
          </a:p>
        </p:txBody>
      </p:sp>
      <p:sp>
        <p:nvSpPr>
          <p:cNvPr id="35" name="TextBox 34"/>
          <p:cNvSpPr txBox="1"/>
          <p:nvPr/>
        </p:nvSpPr>
        <p:spPr>
          <a:xfrm>
            <a:off x="4069080" y="4800599"/>
            <a:ext cx="2926080" cy="228600"/>
          </a:xfrm>
          <a:prstGeom prst="rect">
            <a:avLst/>
          </a:prstGeom>
          <a:noFill/>
        </p:spPr>
        <p:txBody>
          <a:bodyPr wrap="square" anchor="t" lIns="0" rIns="0" tIns="0" bIns="0">
            <a:spAutoFit/>
          </a:bodyPr>
          <a:lstStyle/>
          <a:p>
            <a:pPr algn="l">
              <a:spcBef>
                <a:spcPts val="0"/>
              </a:spcBef>
              <a:spcAft>
                <a:spcPts val="0"/>
              </a:spcAft>
            </a:pPr>
            <a:r>
              <a:rPr sz="900" b="1" i="0" spc="80">
                <a:solidFill>
                  <a:srgbClr val="22D3EE"/>
                </a:solidFill>
                <a:latin typeface="Segoe UI"/>
              </a:rPr>
              <a:t>Q09 · Q10 · Q11 · Q16 · Q18 · Q19</a:t>
            </a:r>
          </a:p>
        </p:txBody>
      </p:sp>
      <p:sp>
        <p:nvSpPr>
          <p:cNvPr id="36" name="TextBox 35"/>
          <p:cNvSpPr txBox="1"/>
          <p:nvPr/>
        </p:nvSpPr>
        <p:spPr>
          <a:xfrm>
            <a:off x="4069080" y="5020055"/>
            <a:ext cx="2944368" cy="475488"/>
          </a:xfrm>
          <a:prstGeom prst="rect">
            <a:avLst/>
          </a:prstGeom>
          <a:noFill/>
        </p:spPr>
        <p:txBody>
          <a:bodyPr wrap="square" anchor="t" lIns="0" rIns="0" tIns="0" bIns="0">
            <a:spAutoFit/>
          </a:bodyPr>
          <a:lstStyle/>
          <a:p>
            <a:pPr algn="l">
              <a:lnSpc>
                <a:spcPct val="110000"/>
              </a:lnSpc>
              <a:spcBef>
                <a:spcPts val="0"/>
              </a:spcBef>
              <a:spcAft>
                <a:spcPts val="0"/>
              </a:spcAft>
            </a:pPr>
            <a:r>
              <a:rPr sz="1000" b="0" i="0">
                <a:solidFill>
                  <a:srgbClr val="9699CC"/>
                </a:solidFill>
                <a:latin typeface="Segoe UI"/>
              </a:rPr>
              <a:t>Defect log, PDCA tracker, automated tests, docs &amp; version log.</a:t>
            </a:r>
          </a:p>
        </p:txBody>
      </p:sp>
      <p:sp>
        <p:nvSpPr>
          <p:cNvPr id="37" name="Rounded Rectangle 36"/>
          <p:cNvSpPr/>
          <p:nvPr/>
        </p:nvSpPr>
        <p:spPr>
          <a:xfrm>
            <a:off x="7333488" y="1810512"/>
            <a:ext cx="4334256" cy="3712463"/>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71231" y="1975104"/>
            <a:ext cx="3877056" cy="320040"/>
          </a:xfrm>
          <a:prstGeom prst="rect">
            <a:avLst/>
          </a:prstGeom>
          <a:noFill/>
        </p:spPr>
        <p:txBody>
          <a:bodyPr wrap="square" anchor="t" lIns="0" rIns="0" tIns="0" bIns="0">
            <a:spAutoFit/>
          </a:bodyPr>
          <a:lstStyle/>
          <a:p>
            <a:pPr algn="l">
              <a:spcBef>
                <a:spcPts val="0"/>
              </a:spcBef>
              <a:spcAft>
                <a:spcPts val="0"/>
              </a:spcAft>
            </a:pPr>
            <a:r>
              <a:rPr sz="1200" b="1" i="0" spc="160">
                <a:solidFill>
                  <a:srgbClr val="FFFFFF"/>
                </a:solidFill>
                <a:latin typeface="Segoe UI"/>
              </a:rPr>
              <a:t>SRS SNAPSHOT</a:t>
            </a:r>
            <a:r>
              <a:rPr sz="1050" b="0" i="0">
                <a:solidFill>
                  <a:srgbClr val="9699CC"/>
                </a:solidFill>
                <a:latin typeface="Segoe UI"/>
              </a:rPr>
              <a:t>   what the system must do</a:t>
            </a:r>
          </a:p>
        </p:txBody>
      </p:sp>
      <p:sp>
        <p:nvSpPr>
          <p:cNvPr id="39" name="TextBox 38"/>
          <p:cNvSpPr txBox="1"/>
          <p:nvPr/>
        </p:nvSpPr>
        <p:spPr>
          <a:xfrm>
            <a:off x="7571231" y="2340864"/>
            <a:ext cx="3877056" cy="274320"/>
          </a:xfrm>
          <a:prstGeom prst="rect">
            <a:avLst/>
          </a:prstGeom>
          <a:noFill/>
        </p:spPr>
        <p:txBody>
          <a:bodyPr wrap="square" anchor="t" lIns="0" rIns="0" tIns="0" bIns="0">
            <a:spAutoFit/>
          </a:bodyPr>
          <a:lstStyle/>
          <a:p>
            <a:pPr algn="l">
              <a:spcBef>
                <a:spcPts val="0"/>
              </a:spcBef>
              <a:spcAft>
                <a:spcPts val="0"/>
              </a:spcAft>
            </a:pPr>
            <a:r>
              <a:rPr sz="1000" b="1" i="0" spc="180">
                <a:solidFill>
                  <a:srgbClr val="22D3EE"/>
                </a:solidFill>
                <a:latin typeface="Segoe UI"/>
              </a:rPr>
              <a:t>FUNCTIONAL</a:t>
            </a:r>
          </a:p>
        </p:txBody>
      </p:sp>
      <p:sp>
        <p:nvSpPr>
          <p:cNvPr id="40" name="TextBox 39"/>
          <p:cNvSpPr txBox="1"/>
          <p:nvPr/>
        </p:nvSpPr>
        <p:spPr>
          <a:xfrm>
            <a:off x="7571231" y="2596896"/>
            <a:ext cx="3895344" cy="1600200"/>
          </a:xfrm>
          <a:prstGeom prst="rect">
            <a:avLst/>
          </a:prstGeom>
          <a:noFill/>
        </p:spPr>
        <p:txBody>
          <a:bodyPr wrap="square" anchor="t" lIns="0" rIns="0" tIns="0" bIns="0">
            <a:spAutoFit/>
          </a:bodyPr>
          <a:lstStyle/>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Secure registration, login &amp; role-based access</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Quiz &amp; question-bank management (CRUD + import)</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Timed attempts with server-side auto-grading</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Results, history, analytics &amp; report exports</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TQM tools, defect log &amp; PDCA tracking</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Notifications, feedback &amp; announcements</a:t>
            </a:r>
          </a:p>
        </p:txBody>
      </p:sp>
      <p:sp>
        <p:nvSpPr>
          <p:cNvPr id="41" name="TextBox 40"/>
          <p:cNvSpPr txBox="1"/>
          <p:nvPr/>
        </p:nvSpPr>
        <p:spPr>
          <a:xfrm>
            <a:off x="7571231" y="4224528"/>
            <a:ext cx="3877056" cy="274320"/>
          </a:xfrm>
          <a:prstGeom prst="rect">
            <a:avLst/>
          </a:prstGeom>
          <a:noFill/>
        </p:spPr>
        <p:txBody>
          <a:bodyPr wrap="square" anchor="t" lIns="0" rIns="0" tIns="0" bIns="0">
            <a:spAutoFit/>
          </a:bodyPr>
          <a:lstStyle/>
          <a:p>
            <a:pPr algn="l">
              <a:spcBef>
                <a:spcPts val="0"/>
              </a:spcBef>
              <a:spcAft>
                <a:spcPts val="0"/>
              </a:spcAft>
            </a:pPr>
            <a:r>
              <a:rPr sz="1000" b="1" i="0" spc="180">
                <a:solidFill>
                  <a:srgbClr val="22D3EE"/>
                </a:solidFill>
                <a:latin typeface="Segoe UI"/>
              </a:rPr>
              <a:t>NON-FUNCTIONAL</a:t>
            </a:r>
          </a:p>
        </p:txBody>
      </p:sp>
      <p:sp>
        <p:nvSpPr>
          <p:cNvPr id="42" name="TextBox 41"/>
          <p:cNvSpPr txBox="1"/>
          <p:nvPr/>
        </p:nvSpPr>
        <p:spPr>
          <a:xfrm>
            <a:off x="7571231" y="4480560"/>
            <a:ext cx="3895344" cy="960120"/>
          </a:xfrm>
          <a:prstGeom prst="rect">
            <a:avLst/>
          </a:prstGeom>
          <a:noFill/>
        </p:spPr>
        <p:txBody>
          <a:bodyPr wrap="square" anchor="t" lIns="0" rIns="0" tIns="0" bIns="0">
            <a:spAutoFit/>
          </a:bodyPr>
          <a:lstStyle/>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Responsive — mobile, tablet &amp; desktop</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Fast — indexed queries, caching, pagination</a:t>
            </a:r>
          </a:p>
          <a:p>
            <a:pPr algn="l" marL="173736" indent="-173736">
              <a:lnSpc>
                <a:spcPct val="112000"/>
              </a:lnSpc>
              <a:spcBef>
                <a:spcPts val="0"/>
              </a:spcBef>
              <a:spcAft>
                <a:spcPts val="550"/>
              </a:spcAft>
            </a:pPr>
            <a:r>
              <a:rPr sz="669" b="1" i="0">
                <a:solidFill>
                  <a:srgbClr val="22D3EE"/>
                </a:solidFill>
                <a:latin typeface="Segoe UI"/>
              </a:rPr>
              <a:t>●  </a:t>
            </a:r>
            <a:r>
              <a:rPr sz="1080" b="0" i="0">
                <a:solidFill>
                  <a:srgbClr val="CDD1F2"/>
                </a:solidFill>
                <a:latin typeface="Segoe UI"/>
              </a:rPr>
              <a:t>Safe — hashing, validation, backups, recovery</a:t>
            </a:r>
          </a:p>
        </p:txBody>
      </p:sp>
      <p:sp>
        <p:nvSpPr>
          <p:cNvPr id="43" name="Rounded Rectangle 42"/>
          <p:cNvSpPr/>
          <p:nvPr/>
        </p:nvSpPr>
        <p:spPr>
          <a:xfrm>
            <a:off x="521207" y="5687568"/>
            <a:ext cx="11149279" cy="530352"/>
          </a:xfrm>
          <a:prstGeom prst="roundRect">
            <a:avLst>
              <a:gd name="adj" fmla="val 18000"/>
            </a:avLst>
          </a:prstGeom>
          <a:solidFill>
            <a:srgbClr val="14143A"/>
          </a:solidFill>
          <a:ln w="12700">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7" y="5687568"/>
            <a:ext cx="11149279" cy="530352"/>
          </a:xfrm>
          <a:prstGeom prst="rect">
            <a:avLst/>
          </a:prstGeom>
          <a:noFill/>
        </p:spPr>
        <p:txBody>
          <a:bodyPr wrap="square" anchor="ctr" lIns="0" rIns="0" tIns="0" bIns="0">
            <a:spAutoFit/>
          </a:bodyPr>
          <a:lstStyle/>
          <a:p>
            <a:pPr algn="ctr">
              <a:spcBef>
                <a:spcPts val="0"/>
              </a:spcBef>
              <a:spcAft>
                <a:spcPts val="0"/>
              </a:spcAft>
            </a:pPr>
            <a:r>
              <a:rPr sz="1150" b="1" i="0">
                <a:solidFill>
                  <a:srgbClr val="FFFFFF"/>
                </a:solidFill>
                <a:latin typeface="Segoe UI"/>
              </a:rPr>
              <a:t>Full traceability:  </a:t>
            </a:r>
            <a:r>
              <a:rPr sz="1150" b="0" i="0">
                <a:solidFill>
                  <a:srgbClr val="CDD1F2"/>
                </a:solidFill>
                <a:latin typeface="Segoe UI"/>
              </a:rPr>
              <a:t>each Q-goal is mapped to its feature in code and reported live in the TQM centre.</a:t>
            </a:r>
          </a:p>
        </p:txBody>
      </p:sp>
      <p:sp>
        <p:nvSpPr>
          <p:cNvPr id="45" name="TextBox 44"/>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46" name="TextBox 45"/>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03</a:t>
            </a:r>
            <a:r>
              <a:rPr sz="1000" b="0" i="0">
                <a:solidFill>
                  <a:srgbClr val="6F72AA"/>
                </a:solidFill>
                <a:latin typeface="Segoe UI"/>
              </a:rPr>
              <a:t> / 11</a:t>
            </a:r>
          </a:p>
        </p:txBody>
      </p:sp>
    </p:spTree>
  </p:cSld>
  <p:clrMapOvr>
    <a:masterClrMapping/>
  </p:clrMapOvr>
  <p:transition spd="med" advClick="1">
    <p:fade thruBlk="1"/>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18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270"/>
                                  </p:stCondLst>
                                  <p:childTnLst>
                                    <p:set>
                                      <p:cBhvr>
                                        <p:cTn id="124" dur="1" fill="hold">
                                          <p:stCondLst>
                                            <p:cond delay="0"/>
                                          </p:stCondLst>
                                          <p:attrNameLst>
                                            <p:attrName>style.visibility</p:attrName>
                                          </p:attrNameLst>
                                        </p:cTn>
                                        <p:tgtEl>
                                          <p:spTgt spid="12"/>
                                        </p:tgtEl>
                                      </p:cBhvr>
                                      <p:to>
                                        <p:strVal val="visible"/>
                                      </p:to>
                                    </p:set>
                                    <p:animEffect transition="in" filter="fade">
                                      <p:cBhvr>
                                        <p:cTn id="125" dur="550"/>
                                        <p:tgtEl>
                                          <p:spTgt spid="12"/>
                                        </p:tgtEl>
                                      </p:cBhvr>
                                    </p:animEffect>
                                  </p:childTnLst>
                                </p:cTn>
                              </p:par>
                            </p:childTnLst>
                          </p:cTn>
                        </p:par>
                        <p:par>
                          <p:cTn id="126" fill="hold">
                            <p:stCondLst>
                              <p:cond delay="0"/>
                            </p:stCondLst>
                            <p:childTnLst>
                              <p:par>
                                <p:cTn id="127" presetID="10" presetClass="entr" presetSubtype="0" fill="hold" grpId="0" nodeType="withEffect">
                                  <p:stCondLst>
                                    <p:cond delay="360"/>
                                  </p:stCondLst>
                                  <p:childTnLst>
                                    <p:set>
                                      <p:cBhvr>
                                        <p:cTn id="128" dur="1" fill="hold">
                                          <p:stCondLst>
                                            <p:cond delay="0"/>
                                          </p:stCondLst>
                                          <p:attrNameLst>
                                            <p:attrName>style.visibility</p:attrName>
                                          </p:attrNameLst>
                                        </p:cTn>
                                        <p:tgtEl>
                                          <p:spTgt spid="17"/>
                                        </p:tgtEl>
                                      </p:cBhvr>
                                      <p:to>
                                        <p:strVal val="visible"/>
                                      </p:to>
                                    </p:set>
                                    <p:animEffect transition="in" filter="fade">
                                      <p:cBhvr>
                                        <p:cTn id="129" dur="550"/>
                                        <p:tgtEl>
                                          <p:spTgt spid="17"/>
                                        </p:tgtEl>
                                      </p:cBhvr>
                                    </p:animEffect>
                                  </p:childTnLst>
                                </p:cTn>
                              </p:par>
                            </p:childTnLst>
                          </p:cTn>
                        </p:par>
                        <p:par>
                          <p:cTn id="130" fill="hold">
                            <p:stCondLst>
                              <p:cond delay="0"/>
                            </p:stCondLst>
                            <p:childTnLst>
                              <p:par>
                                <p:cTn id="131" presetID="10" presetClass="entr" presetSubtype="0" fill="hold" grpId="0" nodeType="withEffect">
                                  <p:stCondLst>
                                    <p:cond delay="450"/>
                                  </p:stCondLst>
                                  <p:childTnLst>
                                    <p:set>
                                      <p:cBhvr>
                                        <p:cTn id="132" dur="1" fill="hold">
                                          <p:stCondLst>
                                            <p:cond delay="0"/>
                                          </p:stCondLst>
                                          <p:attrNameLst>
                                            <p:attrName>style.visibility</p:attrName>
                                          </p:attrNameLst>
                                        </p:cTn>
                                        <p:tgtEl>
                                          <p:spTgt spid="22"/>
                                        </p:tgtEl>
                                      </p:cBhvr>
                                      <p:to>
                                        <p:strVal val="visible"/>
                                      </p:to>
                                    </p:set>
                                    <p:animEffect transition="in" filter="fade">
                                      <p:cBhvr>
                                        <p:cTn id="133" dur="550"/>
                                        <p:tgtEl>
                                          <p:spTgt spid="22"/>
                                        </p:tgtEl>
                                      </p:cBhvr>
                                    </p:animEffect>
                                  </p:childTnLst>
                                </p:cTn>
                              </p:par>
                            </p:childTnLst>
                          </p:cTn>
                        </p:par>
                        <p:par>
                          <p:cTn id="134" fill="hold">
                            <p:stCondLst>
                              <p:cond delay="0"/>
                            </p:stCondLst>
                            <p:childTnLst>
                              <p:par>
                                <p:cTn id="135" presetID="10" presetClass="entr" presetSubtype="0" fill="hold" grpId="0" nodeType="withEffect">
                                  <p:stCondLst>
                                    <p:cond delay="540"/>
                                  </p:stCondLst>
                                  <p:childTnLst>
                                    <p:set>
                                      <p:cBhvr>
                                        <p:cTn id="136" dur="1" fill="hold">
                                          <p:stCondLst>
                                            <p:cond delay="0"/>
                                          </p:stCondLst>
                                          <p:attrNameLst>
                                            <p:attrName>style.visibility</p:attrName>
                                          </p:attrNameLst>
                                        </p:cTn>
                                        <p:tgtEl>
                                          <p:spTgt spid="27"/>
                                        </p:tgtEl>
                                      </p:cBhvr>
                                      <p:to>
                                        <p:strVal val="visible"/>
                                      </p:to>
                                    </p:set>
                                    <p:animEffect transition="in" filter="fade">
                                      <p:cBhvr>
                                        <p:cTn id="137" dur="550"/>
                                        <p:tgtEl>
                                          <p:spTgt spid="27"/>
                                        </p:tgtEl>
                                      </p:cBhvr>
                                    </p:animEffect>
                                  </p:childTnLst>
                                </p:cTn>
                              </p:par>
                            </p:childTnLst>
                          </p:cTn>
                        </p:par>
                        <p:par>
                          <p:cTn id="138" fill="hold">
                            <p:stCondLst>
                              <p:cond delay="0"/>
                            </p:stCondLst>
                            <p:childTnLst>
                              <p:par>
                                <p:cTn id="139" presetID="10" presetClass="entr" presetSubtype="0" fill="hold" grpId="0" nodeType="withEffect">
                                  <p:stCondLst>
                                    <p:cond delay="630"/>
                                  </p:stCondLst>
                                  <p:childTnLst>
                                    <p:set>
                                      <p:cBhvr>
                                        <p:cTn id="140" dur="1" fill="hold">
                                          <p:stCondLst>
                                            <p:cond delay="0"/>
                                          </p:stCondLst>
                                          <p:attrNameLst>
                                            <p:attrName>style.visibility</p:attrName>
                                          </p:attrNameLst>
                                        </p:cTn>
                                        <p:tgtEl>
                                          <p:spTgt spid="32"/>
                                        </p:tgtEl>
                                      </p:cBhvr>
                                      <p:to>
                                        <p:strVal val="visible"/>
                                      </p:to>
                                    </p:set>
                                    <p:animEffect transition="in" filter="fade">
                                      <p:cBhvr>
                                        <p:cTn id="141" dur="550"/>
                                        <p:tgtEl>
                                          <p:spTgt spid="32"/>
                                        </p:tgtEl>
                                      </p:cBhvr>
                                    </p:animEffect>
                                  </p:childTnLst>
                                </p:cTn>
                              </p:par>
                            </p:childTnLst>
                          </p:cTn>
                        </p:par>
                        <p:par>
                          <p:cTn id="142" fill="hold">
                            <p:stCondLst>
                              <p:cond delay="0"/>
                            </p:stCondLst>
                            <p:childTnLst>
                              <p:par>
                                <p:cTn id="143" presetID="10" presetClass="entr" presetSubtype="0" fill="hold" grpId="0" nodeType="withEffect">
                                  <p:stCondLst>
                                    <p:cond delay="320"/>
                                  </p:stCondLst>
                                  <p:childTnLst>
                                    <p:set>
                                      <p:cBhvr>
                                        <p:cTn id="144" dur="1" fill="hold">
                                          <p:stCondLst>
                                            <p:cond delay="0"/>
                                          </p:stCondLst>
                                          <p:attrNameLst>
                                            <p:attrName>style.visibility</p:attrName>
                                          </p:attrNameLst>
                                        </p:cTn>
                                        <p:tgtEl>
                                          <p:spTgt spid="37"/>
                                        </p:tgtEl>
                                      </p:cBhvr>
                                      <p:to>
                                        <p:strVal val="visible"/>
                                      </p:to>
                                    </p:set>
                                    <p:animEffect transition="in" filter="fade">
                                      <p:cBhvr>
                                        <p:cTn id="145" dur="550"/>
                                        <p:tgtEl>
                                          <p:spTgt spid="37"/>
                                        </p:tgtEl>
                                      </p:cBhvr>
                                    </p:animEffect>
                                  </p:childTnLst>
                                </p:cTn>
                              </p:par>
                            </p:childTnLst>
                          </p:cTn>
                        </p:par>
                        <p:par>
                          <p:cTn id="146" fill="hold">
                            <p:stCondLst>
                              <p:cond delay="0"/>
                            </p:stCondLst>
                            <p:childTnLst>
                              <p:par>
                                <p:cTn id="147" presetID="10" presetClass="entr" presetSubtype="0" fill="hold" grpId="0" nodeType="withEffect">
                                  <p:stCondLst>
                                    <p:cond delay="440"/>
                                  </p:stCondLst>
                                  <p:childTnLst>
                                    <p:set>
                                      <p:cBhvr>
                                        <p:cTn id="148" dur="1" fill="hold">
                                          <p:stCondLst>
                                            <p:cond delay="0"/>
                                          </p:stCondLst>
                                          <p:attrNameLst>
                                            <p:attrName>style.visibility</p:attrName>
                                          </p:attrNameLst>
                                        </p:cTn>
                                        <p:tgtEl>
                                          <p:spTgt spid="40"/>
                                        </p:tgtEl>
                                      </p:cBhvr>
                                      <p:to>
                                        <p:strVal val="visible"/>
                                      </p:to>
                                    </p:set>
                                    <p:animEffect transition="in" filter="fade">
                                      <p:cBhvr>
                                        <p:cTn id="149" dur="550"/>
                                        <p:tgtEl>
                                          <p:spTgt spid="40"/>
                                        </p:tgtEl>
                                      </p:cBhvr>
                                    </p:animEffect>
                                  </p:childTnLst>
                                </p:cTn>
                              </p:par>
                            </p:childTnLst>
                          </p:cTn>
                        </p:par>
                        <p:par>
                          <p:cTn id="150" fill="hold">
                            <p:stCondLst>
                              <p:cond delay="0"/>
                            </p:stCondLst>
                            <p:childTnLst>
                              <p:par>
                                <p:cTn id="151" presetID="10" presetClass="entr" presetSubtype="0" fill="hold" grpId="0" nodeType="withEffect">
                                  <p:stCondLst>
                                    <p:cond delay="440"/>
                                  </p:stCondLst>
                                  <p:childTnLst>
                                    <p:set>
                                      <p:cBhvr>
                                        <p:cTn id="152" dur="1" fill="hold">
                                          <p:stCondLst>
                                            <p:cond delay="0"/>
                                          </p:stCondLst>
                                          <p:attrNameLst>
                                            <p:attrName>style.visibility</p:attrName>
                                          </p:attrNameLst>
                                        </p:cTn>
                                        <p:tgtEl>
                                          <p:spTgt spid="42"/>
                                        </p:tgtEl>
                                      </p:cBhvr>
                                      <p:to>
                                        <p:strVal val="visible"/>
                                      </p:to>
                                    </p:set>
                                    <p:animEffect transition="in" filter="fade">
                                      <p:cBhvr>
                                        <p:cTn id="153" dur="550"/>
                                        <p:tgtEl>
                                          <p:spTgt spid="42"/>
                                        </p:tgtEl>
                                      </p:cBhvr>
                                    </p:animEffect>
                                  </p:childTnLst>
                                </p:cTn>
                              </p:par>
                            </p:childTnLst>
                          </p:cTn>
                        </p:par>
                        <p:par>
                          <p:cTn id="154" fill="hold">
                            <p:stCondLst>
                              <p:cond delay="0"/>
                            </p:stCondLst>
                            <p:childTnLst>
                              <p:par>
                                <p:cTn id="155" presetID="10" presetClass="entr" presetSubtype="0" fill="hold" grpId="0" nodeType="withEffect">
                                  <p:stCondLst>
                                    <p:cond delay="760"/>
                                  </p:stCondLst>
                                  <p:childTnLst>
                                    <p:set>
                                      <p:cBhvr>
                                        <p:cTn id="156" dur="1" fill="hold">
                                          <p:stCondLst>
                                            <p:cond delay="0"/>
                                          </p:stCondLst>
                                          <p:attrNameLst>
                                            <p:attrName>style.visibility</p:attrName>
                                          </p:attrNameLst>
                                        </p:cTn>
                                        <p:tgtEl>
                                          <p:spTgt spid="43"/>
                                        </p:tgtEl>
                                      </p:cBhvr>
                                      <p:to>
                                        <p:strVal val="visible"/>
                                      </p:to>
                                    </p:set>
                                    <p:animEffect transition="in" filter="fade">
                                      <p:cBhvr>
                                        <p:cTn id="157" dur="550"/>
                                        <p:tgtEl>
                                          <p:spTgt spid="43"/>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SCOPE &amp; USER ROLES</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Two portals, </a:t>
            </a:r>
            <a:r>
              <a:rPr sz="2700" b="1" i="0">
                <a:gradFill rotWithShape="1">
                  <a:gsLst>
                    <a:gs pos="0">
                      <a:srgbClr val="6366F1"/>
                    </a:gs>
                    <a:gs pos="55000">
                      <a:srgbClr val="8B5CF6"/>
                    </a:gs>
                    <a:gs pos="100000">
                      <a:srgbClr val="06B6D4"/>
                    </a:gs>
                  </a:gsLst>
                  <a:lin ang="0" scaled="1"/>
                </a:gradFill>
                <a:latin typeface="Segoe UI"/>
              </a:rPr>
              <a:t>one platform</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Built for institutes, coaching centres &amp; self-learners — separate experiences for learning and managing.</a:t>
            </a:r>
          </a:p>
        </p:txBody>
      </p:sp>
      <p:sp>
        <p:nvSpPr>
          <p:cNvPr id="7" name="Rounded Rectangle 6"/>
          <p:cNvSpPr/>
          <p:nvPr/>
        </p:nvSpPr>
        <p:spPr>
          <a:xfrm>
            <a:off x="521207" y="1792224"/>
            <a:ext cx="5321808" cy="422452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ash_banner.jpg"/>
          <p:cNvPicPr>
            <a:picLocks noChangeAspect="1"/>
          </p:cNvPicPr>
          <p:nvPr/>
        </p:nvPicPr>
        <p:blipFill>
          <a:blip r:embed="rId3"/>
          <a:stretch>
            <a:fillRect/>
          </a:stretch>
        </p:blipFill>
        <p:spPr>
          <a:xfrm>
            <a:off x="667512" y="1938528"/>
            <a:ext cx="5029200" cy="2140085"/>
          </a:xfrm>
          <a:prstGeom prst="roundRect">
            <a:avLst>
              <a:gd name="adj" fmla="val 3200"/>
            </a:avLst>
          </a:prstGeom>
        </p:spPr>
      </p:pic>
      <p:sp>
        <p:nvSpPr>
          <p:cNvPr id="9" name="TextBox 8"/>
          <p:cNvSpPr txBox="1"/>
          <p:nvPr/>
        </p:nvSpPr>
        <p:spPr>
          <a:xfrm>
            <a:off x="758952" y="4206240"/>
            <a:ext cx="3566160" cy="365760"/>
          </a:xfrm>
          <a:prstGeom prst="rect">
            <a:avLst/>
          </a:prstGeom>
          <a:noFill/>
        </p:spPr>
        <p:txBody>
          <a:bodyPr wrap="square" anchor="t" lIns="0" rIns="0" tIns="0" bIns="0">
            <a:spAutoFit/>
          </a:bodyPr>
          <a:lstStyle/>
          <a:p>
            <a:pPr algn="l">
              <a:spcBef>
                <a:spcPts val="0"/>
              </a:spcBef>
              <a:spcAft>
                <a:spcPts val="0"/>
              </a:spcAft>
            </a:pPr>
            <a:r>
              <a:rPr sz="1600" b="1" i="0">
                <a:solidFill>
                  <a:srgbClr val="FFFFFF"/>
                </a:solidFill>
                <a:latin typeface="Segoe UI"/>
              </a:rPr>
              <a:t>Student Portal</a:t>
            </a:r>
          </a:p>
        </p:txBody>
      </p:sp>
      <p:sp>
        <p:nvSpPr>
          <p:cNvPr id="10" name="Rounded Rectangle 9"/>
          <p:cNvSpPr/>
          <p:nvPr/>
        </p:nvSpPr>
        <p:spPr>
          <a:xfrm>
            <a:off x="4745736" y="4224528"/>
            <a:ext cx="932688" cy="292608"/>
          </a:xfrm>
          <a:prstGeom prst="roundRect">
            <a:avLst>
              <a:gd name="adj" fmla="val 50000"/>
            </a:avLst>
          </a:prstGeom>
          <a:solidFill>
            <a:srgbClr val="20204E"/>
          </a:solidFill>
          <a:ln w="9525">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00" b="1" i="0">
                <a:solidFill>
                  <a:srgbClr val="22D3EE"/>
                </a:solidFill>
                <a:latin typeface="Segoe UI"/>
              </a:rPr>
              <a:t>LEARN</a:t>
            </a:r>
          </a:p>
        </p:txBody>
      </p:sp>
      <p:sp>
        <p:nvSpPr>
          <p:cNvPr id="11" name="TextBox 10"/>
          <p:cNvSpPr txBox="1"/>
          <p:nvPr/>
        </p:nvSpPr>
        <p:spPr>
          <a:xfrm>
            <a:off x="758952" y="4626864"/>
            <a:ext cx="4892040" cy="1325880"/>
          </a:xfrm>
          <a:prstGeom prst="rect">
            <a:avLst/>
          </a:prstGeom>
          <a:noFill/>
        </p:spPr>
        <p:txBody>
          <a:bodyPr wrap="square" anchor="t" lIns="0" rIns="0" tIns="0" bIns="0">
            <a:spAutoFit/>
          </a:bodyPr>
          <a:lstStyle/>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OTP-verified sign-up &amp; secure login</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Explore by subject, difficulty &amp; search</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Timed attempts with autosave protection</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Instant results, streaks &amp; recommendations</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Themes, profile &amp; accessibility settings</a:t>
            </a:r>
          </a:p>
        </p:txBody>
      </p:sp>
      <p:sp>
        <p:nvSpPr>
          <p:cNvPr id="12" name="Rounded Rectangle 11"/>
          <p:cNvSpPr/>
          <p:nvPr/>
        </p:nvSpPr>
        <p:spPr>
          <a:xfrm>
            <a:off x="6345936" y="1792224"/>
            <a:ext cx="5321808" cy="422452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dmin_banner.jpg"/>
          <p:cNvPicPr>
            <a:picLocks noChangeAspect="1"/>
          </p:cNvPicPr>
          <p:nvPr/>
        </p:nvPicPr>
        <p:blipFill>
          <a:blip r:embed="rId4"/>
          <a:stretch>
            <a:fillRect/>
          </a:stretch>
        </p:blipFill>
        <p:spPr>
          <a:xfrm>
            <a:off x="6492240" y="1938528"/>
            <a:ext cx="5029200" cy="2140085"/>
          </a:xfrm>
          <a:prstGeom prst="roundRect">
            <a:avLst>
              <a:gd name="adj" fmla="val 3200"/>
            </a:avLst>
          </a:prstGeom>
        </p:spPr>
      </p:pic>
      <p:sp>
        <p:nvSpPr>
          <p:cNvPr id="14" name="TextBox 13"/>
          <p:cNvSpPr txBox="1"/>
          <p:nvPr/>
        </p:nvSpPr>
        <p:spPr>
          <a:xfrm>
            <a:off x="6583680" y="4206240"/>
            <a:ext cx="3566160" cy="365760"/>
          </a:xfrm>
          <a:prstGeom prst="rect">
            <a:avLst/>
          </a:prstGeom>
          <a:noFill/>
        </p:spPr>
        <p:txBody>
          <a:bodyPr wrap="square" anchor="t" lIns="0" rIns="0" tIns="0" bIns="0">
            <a:spAutoFit/>
          </a:bodyPr>
          <a:lstStyle/>
          <a:p>
            <a:pPr algn="l">
              <a:spcBef>
                <a:spcPts val="0"/>
              </a:spcBef>
              <a:spcAft>
                <a:spcPts val="0"/>
              </a:spcAft>
            </a:pPr>
            <a:r>
              <a:rPr sz="1600" b="1" i="0">
                <a:solidFill>
                  <a:srgbClr val="FFFFFF"/>
                </a:solidFill>
                <a:latin typeface="Segoe UI"/>
              </a:rPr>
              <a:t>Administrator Portal</a:t>
            </a:r>
          </a:p>
        </p:txBody>
      </p:sp>
      <p:sp>
        <p:nvSpPr>
          <p:cNvPr id="15" name="Rounded Rectangle 14"/>
          <p:cNvSpPr/>
          <p:nvPr/>
        </p:nvSpPr>
        <p:spPr>
          <a:xfrm>
            <a:off x="10570464" y="4224528"/>
            <a:ext cx="932688" cy="292608"/>
          </a:xfrm>
          <a:prstGeom prst="roundRect">
            <a:avLst>
              <a:gd name="adj" fmla="val 50000"/>
            </a:avLst>
          </a:prstGeom>
          <a:solidFill>
            <a:srgbClr val="20204E"/>
          </a:solidFill>
          <a:ln w="9525">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sz="900" b="1" i="0">
                <a:solidFill>
                  <a:srgbClr val="22D3EE"/>
                </a:solidFill>
                <a:latin typeface="Segoe UI"/>
              </a:rPr>
              <a:t>MANAGE</a:t>
            </a:r>
          </a:p>
        </p:txBody>
      </p:sp>
      <p:sp>
        <p:nvSpPr>
          <p:cNvPr id="16" name="TextBox 15"/>
          <p:cNvSpPr txBox="1"/>
          <p:nvPr/>
        </p:nvSpPr>
        <p:spPr>
          <a:xfrm>
            <a:off x="6583680" y="4626864"/>
            <a:ext cx="4892040" cy="1325880"/>
          </a:xfrm>
          <a:prstGeom prst="rect">
            <a:avLst/>
          </a:prstGeom>
          <a:noFill/>
        </p:spPr>
        <p:txBody>
          <a:bodyPr wrap="square" anchor="t" lIns="0" rIns="0" tIns="0" bIns="0">
            <a:spAutoFit/>
          </a:bodyPr>
          <a:lstStyle/>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User, role &amp; account-status management</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Quiz builder &amp; question bank (CSV import)</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Results, analytics, audit &amp; error logs</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Announcements, feedback &amp; support inbox</a:t>
            </a:r>
          </a:p>
          <a:p>
            <a:pPr algn="l" marL="173736" indent="-173736">
              <a:lnSpc>
                <a:spcPct val="112000"/>
              </a:lnSpc>
              <a:spcBef>
                <a:spcPts val="0"/>
              </a:spcBef>
              <a:spcAft>
                <a:spcPts val="450"/>
              </a:spcAft>
            </a:pPr>
            <a:r>
              <a:rPr sz="700" b="1" i="0">
                <a:solidFill>
                  <a:srgbClr val="22D3EE"/>
                </a:solidFill>
                <a:latin typeface="Segoe UI"/>
              </a:rPr>
              <a:t>●  </a:t>
            </a:r>
            <a:r>
              <a:rPr sz="1130" b="0" i="0">
                <a:solidFill>
                  <a:srgbClr val="CDD1F2"/>
                </a:solidFill>
                <a:latin typeface="Segoe UI"/>
              </a:rPr>
              <a:t>Backups, maintenance &amp; system settings</a:t>
            </a:r>
          </a:p>
        </p:txBody>
      </p:sp>
      <p:sp>
        <p:nvSpPr>
          <p:cNvPr id="17" name="TextBox 16"/>
          <p:cNvSpPr txBox="1"/>
          <p:nvPr/>
        </p:nvSpPr>
        <p:spPr>
          <a:xfrm>
            <a:off x="521207" y="6144768"/>
            <a:ext cx="11149279" cy="274320"/>
          </a:xfrm>
          <a:prstGeom prst="rect">
            <a:avLst/>
          </a:prstGeom>
          <a:noFill/>
        </p:spPr>
        <p:txBody>
          <a:bodyPr wrap="square" anchor="t" lIns="0" rIns="0" tIns="0" bIns="0">
            <a:spAutoFit/>
          </a:bodyPr>
          <a:lstStyle/>
          <a:p>
            <a:pPr algn="ctr">
              <a:spcBef>
                <a:spcPts val="0"/>
              </a:spcBef>
              <a:spcAft>
                <a:spcPts val="0"/>
              </a:spcAft>
            </a:pPr>
            <a:r>
              <a:rPr sz="1100" b="0" i="1">
                <a:solidFill>
                  <a:srgbClr val="9699CC"/>
                </a:solidFill>
                <a:latin typeface="Segoe UI"/>
              </a:rPr>
              <a:t>One shared database, strict role-based access — students never see admin tools, admins never break a student's flow.</a:t>
            </a:r>
          </a:p>
        </p:txBody>
      </p:sp>
      <p:sp>
        <p:nvSpPr>
          <p:cNvPr id="18" name="TextBox 17"/>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19" name="TextBox 18"/>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04</a:t>
            </a:r>
            <a:r>
              <a:rPr sz="1000" b="0" i="0">
                <a:solidFill>
                  <a:srgbClr val="6F72AA"/>
                </a:solidFill>
                <a:latin typeface="Segoe UI"/>
              </a:rPr>
              <a:t> / 11</a:t>
            </a:r>
          </a:p>
        </p:txBody>
      </p:sp>
    </p:spTree>
  </p:cSld>
  <p:clrMapOvr>
    <a:masterClrMapping/>
  </p:clrMapOvr>
  <p:transition spd="med" advClick="1">
    <p:wipe dir="r"/>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20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340"/>
                                  </p:stCondLst>
                                  <p:childTnLst>
                                    <p:set>
                                      <p:cBhvr>
                                        <p:cTn id="124" dur="1" fill="hold">
                                          <p:stCondLst>
                                            <p:cond delay="0"/>
                                          </p:stCondLst>
                                          <p:attrNameLst>
                                            <p:attrName>style.visibility</p:attrName>
                                          </p:attrNameLst>
                                        </p:cTn>
                                        <p:tgtEl>
                                          <p:spTgt spid="8"/>
                                        </p:tgtEl>
                                      </p:cBhvr>
                                      <p:to>
                                        <p:strVal val="visible"/>
                                      </p:to>
                                    </p:set>
                                    <p:animEffect transition="in" filter="fade">
                                      <p:cBhvr>
                                        <p:cTn id="125" dur="550"/>
                                        <p:tgtEl>
                                          <p:spTgt spid="8"/>
                                        </p:tgtEl>
                                      </p:cBhvr>
                                    </p:animEffect>
                                  </p:childTnLst>
                                </p:cTn>
                              </p:par>
                            </p:childTnLst>
                          </p:cTn>
                        </p:par>
                        <p:par>
                          <p:cTn id="126" fill="hold">
                            <p:stCondLst>
                              <p:cond delay="0"/>
                            </p:stCondLst>
                            <p:childTnLst>
                              <p:par>
                                <p:cTn id="127" presetID="10" presetClass="entr" presetSubtype="0" fill="hold" grpId="0" nodeType="withEffect">
                                  <p:stCondLst>
                                    <p:cond delay="340"/>
                                  </p:stCondLst>
                                  <p:childTnLst>
                                    <p:set>
                                      <p:cBhvr>
                                        <p:cTn id="128" dur="1" fill="hold">
                                          <p:stCondLst>
                                            <p:cond delay="0"/>
                                          </p:stCondLst>
                                          <p:attrNameLst>
                                            <p:attrName>style.visibility</p:attrName>
                                          </p:attrNameLst>
                                        </p:cTn>
                                        <p:tgtEl>
                                          <p:spTgt spid="11"/>
                                        </p:tgtEl>
                                      </p:cBhvr>
                                      <p:to>
                                        <p:strVal val="visible"/>
                                      </p:to>
                                    </p:set>
                                    <p:animEffect transition="in" filter="fade">
                                      <p:cBhvr>
                                        <p:cTn id="129" dur="550"/>
                                        <p:tgtEl>
                                          <p:spTgt spid="11"/>
                                        </p:tgtEl>
                                      </p:cBhvr>
                                    </p:animEffect>
                                  </p:childTnLst>
                                </p:cTn>
                              </p:par>
                            </p:childTnLst>
                          </p:cTn>
                        </p:par>
                        <p:par>
                          <p:cTn id="130" fill="hold">
                            <p:stCondLst>
                              <p:cond delay="0"/>
                            </p:stCondLst>
                            <p:childTnLst>
                              <p:par>
                                <p:cTn id="131" presetID="10" presetClass="entr" presetSubtype="0" fill="hold" grpId="0" nodeType="withEffect">
                                  <p:stCondLst>
                                    <p:cond delay="340"/>
                                  </p:stCondLst>
                                  <p:childTnLst>
                                    <p:set>
                                      <p:cBhvr>
                                        <p:cTn id="132" dur="1" fill="hold">
                                          <p:stCondLst>
                                            <p:cond delay="0"/>
                                          </p:stCondLst>
                                          <p:attrNameLst>
                                            <p:attrName>style.visibility</p:attrName>
                                          </p:attrNameLst>
                                        </p:cTn>
                                        <p:tgtEl>
                                          <p:spTgt spid="12"/>
                                        </p:tgtEl>
                                      </p:cBhvr>
                                      <p:to>
                                        <p:strVal val="visible"/>
                                      </p:to>
                                    </p:set>
                                    <p:animEffect transition="in" filter="fade">
                                      <p:cBhvr>
                                        <p:cTn id="133" dur="550"/>
                                        <p:tgtEl>
                                          <p:spTgt spid="12"/>
                                        </p:tgtEl>
                                      </p:cBhvr>
                                    </p:animEffect>
                                  </p:childTnLst>
                                </p:cTn>
                              </p:par>
                            </p:childTnLst>
                          </p:cTn>
                        </p:par>
                        <p:par>
                          <p:cTn id="134" fill="hold">
                            <p:stCondLst>
                              <p:cond delay="0"/>
                            </p:stCondLst>
                            <p:childTnLst>
                              <p:par>
                                <p:cTn id="135" presetID="10" presetClass="entr" presetSubtype="0" fill="hold" grpId="0" nodeType="withEffect">
                                  <p:stCondLst>
                                    <p:cond delay="480"/>
                                  </p:stCondLst>
                                  <p:childTnLst>
                                    <p:set>
                                      <p:cBhvr>
                                        <p:cTn id="136" dur="1" fill="hold">
                                          <p:stCondLst>
                                            <p:cond delay="0"/>
                                          </p:stCondLst>
                                          <p:attrNameLst>
                                            <p:attrName>style.visibility</p:attrName>
                                          </p:attrNameLst>
                                        </p:cTn>
                                        <p:tgtEl>
                                          <p:spTgt spid="13"/>
                                        </p:tgtEl>
                                      </p:cBhvr>
                                      <p:to>
                                        <p:strVal val="visible"/>
                                      </p:to>
                                    </p:set>
                                    <p:animEffect transition="in" filter="fade">
                                      <p:cBhvr>
                                        <p:cTn id="137" dur="550"/>
                                        <p:tgtEl>
                                          <p:spTgt spid="13"/>
                                        </p:tgtEl>
                                      </p:cBhvr>
                                    </p:animEffect>
                                  </p:childTnLst>
                                </p:cTn>
                              </p:par>
                            </p:childTnLst>
                          </p:cTn>
                        </p:par>
                        <p:par>
                          <p:cTn id="138" fill="hold">
                            <p:stCondLst>
                              <p:cond delay="0"/>
                            </p:stCondLst>
                            <p:childTnLst>
                              <p:par>
                                <p:cTn id="139" presetID="10" presetClass="entr" presetSubtype="0" fill="hold" grpId="0" nodeType="withEffect">
                                  <p:stCondLst>
                                    <p:cond delay="480"/>
                                  </p:stCondLst>
                                  <p:childTnLst>
                                    <p:set>
                                      <p:cBhvr>
                                        <p:cTn id="140" dur="1" fill="hold">
                                          <p:stCondLst>
                                            <p:cond delay="0"/>
                                          </p:stCondLst>
                                          <p:attrNameLst>
                                            <p:attrName>style.visibility</p:attrName>
                                          </p:attrNameLst>
                                        </p:cTn>
                                        <p:tgtEl>
                                          <p:spTgt spid="16"/>
                                        </p:tgtEl>
                                      </p:cBhvr>
                                      <p:to>
                                        <p:strVal val="visible"/>
                                      </p:to>
                                    </p:set>
                                    <p:animEffect transition="in" filter="fade">
                                      <p:cBhvr>
                                        <p:cTn id="141" dur="550"/>
                                        <p:tgtEl>
                                          <p:spTgt spid="16"/>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cc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MODULES &amp; FEATURES</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Seven modules. </a:t>
            </a:r>
            <a:r>
              <a:rPr sz="2700" b="1" i="0">
                <a:gradFill rotWithShape="1">
                  <a:gsLst>
                    <a:gs pos="0">
                      <a:srgbClr val="6366F1"/>
                    </a:gs>
                    <a:gs pos="55000">
                      <a:srgbClr val="8B5CF6"/>
                    </a:gs>
                    <a:gs pos="100000">
                      <a:srgbClr val="06B6D4"/>
                    </a:gs>
                  </a:gsLst>
                  <a:lin ang="0" scaled="1"/>
                </a:gradFill>
                <a:latin typeface="Segoe UI"/>
              </a:rPr>
              <a:t>One seamless system.</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Each module is a self-contained unit with its own routes and services — easy to test, easy to extend.</a:t>
            </a:r>
          </a:p>
        </p:txBody>
      </p:sp>
      <p:sp>
        <p:nvSpPr>
          <p:cNvPr id="7" name="Rounded Rectangle 6"/>
          <p:cNvSpPr/>
          <p:nvPr/>
        </p:nvSpPr>
        <p:spPr>
          <a:xfrm>
            <a:off x="521207" y="1810512"/>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1965960"/>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01</a:t>
            </a:r>
          </a:p>
        </p:txBody>
      </p:sp>
      <p:sp>
        <p:nvSpPr>
          <p:cNvPr id="9" name="TextBox 8"/>
          <p:cNvSpPr txBox="1"/>
          <p:nvPr/>
        </p:nvSpPr>
        <p:spPr>
          <a:xfrm>
            <a:off x="1234440" y="1965960"/>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Auth &amp; Security</a:t>
            </a:r>
          </a:p>
        </p:txBody>
      </p:sp>
      <p:sp>
        <p:nvSpPr>
          <p:cNvPr id="10" name="TextBox 9"/>
          <p:cNvSpPr txBox="1"/>
          <p:nvPr/>
        </p:nvSpPr>
        <p:spPr>
          <a:xfrm>
            <a:off x="676656" y="2542032"/>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Email-OTP verification, password reset, role-based access, CSRF &amp; rate limiting.</a:t>
            </a:r>
          </a:p>
        </p:txBody>
      </p:sp>
      <p:sp>
        <p:nvSpPr>
          <p:cNvPr id="11" name="Rounded Rectangle 10"/>
          <p:cNvSpPr/>
          <p:nvPr/>
        </p:nvSpPr>
        <p:spPr>
          <a:xfrm>
            <a:off x="3337560" y="1810512"/>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93008" y="1965960"/>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02</a:t>
            </a:r>
          </a:p>
        </p:txBody>
      </p:sp>
      <p:sp>
        <p:nvSpPr>
          <p:cNvPr id="13" name="TextBox 12"/>
          <p:cNvSpPr txBox="1"/>
          <p:nvPr/>
        </p:nvSpPr>
        <p:spPr>
          <a:xfrm>
            <a:off x="4050791" y="1965960"/>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Student Portal</a:t>
            </a:r>
          </a:p>
        </p:txBody>
      </p:sp>
      <p:sp>
        <p:nvSpPr>
          <p:cNvPr id="14" name="TextBox 13"/>
          <p:cNvSpPr txBox="1"/>
          <p:nvPr/>
        </p:nvSpPr>
        <p:spPr>
          <a:xfrm>
            <a:off x="3493008" y="2542032"/>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Personal dashboard, explore, calendar, leaderboard, streaks &amp; recommendations.</a:t>
            </a:r>
          </a:p>
        </p:txBody>
      </p:sp>
      <p:sp>
        <p:nvSpPr>
          <p:cNvPr id="15" name="Rounded Rectangle 14"/>
          <p:cNvSpPr/>
          <p:nvPr/>
        </p:nvSpPr>
        <p:spPr>
          <a:xfrm>
            <a:off x="6153912" y="1810512"/>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1965960"/>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03</a:t>
            </a:r>
          </a:p>
        </p:txBody>
      </p:sp>
      <p:sp>
        <p:nvSpPr>
          <p:cNvPr id="17" name="TextBox 16"/>
          <p:cNvSpPr txBox="1"/>
          <p:nvPr/>
        </p:nvSpPr>
        <p:spPr>
          <a:xfrm>
            <a:off x="6867144" y="1965960"/>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Quiz Engine</a:t>
            </a:r>
          </a:p>
        </p:txBody>
      </p:sp>
      <p:sp>
        <p:nvSpPr>
          <p:cNvPr id="18" name="TextBox 17"/>
          <p:cNvSpPr txBox="1"/>
          <p:nvPr/>
        </p:nvSpPr>
        <p:spPr>
          <a:xfrm>
            <a:off x="6309360" y="2542032"/>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Timed player with shuffled questions, autosave, auto-submit &amp; instant grading.</a:t>
            </a:r>
          </a:p>
        </p:txBody>
      </p:sp>
      <p:sp>
        <p:nvSpPr>
          <p:cNvPr id="19" name="Rounded Rectangle 18"/>
          <p:cNvSpPr/>
          <p:nvPr/>
        </p:nvSpPr>
        <p:spPr>
          <a:xfrm>
            <a:off x="8970264" y="1810512"/>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1965960"/>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04</a:t>
            </a:r>
          </a:p>
        </p:txBody>
      </p:sp>
      <p:sp>
        <p:nvSpPr>
          <p:cNvPr id="21" name="TextBox 20"/>
          <p:cNvSpPr txBox="1"/>
          <p:nvPr/>
        </p:nvSpPr>
        <p:spPr>
          <a:xfrm>
            <a:off x="9683496" y="1965960"/>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Question Bank</a:t>
            </a:r>
          </a:p>
        </p:txBody>
      </p:sp>
      <p:sp>
        <p:nvSpPr>
          <p:cNvPr id="22" name="TextBox 21"/>
          <p:cNvSpPr txBox="1"/>
          <p:nvPr/>
        </p:nvSpPr>
        <p:spPr>
          <a:xfrm>
            <a:off x="9125712" y="2542032"/>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Categories &amp; difficulty levels, CSV / JSON bulk import, live duplicate warning.</a:t>
            </a:r>
          </a:p>
        </p:txBody>
      </p:sp>
      <p:sp>
        <p:nvSpPr>
          <p:cNvPr id="23" name="Rounded Rectangle 22"/>
          <p:cNvSpPr/>
          <p:nvPr/>
        </p:nvSpPr>
        <p:spPr>
          <a:xfrm>
            <a:off x="1929384" y="3749039"/>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84831" y="3904487"/>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05</a:t>
            </a:r>
          </a:p>
        </p:txBody>
      </p:sp>
      <p:sp>
        <p:nvSpPr>
          <p:cNvPr id="25" name="TextBox 24"/>
          <p:cNvSpPr txBox="1"/>
          <p:nvPr/>
        </p:nvSpPr>
        <p:spPr>
          <a:xfrm>
            <a:off x="2642615" y="3904487"/>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Admin Portal</a:t>
            </a:r>
          </a:p>
        </p:txBody>
      </p:sp>
      <p:sp>
        <p:nvSpPr>
          <p:cNvPr id="26" name="TextBox 25"/>
          <p:cNvSpPr txBox="1"/>
          <p:nvPr/>
        </p:nvSpPr>
        <p:spPr>
          <a:xfrm>
            <a:off x="2084831" y="4480559"/>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Users &amp; quizzes, announcements, audit trail, error log, backups &amp; settings.</a:t>
            </a:r>
          </a:p>
        </p:txBody>
      </p:sp>
      <p:sp>
        <p:nvSpPr>
          <p:cNvPr id="27" name="Rounded Rectangle 26"/>
          <p:cNvSpPr/>
          <p:nvPr/>
        </p:nvSpPr>
        <p:spPr>
          <a:xfrm>
            <a:off x="4745736" y="3749039"/>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901183" y="3904487"/>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06</a:t>
            </a:r>
          </a:p>
        </p:txBody>
      </p:sp>
      <p:sp>
        <p:nvSpPr>
          <p:cNvPr id="29" name="TextBox 28"/>
          <p:cNvSpPr txBox="1"/>
          <p:nvPr/>
        </p:nvSpPr>
        <p:spPr>
          <a:xfrm>
            <a:off x="5458968" y="3904487"/>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Analytics &amp; Reports</a:t>
            </a:r>
          </a:p>
        </p:txBody>
      </p:sp>
      <p:sp>
        <p:nvSpPr>
          <p:cNvPr id="30" name="TextBox 29"/>
          <p:cNvSpPr txBox="1"/>
          <p:nvPr/>
        </p:nvSpPr>
        <p:spPr>
          <a:xfrm>
            <a:off x="4901183" y="4480559"/>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Score trends &amp; charts, per-quiz analysis, one-click PDF / Excel / CSV exports.</a:t>
            </a:r>
          </a:p>
        </p:txBody>
      </p:sp>
      <p:sp>
        <p:nvSpPr>
          <p:cNvPr id="31" name="Rounded Rectangle 30"/>
          <p:cNvSpPr/>
          <p:nvPr/>
        </p:nvSpPr>
        <p:spPr>
          <a:xfrm>
            <a:off x="7562088" y="3749039"/>
            <a:ext cx="2697480" cy="181051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717536" y="3904487"/>
            <a:ext cx="438912" cy="438912"/>
          </a:xfrm>
          <a:prstGeom prst="roundRect">
            <a:avLst>
              <a:gd name="adj" fmla="val 28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i="0">
                <a:solidFill>
                  <a:srgbClr val="FFFFFF"/>
                </a:solidFill>
                <a:latin typeface="Segoe UI"/>
              </a:rPr>
              <a:t>07</a:t>
            </a:r>
          </a:p>
        </p:txBody>
      </p:sp>
      <p:sp>
        <p:nvSpPr>
          <p:cNvPr id="33" name="TextBox 32"/>
          <p:cNvSpPr txBox="1"/>
          <p:nvPr/>
        </p:nvSpPr>
        <p:spPr>
          <a:xfrm>
            <a:off x="8275319" y="3904487"/>
            <a:ext cx="1856232" cy="502920"/>
          </a:xfrm>
          <a:prstGeom prst="rect">
            <a:avLst/>
          </a:prstGeom>
          <a:noFill/>
        </p:spPr>
        <p:txBody>
          <a:bodyPr wrap="square" anchor="ctr" lIns="0" rIns="0" tIns="0" bIns="0">
            <a:spAutoFit/>
          </a:bodyPr>
          <a:lstStyle/>
          <a:p>
            <a:pPr algn="l">
              <a:lnSpc>
                <a:spcPct val="105000"/>
              </a:lnSpc>
              <a:spcBef>
                <a:spcPts val="0"/>
              </a:spcBef>
              <a:spcAft>
                <a:spcPts val="0"/>
              </a:spcAft>
            </a:pPr>
            <a:r>
              <a:rPr sz="1300" b="1" i="0">
                <a:solidFill>
                  <a:srgbClr val="FFFFFF"/>
                </a:solidFill>
                <a:latin typeface="Segoe UI"/>
              </a:rPr>
              <a:t>TQM Workspace</a:t>
            </a:r>
          </a:p>
        </p:txBody>
      </p:sp>
      <p:sp>
        <p:nvSpPr>
          <p:cNvPr id="34" name="TextBox 33"/>
          <p:cNvSpPr txBox="1"/>
          <p:nvPr/>
        </p:nvSpPr>
        <p:spPr>
          <a:xfrm>
            <a:off x="7717536" y="4480559"/>
            <a:ext cx="2386584" cy="987552"/>
          </a:xfrm>
          <a:prstGeom prst="rect">
            <a:avLst/>
          </a:prstGeom>
          <a:noFill/>
        </p:spPr>
        <p:txBody>
          <a:bodyPr wrap="square" anchor="t" lIns="0" rIns="0" tIns="0" bIns="0">
            <a:spAutoFit/>
          </a:bodyPr>
          <a:lstStyle/>
          <a:p>
            <a:pPr algn="l">
              <a:lnSpc>
                <a:spcPct val="116000"/>
              </a:lnSpc>
              <a:spcBef>
                <a:spcPts val="0"/>
              </a:spcBef>
              <a:spcAft>
                <a:spcPts val="0"/>
              </a:spcAft>
            </a:pPr>
            <a:r>
              <a:rPr sz="1050" b="0" i="0">
                <a:solidFill>
                  <a:srgbClr val="9699CC"/>
                </a:solidFill>
                <a:latin typeface="Segoe UI"/>
              </a:rPr>
              <a:t>Defect log, Pareto, Fishbone, FMEA, PDCA, SIPOC–CTQ &amp; statistical control charts.</a:t>
            </a:r>
          </a:p>
        </p:txBody>
      </p:sp>
      <p:sp>
        <p:nvSpPr>
          <p:cNvPr id="35" name="Rounded Rectangle 34"/>
          <p:cNvSpPr/>
          <p:nvPr/>
        </p:nvSpPr>
        <p:spPr>
          <a:xfrm>
            <a:off x="521207" y="5742432"/>
            <a:ext cx="11149279" cy="512064"/>
          </a:xfrm>
          <a:prstGeom prst="roundRect">
            <a:avLst>
              <a:gd name="adj" fmla="val 20000"/>
            </a:avLst>
          </a:prstGeom>
          <a:solidFill>
            <a:srgbClr val="14143A"/>
          </a:solidFill>
          <a:ln w="12700">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7" y="5742432"/>
            <a:ext cx="11149279" cy="512064"/>
          </a:xfrm>
          <a:prstGeom prst="rect">
            <a:avLst/>
          </a:prstGeom>
          <a:noFill/>
        </p:spPr>
        <p:txBody>
          <a:bodyPr wrap="square" anchor="ctr" lIns="0" rIns="0" tIns="0" bIns="0">
            <a:spAutoFit/>
          </a:bodyPr>
          <a:lstStyle/>
          <a:p>
            <a:pPr algn="ctr">
              <a:spcBef>
                <a:spcPts val="0"/>
              </a:spcBef>
              <a:spcAft>
                <a:spcPts val="0"/>
              </a:spcAft>
            </a:pPr>
            <a:r>
              <a:rPr sz="1050" b="1" i="0" spc="150">
                <a:solidFill>
                  <a:srgbClr val="22D3EE"/>
                </a:solidFill>
                <a:latin typeface="Segoe UI"/>
              </a:rPr>
              <a:t>TECH STACK    </a:t>
            </a:r>
            <a:r>
              <a:rPr sz="1200" b="1" i="0">
                <a:solidFill>
                  <a:srgbClr val="FFFFFF"/>
                </a:solidFill>
                <a:latin typeface="Segoe UI"/>
              </a:rPr>
              <a:t>Python · Flask · SQLAlchemy · SQLite · Jinja2 · Matplotlib · fpdf2 · openpyxl · pytest</a:t>
            </a:r>
          </a:p>
        </p:txBody>
      </p:sp>
      <p:sp>
        <p:nvSpPr>
          <p:cNvPr id="37" name="TextBox 36"/>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38" name="TextBox 37"/>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05</a:t>
            </a:r>
            <a:r>
              <a:rPr sz="1000" b="0" i="0">
                <a:solidFill>
                  <a:srgbClr val="6F72AA"/>
                </a:solidFill>
                <a:latin typeface="Segoe UI"/>
              </a:rPr>
              <a:t> / 11</a:t>
            </a:r>
          </a:p>
        </p:txBody>
      </p:sp>
    </p:spTree>
  </p:cSld>
  <p:clrMapOvr>
    <a:masterClrMapping/>
  </p:clrMapOvr>
  <p:transition spd="med" advClick="1">
    <p:cover dir="l"/>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17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250"/>
                                  </p:stCondLst>
                                  <p:childTnLst>
                                    <p:set>
                                      <p:cBhvr>
                                        <p:cTn id="124" dur="1" fill="hold">
                                          <p:stCondLst>
                                            <p:cond delay="0"/>
                                          </p:stCondLst>
                                          <p:attrNameLst>
                                            <p:attrName>style.visibility</p:attrName>
                                          </p:attrNameLst>
                                        </p:cTn>
                                        <p:tgtEl>
                                          <p:spTgt spid="11"/>
                                        </p:tgtEl>
                                      </p:cBhvr>
                                      <p:to>
                                        <p:strVal val="visible"/>
                                      </p:to>
                                    </p:set>
                                    <p:animEffect transition="in" filter="fade">
                                      <p:cBhvr>
                                        <p:cTn id="125" dur="550"/>
                                        <p:tgtEl>
                                          <p:spTgt spid="11"/>
                                        </p:tgtEl>
                                      </p:cBhvr>
                                    </p:animEffect>
                                  </p:childTnLst>
                                </p:cTn>
                              </p:par>
                            </p:childTnLst>
                          </p:cTn>
                        </p:par>
                        <p:par>
                          <p:cTn id="126" fill="hold">
                            <p:stCondLst>
                              <p:cond delay="0"/>
                            </p:stCondLst>
                            <p:childTnLst>
                              <p:par>
                                <p:cTn id="127" presetID="10" presetClass="entr" presetSubtype="0" fill="hold" grpId="0" nodeType="withEffect">
                                  <p:stCondLst>
                                    <p:cond delay="330"/>
                                  </p:stCondLst>
                                  <p:childTnLst>
                                    <p:set>
                                      <p:cBhvr>
                                        <p:cTn id="128" dur="1" fill="hold">
                                          <p:stCondLst>
                                            <p:cond delay="0"/>
                                          </p:stCondLst>
                                          <p:attrNameLst>
                                            <p:attrName>style.visibility</p:attrName>
                                          </p:attrNameLst>
                                        </p:cTn>
                                        <p:tgtEl>
                                          <p:spTgt spid="15"/>
                                        </p:tgtEl>
                                      </p:cBhvr>
                                      <p:to>
                                        <p:strVal val="visible"/>
                                      </p:to>
                                    </p:set>
                                    <p:animEffect transition="in" filter="fade">
                                      <p:cBhvr>
                                        <p:cTn id="129" dur="550"/>
                                        <p:tgtEl>
                                          <p:spTgt spid="15"/>
                                        </p:tgtEl>
                                      </p:cBhvr>
                                    </p:animEffect>
                                  </p:childTnLst>
                                </p:cTn>
                              </p:par>
                            </p:childTnLst>
                          </p:cTn>
                        </p:par>
                        <p:par>
                          <p:cTn id="130" fill="hold">
                            <p:stCondLst>
                              <p:cond delay="0"/>
                            </p:stCondLst>
                            <p:childTnLst>
                              <p:par>
                                <p:cTn id="131" presetID="10" presetClass="entr" presetSubtype="0" fill="hold" grpId="0" nodeType="withEffect">
                                  <p:stCondLst>
                                    <p:cond delay="410"/>
                                  </p:stCondLst>
                                  <p:childTnLst>
                                    <p:set>
                                      <p:cBhvr>
                                        <p:cTn id="132" dur="1" fill="hold">
                                          <p:stCondLst>
                                            <p:cond delay="0"/>
                                          </p:stCondLst>
                                          <p:attrNameLst>
                                            <p:attrName>style.visibility</p:attrName>
                                          </p:attrNameLst>
                                        </p:cTn>
                                        <p:tgtEl>
                                          <p:spTgt spid="19"/>
                                        </p:tgtEl>
                                      </p:cBhvr>
                                      <p:to>
                                        <p:strVal val="visible"/>
                                      </p:to>
                                    </p:set>
                                    <p:animEffect transition="in" filter="fade">
                                      <p:cBhvr>
                                        <p:cTn id="133" dur="550"/>
                                        <p:tgtEl>
                                          <p:spTgt spid="19"/>
                                        </p:tgtEl>
                                      </p:cBhvr>
                                    </p:animEffect>
                                  </p:childTnLst>
                                </p:cTn>
                              </p:par>
                            </p:childTnLst>
                          </p:cTn>
                        </p:par>
                        <p:par>
                          <p:cTn id="134" fill="hold">
                            <p:stCondLst>
                              <p:cond delay="0"/>
                            </p:stCondLst>
                            <p:childTnLst>
                              <p:par>
                                <p:cTn id="135" presetID="10" presetClass="entr" presetSubtype="0" fill="hold" grpId="0" nodeType="withEffect">
                                  <p:stCondLst>
                                    <p:cond delay="490"/>
                                  </p:stCondLst>
                                  <p:childTnLst>
                                    <p:set>
                                      <p:cBhvr>
                                        <p:cTn id="136" dur="1" fill="hold">
                                          <p:stCondLst>
                                            <p:cond delay="0"/>
                                          </p:stCondLst>
                                          <p:attrNameLst>
                                            <p:attrName>style.visibility</p:attrName>
                                          </p:attrNameLst>
                                        </p:cTn>
                                        <p:tgtEl>
                                          <p:spTgt spid="23"/>
                                        </p:tgtEl>
                                      </p:cBhvr>
                                      <p:to>
                                        <p:strVal val="visible"/>
                                      </p:to>
                                    </p:set>
                                    <p:animEffect transition="in" filter="fade">
                                      <p:cBhvr>
                                        <p:cTn id="137" dur="550"/>
                                        <p:tgtEl>
                                          <p:spTgt spid="23"/>
                                        </p:tgtEl>
                                      </p:cBhvr>
                                    </p:animEffect>
                                  </p:childTnLst>
                                </p:cTn>
                              </p:par>
                            </p:childTnLst>
                          </p:cTn>
                        </p:par>
                        <p:par>
                          <p:cTn id="138" fill="hold">
                            <p:stCondLst>
                              <p:cond delay="0"/>
                            </p:stCondLst>
                            <p:childTnLst>
                              <p:par>
                                <p:cTn id="139" presetID="10" presetClass="entr" presetSubtype="0" fill="hold" grpId="0" nodeType="withEffect">
                                  <p:stCondLst>
                                    <p:cond delay="570"/>
                                  </p:stCondLst>
                                  <p:childTnLst>
                                    <p:set>
                                      <p:cBhvr>
                                        <p:cTn id="140" dur="1" fill="hold">
                                          <p:stCondLst>
                                            <p:cond delay="0"/>
                                          </p:stCondLst>
                                          <p:attrNameLst>
                                            <p:attrName>style.visibility</p:attrName>
                                          </p:attrNameLst>
                                        </p:cTn>
                                        <p:tgtEl>
                                          <p:spTgt spid="27"/>
                                        </p:tgtEl>
                                      </p:cBhvr>
                                      <p:to>
                                        <p:strVal val="visible"/>
                                      </p:to>
                                    </p:set>
                                    <p:animEffect transition="in" filter="fade">
                                      <p:cBhvr>
                                        <p:cTn id="141" dur="550"/>
                                        <p:tgtEl>
                                          <p:spTgt spid="27"/>
                                        </p:tgtEl>
                                      </p:cBhvr>
                                    </p:animEffect>
                                  </p:childTnLst>
                                </p:cTn>
                              </p:par>
                            </p:childTnLst>
                          </p:cTn>
                        </p:par>
                        <p:par>
                          <p:cTn id="142" fill="hold">
                            <p:stCondLst>
                              <p:cond delay="0"/>
                            </p:stCondLst>
                            <p:childTnLst>
                              <p:par>
                                <p:cTn id="143" presetID="10" presetClass="entr" presetSubtype="0" fill="hold" grpId="0" nodeType="withEffect">
                                  <p:stCondLst>
                                    <p:cond delay="650"/>
                                  </p:stCondLst>
                                  <p:childTnLst>
                                    <p:set>
                                      <p:cBhvr>
                                        <p:cTn id="144" dur="1" fill="hold">
                                          <p:stCondLst>
                                            <p:cond delay="0"/>
                                          </p:stCondLst>
                                          <p:attrNameLst>
                                            <p:attrName>style.visibility</p:attrName>
                                          </p:attrNameLst>
                                        </p:cTn>
                                        <p:tgtEl>
                                          <p:spTgt spid="31"/>
                                        </p:tgtEl>
                                      </p:cBhvr>
                                      <p:to>
                                        <p:strVal val="visible"/>
                                      </p:to>
                                    </p:set>
                                    <p:animEffect transition="in" filter="fade">
                                      <p:cBhvr>
                                        <p:cTn id="145" dur="550"/>
                                        <p:tgtEl>
                                          <p:spTgt spid="31"/>
                                        </p:tgtEl>
                                      </p:cBhvr>
                                    </p:animEffect>
                                  </p:childTnLst>
                                </p:cTn>
                              </p:par>
                            </p:childTnLst>
                          </p:cTn>
                        </p:par>
                        <p:par>
                          <p:cTn id="146" fill="hold">
                            <p:stCondLst>
                              <p:cond delay="0"/>
                            </p:stCondLst>
                            <p:childTnLst>
                              <p:par>
                                <p:cTn id="147" presetID="10" presetClass="entr" presetSubtype="0" fill="hold" grpId="0" nodeType="withEffect">
                                  <p:stCondLst>
                                    <p:cond delay="780"/>
                                  </p:stCondLst>
                                  <p:childTnLst>
                                    <p:set>
                                      <p:cBhvr>
                                        <p:cTn id="148" dur="1" fill="hold">
                                          <p:stCondLst>
                                            <p:cond delay="0"/>
                                          </p:stCondLst>
                                          <p:attrNameLst>
                                            <p:attrName>style.visibility</p:attrName>
                                          </p:attrNameLst>
                                        </p:cTn>
                                        <p:tgtEl>
                                          <p:spTgt spid="35"/>
                                        </p:tgtEl>
                                      </p:cBhvr>
                                      <p:to>
                                        <p:strVal val="visible"/>
                                      </p:to>
                                    </p:set>
                                    <p:animEffect transition="in" filter="fade">
                                      <p:cBhvr>
                                        <p:cTn id="149" dur="550"/>
                                        <p:tgtEl>
                                          <p:spTgt spid="35"/>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SYSTEM &amp; DATABASE DESIGN</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Clean, </a:t>
            </a:r>
            <a:r>
              <a:rPr sz="2700" b="1" i="0">
                <a:gradFill rotWithShape="1">
                  <a:gsLst>
                    <a:gs pos="0">
                      <a:srgbClr val="6366F1"/>
                    </a:gs>
                    <a:gs pos="55000">
                      <a:srgbClr val="8B5CF6"/>
                    </a:gs>
                    <a:gs pos="100000">
                      <a:srgbClr val="06B6D4"/>
                    </a:gs>
                  </a:gsLst>
                  <a:lin ang="0" scaled="1"/>
                </a:gradFill>
                <a:latin typeface="Segoe UI"/>
              </a:rPr>
              <a:t>modular architecture</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Routes, services, models and templates each live in their own layer — nothing is tangled.</a:t>
            </a:r>
          </a:p>
        </p:txBody>
      </p:sp>
      <p:sp>
        <p:nvSpPr>
          <p:cNvPr id="7" name="TextBox 6"/>
          <p:cNvSpPr txBox="1"/>
          <p:nvPr/>
        </p:nvSpPr>
        <p:spPr>
          <a:xfrm>
            <a:off x="521207" y="1773936"/>
            <a:ext cx="2926080" cy="274320"/>
          </a:xfrm>
          <a:prstGeom prst="rect">
            <a:avLst/>
          </a:prstGeom>
          <a:noFill/>
        </p:spPr>
        <p:txBody>
          <a:bodyPr wrap="square" anchor="t" lIns="0" rIns="0" tIns="0" bIns="0">
            <a:spAutoFit/>
          </a:bodyPr>
          <a:lstStyle/>
          <a:p>
            <a:pPr algn="l">
              <a:spcBef>
                <a:spcPts val="0"/>
              </a:spcBef>
              <a:spcAft>
                <a:spcPts val="0"/>
              </a:spcAft>
            </a:pPr>
            <a:r>
              <a:rPr sz="1100" b="1" i="0" spc="180">
                <a:solidFill>
                  <a:srgbClr val="22D3EE"/>
                </a:solidFill>
                <a:latin typeface="Segoe UI"/>
              </a:rPr>
              <a:t>LAYERED DESIGN</a:t>
            </a:r>
          </a:p>
        </p:txBody>
      </p:sp>
      <p:sp>
        <p:nvSpPr>
          <p:cNvPr id="8" name="Rounded Rectangle 7"/>
          <p:cNvSpPr/>
          <p:nvPr/>
        </p:nvSpPr>
        <p:spPr>
          <a:xfrm>
            <a:off x="521207" y="2103120"/>
            <a:ext cx="4041648" cy="80467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2267712"/>
            <a:ext cx="64008" cy="475488"/>
          </a:xfrm>
          <a:prstGeom prst="roundRect">
            <a:avLst>
              <a:gd name="adj" fmla="val 50000"/>
            </a:avLst>
          </a:prstGeom>
          <a:gradFill rotWithShape="1">
            <a:gsLst>
              <a:gs pos="0">
                <a:srgbClr val="6366F1"/>
              </a:gs>
              <a:gs pos="55000">
                <a:srgbClr val="8B5CF6"/>
              </a:gs>
              <a:gs pos="100000">
                <a:srgbClr val="06B6D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221991"/>
            <a:ext cx="3611880" cy="292608"/>
          </a:xfrm>
          <a:prstGeom prst="rect">
            <a:avLst/>
          </a:prstGeom>
          <a:noFill/>
        </p:spPr>
        <p:txBody>
          <a:bodyPr wrap="square" anchor="t" lIns="0" rIns="0" tIns="0" bIns="0">
            <a:spAutoFit/>
          </a:bodyPr>
          <a:lstStyle/>
          <a:p>
            <a:pPr algn="l">
              <a:spcBef>
                <a:spcPts val="0"/>
              </a:spcBef>
              <a:spcAft>
                <a:spcPts val="0"/>
              </a:spcAft>
            </a:pPr>
            <a:r>
              <a:rPr sz="1300" b="1" i="0">
                <a:solidFill>
                  <a:srgbClr val="FFFFFF"/>
                </a:solidFill>
                <a:latin typeface="Segoe UI"/>
              </a:rPr>
              <a:t>Presentation</a:t>
            </a:r>
          </a:p>
        </p:txBody>
      </p:sp>
      <p:sp>
        <p:nvSpPr>
          <p:cNvPr id="11" name="TextBox 10"/>
          <p:cNvSpPr txBox="1"/>
          <p:nvPr/>
        </p:nvSpPr>
        <p:spPr>
          <a:xfrm>
            <a:off x="886968" y="2514600"/>
            <a:ext cx="3611880" cy="347472"/>
          </a:xfrm>
          <a:prstGeom prst="rect">
            <a:avLst/>
          </a:prstGeom>
          <a:noFill/>
        </p:spPr>
        <p:txBody>
          <a:bodyPr wrap="square" anchor="t" lIns="0" rIns="0" tIns="0" bIns="0">
            <a:spAutoFit/>
          </a:bodyPr>
          <a:lstStyle/>
          <a:p>
            <a:pPr algn="l">
              <a:lnSpc>
                <a:spcPct val="108000"/>
              </a:lnSpc>
              <a:spcBef>
                <a:spcPts val="0"/>
              </a:spcBef>
              <a:spcAft>
                <a:spcPts val="0"/>
              </a:spcAft>
            </a:pPr>
            <a:r>
              <a:rPr sz="980" b="0" i="0">
                <a:solidFill>
                  <a:srgbClr val="9699CC"/>
                </a:solidFill>
                <a:latin typeface="Segoe UI"/>
              </a:rPr>
              <a:t>79 Jinja2 templates · responsive CSS · vanilla JS</a:t>
            </a:r>
          </a:p>
        </p:txBody>
      </p:sp>
      <p:sp>
        <p:nvSpPr>
          <p:cNvPr id="12" name="Down Arrow 11"/>
          <p:cNvSpPr/>
          <p:nvPr/>
        </p:nvSpPr>
        <p:spPr>
          <a:xfrm>
            <a:off x="2423160" y="2926079"/>
            <a:ext cx="237744" cy="182880"/>
          </a:xfrm>
          <a:prstGeom prst="downArrow">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1207" y="3127248"/>
            <a:ext cx="4041648" cy="804672"/>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67512" y="3291840"/>
            <a:ext cx="64008" cy="475488"/>
          </a:xfrm>
          <a:prstGeom prst="roundRect">
            <a:avLst>
              <a:gd name="adj" fmla="val 50000"/>
            </a:avLst>
          </a:prstGeom>
          <a:gradFill rotWithShape="1">
            <a:gsLst>
              <a:gs pos="0">
                <a:srgbClr val="6366F1"/>
              </a:gs>
              <a:gs pos="55000">
                <a:srgbClr val="8B5CF6"/>
              </a:gs>
              <a:gs pos="100000">
                <a:srgbClr val="06B6D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246120"/>
            <a:ext cx="3611880" cy="292608"/>
          </a:xfrm>
          <a:prstGeom prst="rect">
            <a:avLst/>
          </a:prstGeom>
          <a:noFill/>
        </p:spPr>
        <p:txBody>
          <a:bodyPr wrap="square" anchor="t" lIns="0" rIns="0" tIns="0" bIns="0">
            <a:spAutoFit/>
          </a:bodyPr>
          <a:lstStyle/>
          <a:p>
            <a:pPr algn="l">
              <a:spcBef>
                <a:spcPts val="0"/>
              </a:spcBef>
              <a:spcAft>
                <a:spcPts val="0"/>
              </a:spcAft>
            </a:pPr>
            <a:r>
              <a:rPr sz="1300" b="1" i="0">
                <a:solidFill>
                  <a:srgbClr val="FFFFFF"/>
                </a:solidFill>
                <a:latin typeface="Segoe UI"/>
              </a:rPr>
              <a:t>Routing</a:t>
            </a:r>
          </a:p>
        </p:txBody>
      </p:sp>
      <p:sp>
        <p:nvSpPr>
          <p:cNvPr id="16" name="TextBox 15"/>
          <p:cNvSpPr txBox="1"/>
          <p:nvPr/>
        </p:nvSpPr>
        <p:spPr>
          <a:xfrm>
            <a:off x="886968" y="3538728"/>
            <a:ext cx="3611880" cy="347472"/>
          </a:xfrm>
          <a:prstGeom prst="rect">
            <a:avLst/>
          </a:prstGeom>
          <a:noFill/>
        </p:spPr>
        <p:txBody>
          <a:bodyPr wrap="square" anchor="t" lIns="0" rIns="0" tIns="0" bIns="0">
            <a:spAutoFit/>
          </a:bodyPr>
          <a:lstStyle/>
          <a:p>
            <a:pPr algn="l">
              <a:lnSpc>
                <a:spcPct val="108000"/>
              </a:lnSpc>
              <a:spcBef>
                <a:spcPts val="0"/>
              </a:spcBef>
              <a:spcAft>
                <a:spcPts val="0"/>
              </a:spcAft>
            </a:pPr>
            <a:r>
              <a:rPr sz="980" b="0" i="0">
                <a:solidFill>
                  <a:srgbClr val="9699CC"/>
                </a:solidFill>
                <a:latin typeface="Segoe UI"/>
              </a:rPr>
              <a:t>7 Flask blueprints · 110+ routes</a:t>
            </a:r>
          </a:p>
        </p:txBody>
      </p:sp>
      <p:sp>
        <p:nvSpPr>
          <p:cNvPr id="17" name="Down Arrow 16"/>
          <p:cNvSpPr/>
          <p:nvPr/>
        </p:nvSpPr>
        <p:spPr>
          <a:xfrm>
            <a:off x="2423160" y="3950208"/>
            <a:ext cx="237744" cy="182880"/>
          </a:xfrm>
          <a:prstGeom prst="downArrow">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7" y="4151376"/>
            <a:ext cx="4041648" cy="80467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67512" y="4315968"/>
            <a:ext cx="64008" cy="475488"/>
          </a:xfrm>
          <a:prstGeom prst="roundRect">
            <a:avLst>
              <a:gd name="adj" fmla="val 50000"/>
            </a:avLst>
          </a:prstGeom>
          <a:gradFill rotWithShape="1">
            <a:gsLst>
              <a:gs pos="0">
                <a:srgbClr val="6366F1"/>
              </a:gs>
              <a:gs pos="55000">
                <a:srgbClr val="8B5CF6"/>
              </a:gs>
              <a:gs pos="100000">
                <a:srgbClr val="06B6D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4270248"/>
            <a:ext cx="3611880" cy="292608"/>
          </a:xfrm>
          <a:prstGeom prst="rect">
            <a:avLst/>
          </a:prstGeom>
          <a:noFill/>
        </p:spPr>
        <p:txBody>
          <a:bodyPr wrap="square" anchor="t" lIns="0" rIns="0" tIns="0" bIns="0">
            <a:spAutoFit/>
          </a:bodyPr>
          <a:lstStyle/>
          <a:p>
            <a:pPr algn="l">
              <a:spcBef>
                <a:spcPts val="0"/>
              </a:spcBef>
              <a:spcAft>
                <a:spcPts val="0"/>
              </a:spcAft>
            </a:pPr>
            <a:r>
              <a:rPr sz="1300" b="1" i="0">
                <a:solidFill>
                  <a:srgbClr val="FFFFFF"/>
                </a:solidFill>
                <a:latin typeface="Segoe UI"/>
              </a:rPr>
              <a:t>Business Services</a:t>
            </a:r>
          </a:p>
        </p:txBody>
      </p:sp>
      <p:sp>
        <p:nvSpPr>
          <p:cNvPr id="21" name="TextBox 20"/>
          <p:cNvSpPr txBox="1"/>
          <p:nvPr/>
        </p:nvSpPr>
        <p:spPr>
          <a:xfrm>
            <a:off x="886968" y="4562856"/>
            <a:ext cx="3611880" cy="347472"/>
          </a:xfrm>
          <a:prstGeom prst="rect">
            <a:avLst/>
          </a:prstGeom>
          <a:noFill/>
        </p:spPr>
        <p:txBody>
          <a:bodyPr wrap="square" anchor="t" lIns="0" rIns="0" tIns="0" bIns="0">
            <a:spAutoFit/>
          </a:bodyPr>
          <a:lstStyle/>
          <a:p>
            <a:pPr algn="l">
              <a:lnSpc>
                <a:spcPct val="108000"/>
              </a:lnSpc>
              <a:spcBef>
                <a:spcPts val="0"/>
              </a:spcBef>
              <a:spcAft>
                <a:spcPts val="0"/>
              </a:spcAft>
            </a:pPr>
            <a:r>
              <a:rPr sz="980" b="0" i="0">
                <a:solidFill>
                  <a:srgbClr val="9699CC"/>
                </a:solidFill>
                <a:latin typeface="Segoe UI"/>
              </a:rPr>
              <a:t>12 services — grading, attempts, exports, charts, email, backup</a:t>
            </a:r>
          </a:p>
        </p:txBody>
      </p:sp>
      <p:sp>
        <p:nvSpPr>
          <p:cNvPr id="22" name="Down Arrow 21"/>
          <p:cNvSpPr/>
          <p:nvPr/>
        </p:nvSpPr>
        <p:spPr>
          <a:xfrm>
            <a:off x="2423160" y="4974336"/>
            <a:ext cx="237744" cy="182880"/>
          </a:xfrm>
          <a:prstGeom prst="downArrow">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1207" y="5175504"/>
            <a:ext cx="4041648" cy="804672"/>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7512" y="5340096"/>
            <a:ext cx="64008" cy="475488"/>
          </a:xfrm>
          <a:prstGeom prst="roundRect">
            <a:avLst>
              <a:gd name="adj" fmla="val 50000"/>
            </a:avLst>
          </a:prstGeom>
          <a:gradFill rotWithShape="1">
            <a:gsLst>
              <a:gs pos="0">
                <a:srgbClr val="6366F1"/>
              </a:gs>
              <a:gs pos="55000">
                <a:srgbClr val="8B5CF6"/>
              </a:gs>
              <a:gs pos="100000">
                <a:srgbClr val="06B6D4"/>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5294376"/>
            <a:ext cx="3611880" cy="292608"/>
          </a:xfrm>
          <a:prstGeom prst="rect">
            <a:avLst/>
          </a:prstGeom>
          <a:noFill/>
        </p:spPr>
        <p:txBody>
          <a:bodyPr wrap="square" anchor="t" lIns="0" rIns="0" tIns="0" bIns="0">
            <a:spAutoFit/>
          </a:bodyPr>
          <a:lstStyle/>
          <a:p>
            <a:pPr algn="l">
              <a:spcBef>
                <a:spcPts val="0"/>
              </a:spcBef>
              <a:spcAft>
                <a:spcPts val="0"/>
              </a:spcAft>
            </a:pPr>
            <a:r>
              <a:rPr sz="1300" b="1" i="0">
                <a:solidFill>
                  <a:srgbClr val="FFFFFF"/>
                </a:solidFill>
                <a:latin typeface="Segoe UI"/>
              </a:rPr>
              <a:t>Data Layer</a:t>
            </a:r>
          </a:p>
        </p:txBody>
      </p:sp>
      <p:sp>
        <p:nvSpPr>
          <p:cNvPr id="26" name="TextBox 25"/>
          <p:cNvSpPr txBox="1"/>
          <p:nvPr/>
        </p:nvSpPr>
        <p:spPr>
          <a:xfrm>
            <a:off x="886968" y="5586984"/>
            <a:ext cx="3611880" cy="347472"/>
          </a:xfrm>
          <a:prstGeom prst="rect">
            <a:avLst/>
          </a:prstGeom>
          <a:noFill/>
        </p:spPr>
        <p:txBody>
          <a:bodyPr wrap="square" anchor="t" lIns="0" rIns="0" tIns="0" bIns="0">
            <a:spAutoFit/>
          </a:bodyPr>
          <a:lstStyle/>
          <a:p>
            <a:pPr algn="l">
              <a:lnSpc>
                <a:spcPct val="108000"/>
              </a:lnSpc>
              <a:spcBef>
                <a:spcPts val="0"/>
              </a:spcBef>
              <a:spcAft>
                <a:spcPts val="0"/>
              </a:spcAft>
            </a:pPr>
            <a:r>
              <a:rPr sz="980" b="0" i="0">
                <a:solidFill>
                  <a:srgbClr val="9699CC"/>
                </a:solidFill>
                <a:latin typeface="Segoe UI"/>
              </a:rPr>
              <a:t>SQLAlchemy ORM · SQLite · Alembic migrations</a:t>
            </a:r>
          </a:p>
        </p:txBody>
      </p:sp>
      <p:sp>
        <p:nvSpPr>
          <p:cNvPr id="27" name="TextBox 26"/>
          <p:cNvSpPr txBox="1"/>
          <p:nvPr/>
        </p:nvSpPr>
        <p:spPr>
          <a:xfrm>
            <a:off x="4864608" y="1773936"/>
            <a:ext cx="2926080" cy="274320"/>
          </a:xfrm>
          <a:prstGeom prst="rect">
            <a:avLst/>
          </a:prstGeom>
          <a:noFill/>
        </p:spPr>
        <p:txBody>
          <a:bodyPr wrap="square" anchor="t" lIns="0" rIns="0" tIns="0" bIns="0">
            <a:spAutoFit/>
          </a:bodyPr>
          <a:lstStyle/>
          <a:p>
            <a:pPr algn="l">
              <a:spcBef>
                <a:spcPts val="0"/>
              </a:spcBef>
              <a:spcAft>
                <a:spcPts val="0"/>
              </a:spcAft>
            </a:pPr>
            <a:r>
              <a:rPr sz="1100" b="1" i="0" spc="180">
                <a:solidFill>
                  <a:srgbClr val="22D3EE"/>
                </a:solidFill>
                <a:latin typeface="Segoe UI"/>
              </a:rPr>
              <a:t>DATABASE · 22 TABLES</a:t>
            </a:r>
          </a:p>
        </p:txBody>
      </p:sp>
      <p:sp>
        <p:nvSpPr>
          <p:cNvPr id="28" name="Rounded Rectangle 27"/>
          <p:cNvSpPr/>
          <p:nvPr/>
        </p:nvSpPr>
        <p:spPr>
          <a:xfrm>
            <a:off x="4864608" y="2103120"/>
            <a:ext cx="3602736" cy="88696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65776" y="2203703"/>
            <a:ext cx="3246120" cy="274320"/>
          </a:xfrm>
          <a:prstGeom prst="rect">
            <a:avLst/>
          </a:prstGeom>
          <a:noFill/>
        </p:spPr>
        <p:txBody>
          <a:bodyPr wrap="square" anchor="t" lIns="0" rIns="0" tIns="0" bIns="0">
            <a:spAutoFit/>
          </a:bodyPr>
          <a:lstStyle/>
          <a:p>
            <a:pPr algn="l">
              <a:spcBef>
                <a:spcPts val="0"/>
              </a:spcBef>
              <a:spcAft>
                <a:spcPts val="0"/>
              </a:spcAft>
            </a:pPr>
            <a:r>
              <a:rPr sz="1200" b="1" i="0">
                <a:solidFill>
                  <a:srgbClr val="FFFFFF"/>
                </a:solidFill>
                <a:latin typeface="Segoe UI"/>
              </a:rPr>
              <a:t>Users &amp; Access</a:t>
            </a:r>
          </a:p>
        </p:txBody>
      </p:sp>
      <p:sp>
        <p:nvSpPr>
          <p:cNvPr id="30" name="TextBox 29"/>
          <p:cNvSpPr txBox="1"/>
          <p:nvPr/>
        </p:nvSpPr>
        <p:spPr>
          <a:xfrm>
            <a:off x="5065776" y="2487168"/>
            <a:ext cx="3273552" cy="457200"/>
          </a:xfrm>
          <a:prstGeom prst="rect">
            <a:avLst/>
          </a:prstGeom>
          <a:noFill/>
        </p:spPr>
        <p:txBody>
          <a:bodyPr wrap="square" anchor="t" lIns="0" rIns="0" tIns="0" bIns="0">
            <a:spAutoFit/>
          </a:bodyPr>
          <a:lstStyle/>
          <a:p>
            <a:pPr algn="l">
              <a:lnSpc>
                <a:spcPct val="112000"/>
              </a:lnSpc>
              <a:spcBef>
                <a:spcPts val="0"/>
              </a:spcBef>
              <a:spcAft>
                <a:spcPts val="0"/>
              </a:spcAft>
            </a:pPr>
            <a:r>
              <a:rPr sz="930" b="0" i="0">
                <a:solidFill>
                  <a:srgbClr val="A5B4FC"/>
                </a:solidFill>
                <a:latin typeface="Consolas"/>
              </a:rPr>
              <a:t>User · EmailOTP · PasswordResetToken</a:t>
            </a:r>
          </a:p>
        </p:txBody>
      </p:sp>
      <p:sp>
        <p:nvSpPr>
          <p:cNvPr id="31" name="Rounded Rectangle 30"/>
          <p:cNvSpPr/>
          <p:nvPr/>
        </p:nvSpPr>
        <p:spPr>
          <a:xfrm>
            <a:off x="4864608" y="3099815"/>
            <a:ext cx="3602736" cy="88696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65776" y="3200399"/>
            <a:ext cx="3246120" cy="274320"/>
          </a:xfrm>
          <a:prstGeom prst="rect">
            <a:avLst/>
          </a:prstGeom>
          <a:noFill/>
        </p:spPr>
        <p:txBody>
          <a:bodyPr wrap="square" anchor="t" lIns="0" rIns="0" tIns="0" bIns="0">
            <a:spAutoFit/>
          </a:bodyPr>
          <a:lstStyle/>
          <a:p>
            <a:pPr algn="l">
              <a:spcBef>
                <a:spcPts val="0"/>
              </a:spcBef>
              <a:spcAft>
                <a:spcPts val="0"/>
              </a:spcAft>
            </a:pPr>
            <a:r>
              <a:rPr sz="1200" b="1" i="0">
                <a:solidFill>
                  <a:srgbClr val="FFFFFF"/>
                </a:solidFill>
                <a:latin typeface="Segoe UI"/>
              </a:rPr>
              <a:t>Quiz Core</a:t>
            </a:r>
          </a:p>
        </p:txBody>
      </p:sp>
      <p:sp>
        <p:nvSpPr>
          <p:cNvPr id="33" name="TextBox 32"/>
          <p:cNvSpPr txBox="1"/>
          <p:nvPr/>
        </p:nvSpPr>
        <p:spPr>
          <a:xfrm>
            <a:off x="5065776" y="3483863"/>
            <a:ext cx="3273552" cy="457200"/>
          </a:xfrm>
          <a:prstGeom prst="rect">
            <a:avLst/>
          </a:prstGeom>
          <a:noFill/>
        </p:spPr>
        <p:txBody>
          <a:bodyPr wrap="square" anchor="t" lIns="0" rIns="0" tIns="0" bIns="0">
            <a:spAutoFit/>
          </a:bodyPr>
          <a:lstStyle/>
          <a:p>
            <a:pPr algn="l">
              <a:lnSpc>
                <a:spcPct val="112000"/>
              </a:lnSpc>
              <a:spcBef>
                <a:spcPts val="0"/>
              </a:spcBef>
              <a:spcAft>
                <a:spcPts val="0"/>
              </a:spcAft>
            </a:pPr>
            <a:r>
              <a:rPr sz="930" b="0" i="0">
                <a:solidFill>
                  <a:srgbClr val="A5B4FC"/>
                </a:solidFill>
                <a:latin typeface="Consolas"/>
              </a:rPr>
              <a:t>Quiz · Question · AnswerOption · Category · QuizAttempt · AttemptAnswer</a:t>
            </a:r>
          </a:p>
        </p:txBody>
      </p:sp>
      <p:sp>
        <p:nvSpPr>
          <p:cNvPr id="34" name="Rounded Rectangle 33"/>
          <p:cNvSpPr/>
          <p:nvPr/>
        </p:nvSpPr>
        <p:spPr>
          <a:xfrm>
            <a:off x="4864608" y="4096511"/>
            <a:ext cx="3602736" cy="88696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65776" y="4197096"/>
            <a:ext cx="3246120" cy="274320"/>
          </a:xfrm>
          <a:prstGeom prst="rect">
            <a:avLst/>
          </a:prstGeom>
          <a:noFill/>
        </p:spPr>
        <p:txBody>
          <a:bodyPr wrap="square" anchor="t" lIns="0" rIns="0" tIns="0" bIns="0">
            <a:spAutoFit/>
          </a:bodyPr>
          <a:lstStyle/>
          <a:p>
            <a:pPr algn="l">
              <a:spcBef>
                <a:spcPts val="0"/>
              </a:spcBef>
              <a:spcAft>
                <a:spcPts val="0"/>
              </a:spcAft>
            </a:pPr>
            <a:r>
              <a:rPr sz="1200" b="1" i="0">
                <a:solidFill>
                  <a:srgbClr val="FFFFFF"/>
                </a:solidFill>
                <a:latin typeface="Segoe UI"/>
              </a:rPr>
              <a:t>Quality (TQM)</a:t>
            </a:r>
          </a:p>
        </p:txBody>
      </p:sp>
      <p:sp>
        <p:nvSpPr>
          <p:cNvPr id="36" name="TextBox 35"/>
          <p:cNvSpPr txBox="1"/>
          <p:nvPr/>
        </p:nvSpPr>
        <p:spPr>
          <a:xfrm>
            <a:off x="5065776" y="4480559"/>
            <a:ext cx="3273552" cy="457200"/>
          </a:xfrm>
          <a:prstGeom prst="rect">
            <a:avLst/>
          </a:prstGeom>
          <a:noFill/>
        </p:spPr>
        <p:txBody>
          <a:bodyPr wrap="square" anchor="t" lIns="0" rIns="0" tIns="0" bIns="0">
            <a:spAutoFit/>
          </a:bodyPr>
          <a:lstStyle/>
          <a:p>
            <a:pPr algn="l">
              <a:lnSpc>
                <a:spcPct val="112000"/>
              </a:lnSpc>
              <a:spcBef>
                <a:spcPts val="0"/>
              </a:spcBef>
              <a:spcAft>
                <a:spcPts val="0"/>
              </a:spcAft>
            </a:pPr>
            <a:r>
              <a:rPr sz="930" b="0" i="0">
                <a:solidFill>
                  <a:srgbClr val="A5B4FC"/>
                </a:solidFill>
                <a:latin typeface="Consolas"/>
              </a:rPr>
              <a:t>Defect · FMEAItem · PDCAAction · ChangelogEntry</a:t>
            </a:r>
          </a:p>
        </p:txBody>
      </p:sp>
      <p:sp>
        <p:nvSpPr>
          <p:cNvPr id="37" name="Rounded Rectangle 36"/>
          <p:cNvSpPr/>
          <p:nvPr/>
        </p:nvSpPr>
        <p:spPr>
          <a:xfrm>
            <a:off x="4864608" y="5093207"/>
            <a:ext cx="3602736" cy="88696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65776" y="5193792"/>
            <a:ext cx="3246120" cy="274320"/>
          </a:xfrm>
          <a:prstGeom prst="rect">
            <a:avLst/>
          </a:prstGeom>
          <a:noFill/>
        </p:spPr>
        <p:txBody>
          <a:bodyPr wrap="square" anchor="t" lIns="0" rIns="0" tIns="0" bIns="0">
            <a:spAutoFit/>
          </a:bodyPr>
          <a:lstStyle/>
          <a:p>
            <a:pPr algn="l">
              <a:spcBef>
                <a:spcPts val="0"/>
              </a:spcBef>
              <a:spcAft>
                <a:spcPts val="0"/>
              </a:spcAft>
            </a:pPr>
            <a:r>
              <a:rPr sz="1200" b="1" i="0">
                <a:solidFill>
                  <a:srgbClr val="FFFFFF"/>
                </a:solidFill>
                <a:latin typeface="Segoe UI"/>
              </a:rPr>
              <a:t>System</a:t>
            </a:r>
          </a:p>
        </p:txBody>
      </p:sp>
      <p:sp>
        <p:nvSpPr>
          <p:cNvPr id="39" name="TextBox 38"/>
          <p:cNvSpPr txBox="1"/>
          <p:nvPr/>
        </p:nvSpPr>
        <p:spPr>
          <a:xfrm>
            <a:off x="5065776" y="5477255"/>
            <a:ext cx="3273552" cy="457200"/>
          </a:xfrm>
          <a:prstGeom prst="rect">
            <a:avLst/>
          </a:prstGeom>
          <a:noFill/>
        </p:spPr>
        <p:txBody>
          <a:bodyPr wrap="square" anchor="t" lIns="0" rIns="0" tIns="0" bIns="0">
            <a:spAutoFit/>
          </a:bodyPr>
          <a:lstStyle/>
          <a:p>
            <a:pPr algn="l">
              <a:lnSpc>
                <a:spcPct val="112000"/>
              </a:lnSpc>
              <a:spcBef>
                <a:spcPts val="0"/>
              </a:spcBef>
              <a:spcAft>
                <a:spcPts val="0"/>
              </a:spcAft>
            </a:pPr>
            <a:r>
              <a:rPr sz="930" b="0" i="0">
                <a:solidFill>
                  <a:srgbClr val="A5B4FC"/>
                </a:solidFill>
                <a:latin typeface="Consolas"/>
              </a:rPr>
              <a:t>AuditLog · Notification · Feedback · Announcement · ErrorLog · Setting</a:t>
            </a:r>
          </a:p>
        </p:txBody>
      </p:sp>
      <p:sp>
        <p:nvSpPr>
          <p:cNvPr id="40" name="TextBox 39"/>
          <p:cNvSpPr txBox="1"/>
          <p:nvPr/>
        </p:nvSpPr>
        <p:spPr>
          <a:xfrm>
            <a:off x="8723376" y="1773936"/>
            <a:ext cx="2926080" cy="274320"/>
          </a:xfrm>
          <a:prstGeom prst="rect">
            <a:avLst/>
          </a:prstGeom>
          <a:noFill/>
        </p:spPr>
        <p:txBody>
          <a:bodyPr wrap="square" anchor="t" lIns="0" rIns="0" tIns="0" bIns="0">
            <a:spAutoFit/>
          </a:bodyPr>
          <a:lstStyle/>
          <a:p>
            <a:pPr algn="l">
              <a:spcBef>
                <a:spcPts val="0"/>
              </a:spcBef>
              <a:spcAft>
                <a:spcPts val="0"/>
              </a:spcAft>
            </a:pPr>
            <a:r>
              <a:rPr sz="1100" b="1" i="0" spc="180">
                <a:solidFill>
                  <a:srgbClr val="22D3EE"/>
                </a:solidFill>
                <a:latin typeface="Segoe UI"/>
              </a:rPr>
              <a:t>MODULAR FOLDERS</a:t>
            </a:r>
          </a:p>
        </p:txBody>
      </p:sp>
      <p:sp>
        <p:nvSpPr>
          <p:cNvPr id="41" name="Rounded Rectangle 40"/>
          <p:cNvSpPr/>
          <p:nvPr/>
        </p:nvSpPr>
        <p:spPr>
          <a:xfrm>
            <a:off x="8723376" y="2103120"/>
            <a:ext cx="2944368" cy="3877056"/>
          </a:xfrm>
          <a:prstGeom prst="roundRect">
            <a:avLst>
              <a:gd name="adj" fmla="val 6000"/>
            </a:avLst>
          </a:prstGeom>
          <a:solidFill>
            <a:srgbClr val="10102E"/>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924544" y="2286000"/>
            <a:ext cx="2651760" cy="3017520"/>
          </a:xfrm>
          <a:prstGeom prst="rect">
            <a:avLst/>
          </a:prstGeom>
          <a:noFill/>
        </p:spPr>
        <p:txBody>
          <a:bodyPr wrap="square" anchor="t" lIns="0" rIns="0" tIns="0" bIns="0">
            <a:spAutoFit/>
          </a:bodyPr>
          <a:lstStyle/>
          <a:p>
            <a:pPr algn="l">
              <a:lnSpc>
                <a:spcPct val="128000"/>
              </a:lnSpc>
              <a:spcBef>
                <a:spcPts val="0"/>
              </a:spcBef>
              <a:spcAft>
                <a:spcPts val="0"/>
              </a:spcAft>
            </a:pPr>
            <a:r>
              <a:rPr sz="1030" b="1" i="0">
                <a:solidFill>
                  <a:srgbClr val="FFFFFF"/>
                </a:solidFill>
                <a:latin typeface="Consolas"/>
              </a:rPr>
              <a:t>QuizMaster/</a:t>
            </a:r>
          </a:p>
          <a:p>
            <a:pPr algn="l">
              <a:lnSpc>
                <a:spcPct val="128000"/>
              </a:lnSpc>
              <a:spcBef>
                <a:spcPts val="0"/>
              </a:spcBef>
              <a:spcAft>
                <a:spcPts val="0"/>
              </a:spcAft>
            </a:pPr>
            <a:r>
              <a:rPr sz="1030" b="0" i="0">
                <a:solidFill>
                  <a:srgbClr val="22D3EE"/>
                </a:solidFill>
                <a:latin typeface="Consolas"/>
              </a:rPr>
              <a:t>├─ backend/</a:t>
            </a:r>
          </a:p>
          <a:p>
            <a:pPr algn="l">
              <a:lnSpc>
                <a:spcPct val="128000"/>
              </a:lnSpc>
              <a:spcBef>
                <a:spcPts val="0"/>
              </a:spcBef>
              <a:spcAft>
                <a:spcPts val="0"/>
              </a:spcAft>
            </a:pPr>
            <a:r>
              <a:rPr sz="1030" b="0" i="0">
                <a:solidFill>
                  <a:srgbClr val="CDD1F2"/>
                </a:solidFill>
                <a:latin typeface="Consolas"/>
              </a:rPr>
              <a:t>│  ├─ blueprints/ (7)</a:t>
            </a:r>
          </a:p>
          <a:p>
            <a:pPr algn="l">
              <a:lnSpc>
                <a:spcPct val="128000"/>
              </a:lnSpc>
              <a:spcBef>
                <a:spcPts val="0"/>
              </a:spcBef>
              <a:spcAft>
                <a:spcPts val="0"/>
              </a:spcAft>
            </a:pPr>
            <a:r>
              <a:rPr sz="1030" b="0" i="0">
                <a:solidFill>
                  <a:srgbClr val="CDD1F2"/>
                </a:solidFill>
                <a:latin typeface="Consolas"/>
              </a:rPr>
              <a:t>│  ├─ models/ (4)</a:t>
            </a:r>
          </a:p>
          <a:p>
            <a:pPr algn="l">
              <a:lnSpc>
                <a:spcPct val="128000"/>
              </a:lnSpc>
              <a:spcBef>
                <a:spcPts val="0"/>
              </a:spcBef>
              <a:spcAft>
                <a:spcPts val="0"/>
              </a:spcAft>
            </a:pPr>
            <a:r>
              <a:rPr sz="1030" b="0" i="0">
                <a:solidFill>
                  <a:srgbClr val="CDD1F2"/>
                </a:solidFill>
                <a:latin typeface="Consolas"/>
              </a:rPr>
              <a:t>│  └─ services/ (12)</a:t>
            </a:r>
          </a:p>
          <a:p>
            <a:pPr algn="l">
              <a:lnSpc>
                <a:spcPct val="128000"/>
              </a:lnSpc>
              <a:spcBef>
                <a:spcPts val="0"/>
              </a:spcBef>
              <a:spcAft>
                <a:spcPts val="0"/>
              </a:spcAft>
            </a:pPr>
            <a:r>
              <a:rPr sz="1030" b="0" i="0">
                <a:solidFill>
                  <a:srgbClr val="22D3EE"/>
                </a:solidFill>
                <a:latin typeface="Consolas"/>
              </a:rPr>
              <a:t>├─ frontend/</a:t>
            </a:r>
          </a:p>
          <a:p>
            <a:pPr algn="l">
              <a:lnSpc>
                <a:spcPct val="128000"/>
              </a:lnSpc>
              <a:spcBef>
                <a:spcPts val="0"/>
              </a:spcBef>
              <a:spcAft>
                <a:spcPts val="0"/>
              </a:spcAft>
            </a:pPr>
            <a:r>
              <a:rPr sz="1030" b="0" i="0">
                <a:solidFill>
                  <a:srgbClr val="CDD1F2"/>
                </a:solidFill>
                <a:latin typeface="Consolas"/>
              </a:rPr>
              <a:t>│  ├─ templates/ (79)</a:t>
            </a:r>
          </a:p>
          <a:p>
            <a:pPr algn="l">
              <a:lnSpc>
                <a:spcPct val="128000"/>
              </a:lnSpc>
              <a:spcBef>
                <a:spcPts val="0"/>
              </a:spcBef>
              <a:spcAft>
                <a:spcPts val="0"/>
              </a:spcAft>
            </a:pPr>
            <a:r>
              <a:rPr sz="1030" b="0" i="0">
                <a:solidFill>
                  <a:srgbClr val="CDD1F2"/>
                </a:solidFill>
                <a:latin typeface="Consolas"/>
              </a:rPr>
              <a:t>│  └─ static/ css·js</a:t>
            </a:r>
          </a:p>
          <a:p>
            <a:pPr algn="l">
              <a:lnSpc>
                <a:spcPct val="128000"/>
              </a:lnSpc>
              <a:spcBef>
                <a:spcPts val="0"/>
              </a:spcBef>
              <a:spcAft>
                <a:spcPts val="0"/>
              </a:spcAft>
            </a:pPr>
            <a:r>
              <a:rPr sz="1030" b="0" i="0">
                <a:solidFill>
                  <a:srgbClr val="22D3EE"/>
                </a:solidFill>
                <a:latin typeface="Consolas"/>
              </a:rPr>
              <a:t>├─ database/</a:t>
            </a:r>
          </a:p>
          <a:p>
            <a:pPr algn="l">
              <a:lnSpc>
                <a:spcPct val="128000"/>
              </a:lnSpc>
              <a:spcBef>
                <a:spcPts val="0"/>
              </a:spcBef>
              <a:spcAft>
                <a:spcPts val="0"/>
              </a:spcAft>
            </a:pPr>
            <a:r>
              <a:rPr sz="1030" b="0" i="0">
                <a:solidFill>
                  <a:srgbClr val="CDD1F2"/>
                </a:solidFill>
                <a:latin typeface="Consolas"/>
              </a:rPr>
              <a:t>│  └─ migrations/</a:t>
            </a:r>
          </a:p>
          <a:p>
            <a:pPr algn="l">
              <a:lnSpc>
                <a:spcPct val="128000"/>
              </a:lnSpc>
              <a:spcBef>
                <a:spcPts val="0"/>
              </a:spcBef>
              <a:spcAft>
                <a:spcPts val="0"/>
              </a:spcAft>
            </a:pPr>
            <a:r>
              <a:rPr sz="1030" b="0" i="0">
                <a:solidFill>
                  <a:srgbClr val="22D3EE"/>
                </a:solidFill>
                <a:latin typeface="Consolas"/>
              </a:rPr>
              <a:t>├─ tests/ (pytest)</a:t>
            </a:r>
          </a:p>
          <a:p>
            <a:pPr algn="l">
              <a:lnSpc>
                <a:spcPct val="128000"/>
              </a:lnSpc>
              <a:spcBef>
                <a:spcPts val="0"/>
              </a:spcBef>
              <a:spcAft>
                <a:spcPts val="0"/>
              </a:spcAft>
            </a:pPr>
            <a:r>
              <a:rPr sz="1030" b="0" i="0">
                <a:solidFill>
                  <a:srgbClr val="22D3EE"/>
                </a:solidFill>
                <a:latin typeface="Consolas"/>
              </a:rPr>
              <a:t>├─ docs/ · tqm/</a:t>
            </a:r>
          </a:p>
          <a:p>
            <a:pPr algn="l">
              <a:lnSpc>
                <a:spcPct val="128000"/>
              </a:lnSpc>
              <a:spcBef>
                <a:spcPts val="0"/>
              </a:spcBef>
              <a:spcAft>
                <a:spcPts val="0"/>
              </a:spcAft>
            </a:pPr>
            <a:r>
              <a:rPr sz="1030" b="0" i="0">
                <a:solidFill>
                  <a:srgbClr val="CDD1F2"/>
                </a:solidFill>
                <a:latin typeface="Consolas"/>
              </a:rPr>
              <a:t>└─ app.py · wsgi.py</a:t>
            </a:r>
          </a:p>
        </p:txBody>
      </p:sp>
      <p:sp>
        <p:nvSpPr>
          <p:cNvPr id="43" name="TextBox 42"/>
          <p:cNvSpPr txBox="1"/>
          <p:nvPr/>
        </p:nvSpPr>
        <p:spPr>
          <a:xfrm>
            <a:off x="8924544" y="5413248"/>
            <a:ext cx="2578608" cy="502920"/>
          </a:xfrm>
          <a:prstGeom prst="rect">
            <a:avLst/>
          </a:prstGeom>
          <a:noFill/>
        </p:spPr>
        <p:txBody>
          <a:bodyPr wrap="square" anchor="t" lIns="0" rIns="0" tIns="0" bIns="0">
            <a:spAutoFit/>
          </a:bodyPr>
          <a:lstStyle/>
          <a:p>
            <a:pPr algn="l">
              <a:lnSpc>
                <a:spcPct val="112000"/>
              </a:lnSpc>
              <a:spcBef>
                <a:spcPts val="0"/>
              </a:spcBef>
              <a:spcAft>
                <a:spcPts val="0"/>
              </a:spcAft>
            </a:pPr>
            <a:r>
              <a:rPr sz="950" b="0" i="1">
                <a:solidFill>
                  <a:srgbClr val="9699CC"/>
                </a:solidFill>
                <a:latin typeface="Segoe UI"/>
              </a:rPr>
              <a:t>New feature = new blueprint + service. Nothing else changes.</a:t>
            </a:r>
          </a:p>
        </p:txBody>
      </p:sp>
      <p:sp>
        <p:nvSpPr>
          <p:cNvPr id="44" name="TextBox 43"/>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45" name="TextBox 44"/>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06</a:t>
            </a:r>
            <a:r>
              <a:rPr sz="1000" b="0" i="0">
                <a:solidFill>
                  <a:srgbClr val="6F72AA"/>
                </a:solidFill>
                <a:latin typeface="Segoe UI"/>
              </a:rPr>
              <a:t> / 11</a:t>
            </a:r>
          </a:p>
        </p:txBody>
      </p:sp>
    </p:spTree>
  </p:cSld>
  <p:clrMapOvr>
    <a:masterClrMapping/>
  </p:clrMapOvr>
  <p:transition spd="med" advClick="1">
    <p:fade thruBlk="1"/>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180"/>
                                  </p:stCondLst>
                                  <p:childTnLst>
                                    <p:set>
                                      <p:cBhvr>
                                        <p:cTn id="120" dur="1" fill="hold">
                                          <p:stCondLst>
                                            <p:cond delay="0"/>
                                          </p:stCondLst>
                                          <p:attrNameLst>
                                            <p:attrName>style.visibility</p:attrName>
                                          </p:attrNameLst>
                                        </p:cTn>
                                        <p:tgtEl>
                                          <p:spTgt spid="8"/>
                                        </p:tgtEl>
                                      </p:cBhvr>
                                      <p:to>
                                        <p:strVal val="visible"/>
                                      </p:to>
                                    </p:set>
                                    <p:animEffect transition="in" filter="fade">
                                      <p:cBhvr>
                                        <p:cTn id="121" dur="550"/>
                                        <p:tgtEl>
                                          <p:spTgt spid="8"/>
                                        </p:tgtEl>
                                      </p:cBhvr>
                                    </p:animEffect>
                                  </p:childTnLst>
                                </p:cTn>
                              </p:par>
                            </p:childTnLst>
                          </p:cTn>
                        </p:par>
                        <p:par>
                          <p:cTn id="122" fill="hold">
                            <p:stCondLst>
                              <p:cond delay="0"/>
                            </p:stCondLst>
                            <p:childTnLst>
                              <p:par>
                                <p:cTn id="123" presetID="10" presetClass="entr" presetSubtype="0" fill="hold" grpId="0" nodeType="withEffect">
                                  <p:stCondLst>
                                    <p:cond delay="290"/>
                                  </p:stCondLst>
                                  <p:childTnLst>
                                    <p:set>
                                      <p:cBhvr>
                                        <p:cTn id="124" dur="1" fill="hold">
                                          <p:stCondLst>
                                            <p:cond delay="0"/>
                                          </p:stCondLst>
                                          <p:attrNameLst>
                                            <p:attrName>style.visibility</p:attrName>
                                          </p:attrNameLst>
                                        </p:cTn>
                                        <p:tgtEl>
                                          <p:spTgt spid="13"/>
                                        </p:tgtEl>
                                      </p:cBhvr>
                                      <p:to>
                                        <p:strVal val="visible"/>
                                      </p:to>
                                    </p:set>
                                    <p:animEffect transition="in" filter="fade">
                                      <p:cBhvr>
                                        <p:cTn id="125" dur="550"/>
                                        <p:tgtEl>
                                          <p:spTgt spid="13"/>
                                        </p:tgtEl>
                                      </p:cBhvr>
                                    </p:animEffect>
                                  </p:childTnLst>
                                </p:cTn>
                              </p:par>
                            </p:childTnLst>
                          </p:cTn>
                        </p:par>
                        <p:par>
                          <p:cTn id="126" fill="hold">
                            <p:stCondLst>
                              <p:cond delay="0"/>
                            </p:stCondLst>
                            <p:childTnLst>
                              <p:par>
                                <p:cTn id="127" presetID="10" presetClass="entr" presetSubtype="0" fill="hold" grpId="0" nodeType="withEffect">
                                  <p:stCondLst>
                                    <p:cond delay="400"/>
                                  </p:stCondLst>
                                  <p:childTnLst>
                                    <p:set>
                                      <p:cBhvr>
                                        <p:cTn id="128" dur="1" fill="hold">
                                          <p:stCondLst>
                                            <p:cond delay="0"/>
                                          </p:stCondLst>
                                          <p:attrNameLst>
                                            <p:attrName>style.visibility</p:attrName>
                                          </p:attrNameLst>
                                        </p:cTn>
                                        <p:tgtEl>
                                          <p:spTgt spid="18"/>
                                        </p:tgtEl>
                                      </p:cBhvr>
                                      <p:to>
                                        <p:strVal val="visible"/>
                                      </p:to>
                                    </p:set>
                                    <p:animEffect transition="in" filter="fade">
                                      <p:cBhvr>
                                        <p:cTn id="129" dur="550"/>
                                        <p:tgtEl>
                                          <p:spTgt spid="18"/>
                                        </p:tgtEl>
                                      </p:cBhvr>
                                    </p:animEffect>
                                  </p:childTnLst>
                                </p:cTn>
                              </p:par>
                            </p:childTnLst>
                          </p:cTn>
                        </p:par>
                        <p:par>
                          <p:cTn id="130" fill="hold">
                            <p:stCondLst>
                              <p:cond delay="0"/>
                            </p:stCondLst>
                            <p:childTnLst>
                              <p:par>
                                <p:cTn id="131" presetID="10" presetClass="entr" presetSubtype="0" fill="hold" grpId="0" nodeType="withEffect">
                                  <p:stCondLst>
                                    <p:cond delay="510"/>
                                  </p:stCondLst>
                                  <p:childTnLst>
                                    <p:set>
                                      <p:cBhvr>
                                        <p:cTn id="132" dur="1" fill="hold">
                                          <p:stCondLst>
                                            <p:cond delay="0"/>
                                          </p:stCondLst>
                                          <p:attrNameLst>
                                            <p:attrName>style.visibility</p:attrName>
                                          </p:attrNameLst>
                                        </p:cTn>
                                        <p:tgtEl>
                                          <p:spTgt spid="23"/>
                                        </p:tgtEl>
                                      </p:cBhvr>
                                      <p:to>
                                        <p:strVal val="visible"/>
                                      </p:to>
                                    </p:set>
                                    <p:animEffect transition="in" filter="fade">
                                      <p:cBhvr>
                                        <p:cTn id="133" dur="550"/>
                                        <p:tgtEl>
                                          <p:spTgt spid="23"/>
                                        </p:tgtEl>
                                      </p:cBhvr>
                                    </p:animEffect>
                                  </p:childTnLst>
                                </p:cTn>
                              </p:par>
                            </p:childTnLst>
                          </p:cTn>
                        </p:par>
                        <p:par>
                          <p:cTn id="134" fill="hold">
                            <p:stCondLst>
                              <p:cond delay="0"/>
                            </p:stCondLst>
                            <p:childTnLst>
                              <p:par>
                                <p:cTn id="135" presetID="10" presetClass="entr" presetSubtype="0" fill="hold" grpId="0" nodeType="withEffect">
                                  <p:stCondLst>
                                    <p:cond delay="260"/>
                                  </p:stCondLst>
                                  <p:childTnLst>
                                    <p:set>
                                      <p:cBhvr>
                                        <p:cTn id="136" dur="1" fill="hold">
                                          <p:stCondLst>
                                            <p:cond delay="0"/>
                                          </p:stCondLst>
                                          <p:attrNameLst>
                                            <p:attrName>style.visibility</p:attrName>
                                          </p:attrNameLst>
                                        </p:cTn>
                                        <p:tgtEl>
                                          <p:spTgt spid="28"/>
                                        </p:tgtEl>
                                      </p:cBhvr>
                                      <p:to>
                                        <p:strVal val="visible"/>
                                      </p:to>
                                    </p:set>
                                    <p:animEffect transition="in" filter="fade">
                                      <p:cBhvr>
                                        <p:cTn id="137" dur="550"/>
                                        <p:tgtEl>
                                          <p:spTgt spid="28"/>
                                        </p:tgtEl>
                                      </p:cBhvr>
                                    </p:animEffect>
                                  </p:childTnLst>
                                </p:cTn>
                              </p:par>
                            </p:childTnLst>
                          </p:cTn>
                        </p:par>
                        <p:par>
                          <p:cTn id="138" fill="hold">
                            <p:stCondLst>
                              <p:cond delay="0"/>
                            </p:stCondLst>
                            <p:childTnLst>
                              <p:par>
                                <p:cTn id="139" presetID="10" presetClass="entr" presetSubtype="0" fill="hold" grpId="0" nodeType="withEffect">
                                  <p:stCondLst>
                                    <p:cond delay="370"/>
                                  </p:stCondLst>
                                  <p:childTnLst>
                                    <p:set>
                                      <p:cBhvr>
                                        <p:cTn id="140" dur="1" fill="hold">
                                          <p:stCondLst>
                                            <p:cond delay="0"/>
                                          </p:stCondLst>
                                          <p:attrNameLst>
                                            <p:attrName>style.visibility</p:attrName>
                                          </p:attrNameLst>
                                        </p:cTn>
                                        <p:tgtEl>
                                          <p:spTgt spid="31"/>
                                        </p:tgtEl>
                                      </p:cBhvr>
                                      <p:to>
                                        <p:strVal val="visible"/>
                                      </p:to>
                                    </p:set>
                                    <p:animEffect transition="in" filter="fade">
                                      <p:cBhvr>
                                        <p:cTn id="141" dur="550"/>
                                        <p:tgtEl>
                                          <p:spTgt spid="31"/>
                                        </p:tgtEl>
                                      </p:cBhvr>
                                    </p:animEffect>
                                  </p:childTnLst>
                                </p:cTn>
                              </p:par>
                            </p:childTnLst>
                          </p:cTn>
                        </p:par>
                        <p:par>
                          <p:cTn id="142" fill="hold">
                            <p:stCondLst>
                              <p:cond delay="0"/>
                            </p:stCondLst>
                            <p:childTnLst>
                              <p:par>
                                <p:cTn id="143" presetID="10" presetClass="entr" presetSubtype="0" fill="hold" grpId="0" nodeType="withEffect">
                                  <p:stCondLst>
                                    <p:cond delay="480"/>
                                  </p:stCondLst>
                                  <p:childTnLst>
                                    <p:set>
                                      <p:cBhvr>
                                        <p:cTn id="144" dur="1" fill="hold">
                                          <p:stCondLst>
                                            <p:cond delay="0"/>
                                          </p:stCondLst>
                                          <p:attrNameLst>
                                            <p:attrName>style.visibility</p:attrName>
                                          </p:attrNameLst>
                                        </p:cTn>
                                        <p:tgtEl>
                                          <p:spTgt spid="34"/>
                                        </p:tgtEl>
                                      </p:cBhvr>
                                      <p:to>
                                        <p:strVal val="visible"/>
                                      </p:to>
                                    </p:set>
                                    <p:animEffect transition="in" filter="fade">
                                      <p:cBhvr>
                                        <p:cTn id="145" dur="550"/>
                                        <p:tgtEl>
                                          <p:spTgt spid="34"/>
                                        </p:tgtEl>
                                      </p:cBhvr>
                                    </p:animEffect>
                                  </p:childTnLst>
                                </p:cTn>
                              </p:par>
                            </p:childTnLst>
                          </p:cTn>
                        </p:par>
                        <p:par>
                          <p:cTn id="146" fill="hold">
                            <p:stCondLst>
                              <p:cond delay="0"/>
                            </p:stCondLst>
                            <p:childTnLst>
                              <p:par>
                                <p:cTn id="147" presetID="10" presetClass="entr" presetSubtype="0" fill="hold" grpId="0" nodeType="withEffect">
                                  <p:stCondLst>
                                    <p:cond delay="590"/>
                                  </p:stCondLst>
                                  <p:childTnLst>
                                    <p:set>
                                      <p:cBhvr>
                                        <p:cTn id="148" dur="1" fill="hold">
                                          <p:stCondLst>
                                            <p:cond delay="0"/>
                                          </p:stCondLst>
                                          <p:attrNameLst>
                                            <p:attrName>style.visibility</p:attrName>
                                          </p:attrNameLst>
                                        </p:cTn>
                                        <p:tgtEl>
                                          <p:spTgt spid="37"/>
                                        </p:tgtEl>
                                      </p:cBhvr>
                                      <p:to>
                                        <p:strVal val="visible"/>
                                      </p:to>
                                    </p:set>
                                    <p:animEffect transition="in" filter="fade">
                                      <p:cBhvr>
                                        <p:cTn id="149" dur="550"/>
                                        <p:tgtEl>
                                          <p:spTgt spid="37"/>
                                        </p:tgtEl>
                                      </p:cBhvr>
                                    </p:animEffect>
                                  </p:childTnLst>
                                </p:cTn>
                              </p:par>
                            </p:childTnLst>
                          </p:cTn>
                        </p:par>
                        <p:par>
                          <p:cTn id="150" fill="hold">
                            <p:stCondLst>
                              <p:cond delay="0"/>
                            </p:stCondLst>
                            <p:childTnLst>
                              <p:par>
                                <p:cTn id="151" presetID="10" presetClass="entr" presetSubtype="0" fill="hold" grpId="0" nodeType="withEffect">
                                  <p:stCondLst>
                                    <p:cond delay="340"/>
                                  </p:stCondLst>
                                  <p:childTnLst>
                                    <p:set>
                                      <p:cBhvr>
                                        <p:cTn id="152" dur="1" fill="hold">
                                          <p:stCondLst>
                                            <p:cond delay="0"/>
                                          </p:stCondLst>
                                          <p:attrNameLst>
                                            <p:attrName>style.visibility</p:attrName>
                                          </p:attrNameLst>
                                        </p:cTn>
                                        <p:tgtEl>
                                          <p:spTgt spid="41"/>
                                        </p:tgtEl>
                                      </p:cBhvr>
                                      <p:to>
                                        <p:strVal val="visible"/>
                                      </p:to>
                                    </p:set>
                                    <p:animEffect transition="in" filter="fade">
                                      <p:cBhvr>
                                        <p:cTn id="153" dur="550"/>
                                        <p:tgtEl>
                                          <p:spTgt spid="41"/>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cc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MAIN SYSTEM WORKFLOW</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From sign-up to insight in </a:t>
            </a:r>
            <a:r>
              <a:rPr sz="2700" b="1" i="0">
                <a:gradFill rotWithShape="1">
                  <a:gsLst>
                    <a:gs pos="0">
                      <a:srgbClr val="6366F1"/>
                    </a:gs>
                    <a:gs pos="55000">
                      <a:srgbClr val="8B5CF6"/>
                    </a:gs>
                    <a:gs pos="100000">
                      <a:srgbClr val="06B6D4"/>
                    </a:gs>
                  </a:gsLst>
                  <a:lin ang="0" scaled="1"/>
                </a:gradFill>
                <a:latin typeface="Segoe UI"/>
              </a:rPr>
              <a:t>six steps</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Designed so answers are never lost — and results need zero manual work.</a:t>
            </a:r>
          </a:p>
        </p:txBody>
      </p:sp>
      <p:sp>
        <p:nvSpPr>
          <p:cNvPr id="7" name="Pentagon 6"/>
          <p:cNvSpPr/>
          <p:nvPr/>
        </p:nvSpPr>
        <p:spPr>
          <a:xfrm>
            <a:off x="600303" y="1847088"/>
            <a:ext cx="1938528" cy="749808"/>
          </a:xfrm>
          <a:prstGeom prst="homePlate">
            <a:avLst/>
          </a:prstGeom>
          <a:gradFill rotWithShape="1">
            <a:gsLst>
              <a:gs pos="0">
                <a:srgbClr val="6366F1"/>
              </a:gs>
              <a:gs pos="55000">
                <a:srgbClr val="8B5CF6"/>
              </a:gs>
              <a:gs pos="100000">
                <a:srgbClr val="06B6D4"/>
              </a:gs>
            </a:gsLst>
            <a:lin ang="0" scaled="1"/>
          </a:gradFill>
          <a:ln w="9525">
            <a:solidFill>
              <a:srgbClr val="6366F1"/>
            </a:solidFill>
          </a:ln>
          <a:effectLst>
            <a:outerShdw blurRad="64008" dist="36576"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46304" rIns="45720" tIns="18288" bIns="18288"/>
          <a:lstStyle/>
          <a:p>
            <a:pPr algn="ctr"/>
            <a:r>
              <a:rPr sz="1300" b="1" i="0">
                <a:solidFill>
                  <a:srgbClr val="FFFFFF"/>
                </a:solidFill>
                <a:latin typeface="Segoe UI"/>
              </a:rPr>
              <a:t>1 · Register</a:t>
            </a:r>
          </a:p>
          <a:p>
            <a:pPr algn="l">
              <a:lnSpc>
                <a:spcPct val="100000"/>
              </a:lnSpc>
              <a:spcBef>
                <a:spcPts val="0"/>
              </a:spcBef>
              <a:spcAft>
                <a:spcPts val="0"/>
              </a:spcAft>
            </a:pPr>
            <a:r>
              <a:rPr sz="900" b="0" i="0">
                <a:solidFill>
                  <a:srgbClr val="E3E5FF"/>
                </a:solidFill>
                <a:latin typeface="Segoe UI"/>
              </a:rPr>
              <a:t>email OTP verified</a:t>
            </a:r>
          </a:p>
        </p:txBody>
      </p:sp>
      <p:sp>
        <p:nvSpPr>
          <p:cNvPr id="8" name="Chevron 7"/>
          <p:cNvSpPr/>
          <p:nvPr/>
        </p:nvSpPr>
        <p:spPr>
          <a:xfrm>
            <a:off x="2410815" y="1847088"/>
            <a:ext cx="1938528" cy="749808"/>
          </a:xfrm>
          <a:prstGeom prst="chevron">
            <a:avLst/>
          </a:prstGeom>
          <a:gradFill rotWithShape="1">
            <a:gsLst>
              <a:gs pos="0">
                <a:srgbClr val="6366F1"/>
              </a:gs>
              <a:gs pos="55000">
                <a:srgbClr val="8B5CF6"/>
              </a:gs>
              <a:gs pos="100000">
                <a:srgbClr val="06B6D4"/>
              </a:gs>
            </a:gsLst>
            <a:lin ang="0" scaled="1"/>
          </a:gradFill>
          <a:ln w="9525">
            <a:solidFill>
              <a:srgbClr val="6366F1"/>
            </a:solidFill>
          </a:ln>
          <a:effectLst>
            <a:outerShdw blurRad="64008" dist="36576"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10896" rIns="45720" tIns="18288" bIns="18288"/>
          <a:lstStyle/>
          <a:p>
            <a:pPr algn="ctr"/>
            <a:r>
              <a:rPr sz="1300" b="1" i="0">
                <a:solidFill>
                  <a:srgbClr val="FFFFFF"/>
                </a:solidFill>
                <a:latin typeface="Segoe UI"/>
              </a:rPr>
              <a:t>2 · Explore</a:t>
            </a:r>
          </a:p>
          <a:p>
            <a:pPr algn="l">
              <a:lnSpc>
                <a:spcPct val="100000"/>
              </a:lnSpc>
              <a:spcBef>
                <a:spcPts val="0"/>
              </a:spcBef>
              <a:spcAft>
                <a:spcPts val="0"/>
              </a:spcAft>
            </a:pPr>
            <a:r>
              <a:rPr sz="900" b="0" i="0">
                <a:solidFill>
                  <a:srgbClr val="E3E5FF"/>
                </a:solidFill>
                <a:latin typeface="Segoe UI"/>
              </a:rPr>
              <a:t>pick a quiz</a:t>
            </a:r>
          </a:p>
        </p:txBody>
      </p:sp>
      <p:sp>
        <p:nvSpPr>
          <p:cNvPr id="9" name="Chevron 8"/>
          <p:cNvSpPr/>
          <p:nvPr/>
        </p:nvSpPr>
        <p:spPr>
          <a:xfrm>
            <a:off x="4221327" y="1847088"/>
            <a:ext cx="1938528" cy="749808"/>
          </a:xfrm>
          <a:prstGeom prst="chevron">
            <a:avLst/>
          </a:prstGeom>
          <a:gradFill rotWithShape="1">
            <a:gsLst>
              <a:gs pos="0">
                <a:srgbClr val="6366F1"/>
              </a:gs>
              <a:gs pos="55000">
                <a:srgbClr val="8B5CF6"/>
              </a:gs>
              <a:gs pos="100000">
                <a:srgbClr val="06B6D4"/>
              </a:gs>
            </a:gsLst>
            <a:lin ang="0" scaled="1"/>
          </a:gradFill>
          <a:ln w="9525">
            <a:solidFill>
              <a:srgbClr val="6366F1"/>
            </a:solidFill>
          </a:ln>
          <a:effectLst>
            <a:outerShdw blurRad="64008" dist="36576"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10896" rIns="45720" tIns="18288" bIns="18288"/>
          <a:lstStyle/>
          <a:p>
            <a:pPr algn="ctr"/>
            <a:r>
              <a:rPr sz="1300" b="1" i="0">
                <a:solidFill>
                  <a:srgbClr val="FFFFFF"/>
                </a:solidFill>
                <a:latin typeface="Segoe UI"/>
              </a:rPr>
              <a:t>3 · Attempt</a:t>
            </a:r>
          </a:p>
          <a:p>
            <a:pPr algn="l">
              <a:lnSpc>
                <a:spcPct val="100000"/>
              </a:lnSpc>
              <a:spcBef>
                <a:spcPts val="0"/>
              </a:spcBef>
              <a:spcAft>
                <a:spcPts val="0"/>
              </a:spcAft>
            </a:pPr>
            <a:r>
              <a:rPr sz="900" b="0" i="0">
                <a:solidFill>
                  <a:srgbClr val="E3E5FF"/>
                </a:solidFill>
                <a:latin typeface="Segoe UI"/>
              </a:rPr>
              <a:t>timer + autosave</a:t>
            </a:r>
          </a:p>
        </p:txBody>
      </p:sp>
      <p:sp>
        <p:nvSpPr>
          <p:cNvPr id="10" name="Chevron 9"/>
          <p:cNvSpPr/>
          <p:nvPr/>
        </p:nvSpPr>
        <p:spPr>
          <a:xfrm>
            <a:off x="6031839" y="1847088"/>
            <a:ext cx="1938528" cy="749808"/>
          </a:xfrm>
          <a:prstGeom prst="chevron">
            <a:avLst/>
          </a:prstGeom>
          <a:gradFill rotWithShape="1">
            <a:gsLst>
              <a:gs pos="0">
                <a:srgbClr val="6366F1"/>
              </a:gs>
              <a:gs pos="55000">
                <a:srgbClr val="8B5CF6"/>
              </a:gs>
              <a:gs pos="100000">
                <a:srgbClr val="06B6D4"/>
              </a:gs>
            </a:gsLst>
            <a:lin ang="0" scaled="1"/>
          </a:gradFill>
          <a:ln w="9525">
            <a:solidFill>
              <a:srgbClr val="6366F1"/>
            </a:solidFill>
          </a:ln>
          <a:effectLst>
            <a:outerShdw blurRad="64008" dist="36576"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10896" rIns="45720" tIns="18288" bIns="18288"/>
          <a:lstStyle/>
          <a:p>
            <a:pPr algn="ctr"/>
            <a:r>
              <a:rPr sz="1300" b="1" i="0">
                <a:solidFill>
                  <a:srgbClr val="FFFFFF"/>
                </a:solidFill>
                <a:latin typeface="Segoe UI"/>
              </a:rPr>
              <a:t>4 · Submit</a:t>
            </a:r>
          </a:p>
          <a:p>
            <a:pPr algn="l">
              <a:lnSpc>
                <a:spcPct val="100000"/>
              </a:lnSpc>
              <a:spcBef>
                <a:spcPts val="0"/>
              </a:spcBef>
              <a:spcAft>
                <a:spcPts val="0"/>
              </a:spcAft>
            </a:pPr>
            <a:r>
              <a:rPr sz="900" b="0" i="0">
                <a:solidFill>
                  <a:srgbClr val="E3E5FF"/>
                </a:solidFill>
                <a:latin typeface="Segoe UI"/>
              </a:rPr>
              <a:t>instant grading</a:t>
            </a:r>
          </a:p>
        </p:txBody>
      </p:sp>
      <p:sp>
        <p:nvSpPr>
          <p:cNvPr id="11" name="Chevron 10"/>
          <p:cNvSpPr/>
          <p:nvPr/>
        </p:nvSpPr>
        <p:spPr>
          <a:xfrm>
            <a:off x="7842351" y="1847088"/>
            <a:ext cx="1938528" cy="749808"/>
          </a:xfrm>
          <a:prstGeom prst="chevron">
            <a:avLst/>
          </a:prstGeom>
          <a:gradFill rotWithShape="1">
            <a:gsLst>
              <a:gs pos="0">
                <a:srgbClr val="6366F1"/>
              </a:gs>
              <a:gs pos="55000">
                <a:srgbClr val="8B5CF6"/>
              </a:gs>
              <a:gs pos="100000">
                <a:srgbClr val="06B6D4"/>
              </a:gs>
            </a:gsLst>
            <a:lin ang="0" scaled="1"/>
          </a:gradFill>
          <a:ln w="9525">
            <a:solidFill>
              <a:srgbClr val="6366F1"/>
            </a:solidFill>
          </a:ln>
          <a:effectLst>
            <a:outerShdw blurRad="64008" dist="36576"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10896" rIns="45720" tIns="18288" bIns="18288"/>
          <a:lstStyle/>
          <a:p>
            <a:pPr algn="ctr"/>
            <a:r>
              <a:rPr sz="1300" b="1" i="0">
                <a:solidFill>
                  <a:srgbClr val="FFFFFF"/>
                </a:solidFill>
                <a:latin typeface="Segoe UI"/>
              </a:rPr>
              <a:t>5 · Review</a:t>
            </a:r>
          </a:p>
          <a:p>
            <a:pPr algn="l">
              <a:lnSpc>
                <a:spcPct val="100000"/>
              </a:lnSpc>
              <a:spcBef>
                <a:spcPts val="0"/>
              </a:spcBef>
              <a:spcAft>
                <a:spcPts val="0"/>
              </a:spcAft>
            </a:pPr>
            <a:r>
              <a:rPr sz="900" b="0" i="0">
                <a:solidFill>
                  <a:srgbClr val="E3E5FF"/>
                </a:solidFill>
                <a:latin typeface="Segoe UI"/>
              </a:rPr>
              <a:t>results &amp; history</a:t>
            </a:r>
          </a:p>
        </p:txBody>
      </p:sp>
      <p:sp>
        <p:nvSpPr>
          <p:cNvPr id="12" name="Chevron 11"/>
          <p:cNvSpPr/>
          <p:nvPr/>
        </p:nvSpPr>
        <p:spPr>
          <a:xfrm>
            <a:off x="9652863" y="1847088"/>
            <a:ext cx="1938528" cy="749808"/>
          </a:xfrm>
          <a:prstGeom prst="chevron">
            <a:avLst/>
          </a:prstGeom>
          <a:gradFill rotWithShape="1">
            <a:gsLst>
              <a:gs pos="0">
                <a:srgbClr val="6366F1"/>
              </a:gs>
              <a:gs pos="55000">
                <a:srgbClr val="8B5CF6"/>
              </a:gs>
              <a:gs pos="100000">
                <a:srgbClr val="06B6D4"/>
              </a:gs>
            </a:gsLst>
            <a:lin ang="0" scaled="1"/>
          </a:gradFill>
          <a:ln w="9525">
            <a:solidFill>
              <a:srgbClr val="6366F1"/>
            </a:solidFill>
          </a:ln>
          <a:effectLst>
            <a:outerShdw blurRad="64008" dist="36576" dir="5400000" rotWithShape="0">
              <a:srgbClr val="000000">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10896" rIns="45720" tIns="18288" bIns="18288"/>
          <a:lstStyle/>
          <a:p>
            <a:pPr algn="ctr"/>
            <a:r>
              <a:rPr sz="1300" b="1" i="0">
                <a:solidFill>
                  <a:srgbClr val="FFFFFF"/>
                </a:solidFill>
                <a:latin typeface="Segoe UI"/>
              </a:rPr>
              <a:t>6 · Improve</a:t>
            </a:r>
          </a:p>
          <a:p>
            <a:pPr algn="l">
              <a:lnSpc>
                <a:spcPct val="100000"/>
              </a:lnSpc>
              <a:spcBef>
                <a:spcPts val="0"/>
              </a:spcBef>
              <a:spcAft>
                <a:spcPts val="0"/>
              </a:spcAft>
            </a:pPr>
            <a:r>
              <a:rPr sz="900" b="0" i="0">
                <a:solidFill>
                  <a:srgbClr val="E3E5FF"/>
                </a:solidFill>
                <a:latin typeface="Segoe UI"/>
              </a:rPr>
              <a:t>analytics → PDCA</a:t>
            </a:r>
          </a:p>
        </p:txBody>
      </p:sp>
      <p:sp>
        <p:nvSpPr>
          <p:cNvPr id="13" name="TextBox 12"/>
          <p:cNvSpPr txBox="1"/>
          <p:nvPr/>
        </p:nvSpPr>
        <p:spPr>
          <a:xfrm>
            <a:off x="521207" y="2688336"/>
            <a:ext cx="11149279" cy="256032"/>
          </a:xfrm>
          <a:prstGeom prst="rect">
            <a:avLst/>
          </a:prstGeom>
          <a:noFill/>
        </p:spPr>
        <p:txBody>
          <a:bodyPr wrap="square" anchor="t" lIns="0" rIns="0" tIns="0" bIns="0">
            <a:spAutoFit/>
          </a:bodyPr>
          <a:lstStyle/>
          <a:p>
            <a:pPr algn="r">
              <a:spcBef>
                <a:spcPts val="0"/>
              </a:spcBef>
              <a:spcAft>
                <a:spcPts val="0"/>
              </a:spcAft>
            </a:pPr>
            <a:r>
              <a:rPr sz="1050" b="0" i="1">
                <a:solidFill>
                  <a:srgbClr val="9699CC"/>
                </a:solidFill>
                <a:latin typeface="Segoe UI"/>
              </a:rPr>
              <a:t>Step 6 feeds improvements back into better quizzes — a continuous PDCA loop.</a:t>
            </a:r>
          </a:p>
        </p:txBody>
      </p:sp>
      <p:sp>
        <p:nvSpPr>
          <p:cNvPr id="14" name="Rounded Rectangle 13"/>
          <p:cNvSpPr/>
          <p:nvPr/>
        </p:nvSpPr>
        <p:spPr>
          <a:xfrm>
            <a:off x="521207" y="3017520"/>
            <a:ext cx="2697480" cy="1929384"/>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76656" y="3099816"/>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099816"/>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0704" y="3099816"/>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249527" y="3049524"/>
            <a:ext cx="1240840"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49527" y="3049524"/>
            <a:ext cx="1240840"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20" name="Picture 19" descr="login.jpg"/>
          <p:cNvPicPr>
            <a:picLocks noChangeAspect="1"/>
          </p:cNvPicPr>
          <p:nvPr/>
        </p:nvPicPr>
        <p:blipFill>
          <a:blip r:embed="rId3"/>
          <a:stretch>
            <a:fillRect/>
          </a:stretch>
        </p:blipFill>
        <p:spPr>
          <a:xfrm>
            <a:off x="571500" y="3273552"/>
            <a:ext cx="2596896" cy="1623060"/>
          </a:xfrm>
          <a:prstGeom prst="roundRect">
            <a:avLst>
              <a:gd name="adj" fmla="val 2600"/>
            </a:avLst>
          </a:prstGeom>
        </p:spPr>
      </p:pic>
      <p:sp>
        <p:nvSpPr>
          <p:cNvPr id="21" name="TextBox 20"/>
          <p:cNvSpPr txBox="1"/>
          <p:nvPr/>
        </p:nvSpPr>
        <p:spPr>
          <a:xfrm>
            <a:off x="521207" y="5029200"/>
            <a:ext cx="2697480" cy="274320"/>
          </a:xfrm>
          <a:prstGeom prst="rect">
            <a:avLst/>
          </a:prstGeom>
          <a:noFill/>
        </p:spPr>
        <p:txBody>
          <a:bodyPr wrap="square" anchor="t" lIns="0" rIns="0" tIns="0" bIns="0">
            <a:spAutoFit/>
          </a:bodyPr>
          <a:lstStyle/>
          <a:p>
            <a:pPr algn="ctr">
              <a:spcBef>
                <a:spcPts val="0"/>
              </a:spcBef>
              <a:spcAft>
                <a:spcPts val="0"/>
              </a:spcAft>
            </a:pPr>
            <a:r>
              <a:rPr sz="1100" b="1" i="0">
                <a:solidFill>
                  <a:srgbClr val="CDD1F2"/>
                </a:solidFill>
                <a:latin typeface="Segoe UI"/>
              </a:rPr>
              <a:t>Secure sign-in</a:t>
            </a:r>
          </a:p>
        </p:txBody>
      </p:sp>
      <p:sp>
        <p:nvSpPr>
          <p:cNvPr id="22" name="Rounded Rectangle 21"/>
          <p:cNvSpPr/>
          <p:nvPr/>
        </p:nvSpPr>
        <p:spPr>
          <a:xfrm>
            <a:off x="3337560" y="3017520"/>
            <a:ext cx="2697480" cy="1929384"/>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93008" y="3099816"/>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685032" y="3099816"/>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877056" y="3099816"/>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065879" y="3049524"/>
            <a:ext cx="1240840"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65879" y="3049524"/>
            <a:ext cx="1240840"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28" name="Picture 27" descr="explore.jpg"/>
          <p:cNvPicPr>
            <a:picLocks noChangeAspect="1"/>
          </p:cNvPicPr>
          <p:nvPr/>
        </p:nvPicPr>
        <p:blipFill>
          <a:blip r:embed="rId4"/>
          <a:stretch>
            <a:fillRect/>
          </a:stretch>
        </p:blipFill>
        <p:spPr>
          <a:xfrm>
            <a:off x="3387852" y="3273552"/>
            <a:ext cx="2596896" cy="1623060"/>
          </a:xfrm>
          <a:prstGeom prst="roundRect">
            <a:avLst>
              <a:gd name="adj" fmla="val 2600"/>
            </a:avLst>
          </a:prstGeom>
        </p:spPr>
      </p:pic>
      <p:sp>
        <p:nvSpPr>
          <p:cNvPr id="29" name="TextBox 28"/>
          <p:cNvSpPr txBox="1"/>
          <p:nvPr/>
        </p:nvSpPr>
        <p:spPr>
          <a:xfrm>
            <a:off x="3337560" y="5029200"/>
            <a:ext cx="2697480" cy="274320"/>
          </a:xfrm>
          <a:prstGeom prst="rect">
            <a:avLst/>
          </a:prstGeom>
          <a:noFill/>
        </p:spPr>
        <p:txBody>
          <a:bodyPr wrap="square" anchor="t" lIns="0" rIns="0" tIns="0" bIns="0">
            <a:spAutoFit/>
          </a:bodyPr>
          <a:lstStyle/>
          <a:p>
            <a:pPr algn="ctr">
              <a:spcBef>
                <a:spcPts val="0"/>
              </a:spcBef>
              <a:spcAft>
                <a:spcPts val="0"/>
              </a:spcAft>
            </a:pPr>
            <a:r>
              <a:rPr sz="1100" b="1" i="0">
                <a:solidFill>
                  <a:srgbClr val="CDD1F2"/>
                </a:solidFill>
                <a:latin typeface="Segoe UI"/>
              </a:rPr>
              <a:t>Explore quizzes</a:t>
            </a:r>
          </a:p>
        </p:txBody>
      </p:sp>
      <p:sp>
        <p:nvSpPr>
          <p:cNvPr id="30" name="Rounded Rectangle 29"/>
          <p:cNvSpPr/>
          <p:nvPr/>
        </p:nvSpPr>
        <p:spPr>
          <a:xfrm>
            <a:off x="6153912" y="3017520"/>
            <a:ext cx="2697480" cy="1929384"/>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09360" y="3099816"/>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01384" y="3099816"/>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93408" y="3099816"/>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882231" y="3049524"/>
            <a:ext cx="1240840"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82231" y="3049524"/>
            <a:ext cx="1240840"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36" name="Picture 35" descr="quiz_player.jpg"/>
          <p:cNvPicPr>
            <a:picLocks noChangeAspect="1"/>
          </p:cNvPicPr>
          <p:nvPr/>
        </p:nvPicPr>
        <p:blipFill>
          <a:blip r:embed="rId5"/>
          <a:stretch>
            <a:fillRect/>
          </a:stretch>
        </p:blipFill>
        <p:spPr>
          <a:xfrm>
            <a:off x="6204204" y="3273552"/>
            <a:ext cx="2596896" cy="1623060"/>
          </a:xfrm>
          <a:prstGeom prst="roundRect">
            <a:avLst>
              <a:gd name="adj" fmla="val 2600"/>
            </a:avLst>
          </a:prstGeom>
        </p:spPr>
      </p:pic>
      <p:sp>
        <p:nvSpPr>
          <p:cNvPr id="37" name="TextBox 36"/>
          <p:cNvSpPr txBox="1"/>
          <p:nvPr/>
        </p:nvSpPr>
        <p:spPr>
          <a:xfrm>
            <a:off x="6153912" y="5029200"/>
            <a:ext cx="2697480" cy="274320"/>
          </a:xfrm>
          <a:prstGeom prst="rect">
            <a:avLst/>
          </a:prstGeom>
          <a:noFill/>
        </p:spPr>
        <p:txBody>
          <a:bodyPr wrap="square" anchor="t" lIns="0" rIns="0" tIns="0" bIns="0">
            <a:spAutoFit/>
          </a:bodyPr>
          <a:lstStyle/>
          <a:p>
            <a:pPr algn="ctr">
              <a:spcBef>
                <a:spcPts val="0"/>
              </a:spcBef>
              <a:spcAft>
                <a:spcPts val="0"/>
              </a:spcAft>
            </a:pPr>
            <a:r>
              <a:rPr sz="1100" b="1" i="0">
                <a:solidFill>
                  <a:srgbClr val="CDD1F2"/>
                </a:solidFill>
                <a:latin typeface="Segoe UI"/>
              </a:rPr>
              <a:t>Focused quiz player</a:t>
            </a:r>
          </a:p>
        </p:txBody>
      </p:sp>
      <p:sp>
        <p:nvSpPr>
          <p:cNvPr id="38" name="Rounded Rectangle 37"/>
          <p:cNvSpPr/>
          <p:nvPr/>
        </p:nvSpPr>
        <p:spPr>
          <a:xfrm>
            <a:off x="8970264" y="3017520"/>
            <a:ext cx="2697480" cy="1929384"/>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125712" y="3099816"/>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317736" y="3099816"/>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509760" y="3099816"/>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698583" y="3049524"/>
            <a:ext cx="1240840"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98583" y="3049524"/>
            <a:ext cx="1240840"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44" name="Picture 43" descr="results.jpg"/>
          <p:cNvPicPr>
            <a:picLocks noChangeAspect="1"/>
          </p:cNvPicPr>
          <p:nvPr/>
        </p:nvPicPr>
        <p:blipFill>
          <a:blip r:embed="rId6"/>
          <a:stretch>
            <a:fillRect/>
          </a:stretch>
        </p:blipFill>
        <p:spPr>
          <a:xfrm>
            <a:off x="9020556" y="3273552"/>
            <a:ext cx="2596896" cy="1623060"/>
          </a:xfrm>
          <a:prstGeom prst="roundRect">
            <a:avLst>
              <a:gd name="adj" fmla="val 2600"/>
            </a:avLst>
          </a:prstGeom>
        </p:spPr>
      </p:pic>
      <p:sp>
        <p:nvSpPr>
          <p:cNvPr id="45" name="TextBox 44"/>
          <p:cNvSpPr txBox="1"/>
          <p:nvPr/>
        </p:nvSpPr>
        <p:spPr>
          <a:xfrm>
            <a:off x="8970264" y="5029200"/>
            <a:ext cx="2697480" cy="274320"/>
          </a:xfrm>
          <a:prstGeom prst="rect">
            <a:avLst/>
          </a:prstGeom>
          <a:noFill/>
        </p:spPr>
        <p:txBody>
          <a:bodyPr wrap="square" anchor="t" lIns="0" rIns="0" tIns="0" bIns="0">
            <a:spAutoFit/>
          </a:bodyPr>
          <a:lstStyle/>
          <a:p>
            <a:pPr algn="ctr">
              <a:spcBef>
                <a:spcPts val="0"/>
              </a:spcBef>
              <a:spcAft>
                <a:spcPts val="0"/>
              </a:spcAft>
            </a:pPr>
            <a:r>
              <a:rPr sz="1100" b="1" i="0">
                <a:solidFill>
                  <a:srgbClr val="CDD1F2"/>
                </a:solidFill>
                <a:latin typeface="Segoe UI"/>
              </a:rPr>
              <a:t>Instant results</a:t>
            </a:r>
          </a:p>
        </p:txBody>
      </p:sp>
      <p:sp>
        <p:nvSpPr>
          <p:cNvPr id="46" name="Rounded Rectangle 45"/>
          <p:cNvSpPr/>
          <p:nvPr/>
        </p:nvSpPr>
        <p:spPr>
          <a:xfrm>
            <a:off x="521207" y="5559552"/>
            <a:ext cx="3639312" cy="475488"/>
          </a:xfrm>
          <a:prstGeom prst="roundRect">
            <a:avLst>
              <a:gd name="adj" fmla="val 22000"/>
            </a:avLst>
          </a:prstGeom>
          <a:solidFill>
            <a:srgbClr val="14143A"/>
          </a:solidFill>
          <a:ln w="12700">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7" y="5559552"/>
            <a:ext cx="3639312" cy="475488"/>
          </a:xfrm>
          <a:prstGeom prst="rect">
            <a:avLst/>
          </a:prstGeom>
          <a:noFill/>
        </p:spPr>
        <p:txBody>
          <a:bodyPr wrap="square" anchor="ctr" lIns="0" rIns="0" tIns="0" bIns="0">
            <a:spAutoFit/>
          </a:bodyPr>
          <a:lstStyle/>
          <a:p>
            <a:pPr algn="ctr">
              <a:spcBef>
                <a:spcPts val="0"/>
              </a:spcBef>
              <a:spcAft>
                <a:spcPts val="0"/>
              </a:spcAft>
            </a:pPr>
            <a:r>
              <a:rPr sz="1150" b="1" i="0">
                <a:solidFill>
                  <a:srgbClr val="FFFFFF"/>
                </a:solidFill>
                <a:latin typeface="Segoe UI"/>
              </a:rPr>
              <a:t>✓  Answers autosave as you type</a:t>
            </a:r>
          </a:p>
        </p:txBody>
      </p:sp>
      <p:sp>
        <p:nvSpPr>
          <p:cNvPr id="48" name="Rounded Rectangle 47"/>
          <p:cNvSpPr/>
          <p:nvPr/>
        </p:nvSpPr>
        <p:spPr>
          <a:xfrm>
            <a:off x="4274820" y="5559552"/>
            <a:ext cx="3639312" cy="475488"/>
          </a:xfrm>
          <a:prstGeom prst="roundRect">
            <a:avLst>
              <a:gd name="adj" fmla="val 22000"/>
            </a:avLst>
          </a:prstGeom>
          <a:solidFill>
            <a:srgbClr val="14143A"/>
          </a:solidFill>
          <a:ln w="12700">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74820" y="5559552"/>
            <a:ext cx="3639312" cy="475488"/>
          </a:xfrm>
          <a:prstGeom prst="rect">
            <a:avLst/>
          </a:prstGeom>
          <a:noFill/>
        </p:spPr>
        <p:txBody>
          <a:bodyPr wrap="square" anchor="ctr" lIns="0" rIns="0" tIns="0" bIns="0">
            <a:spAutoFit/>
          </a:bodyPr>
          <a:lstStyle/>
          <a:p>
            <a:pPr algn="ctr">
              <a:spcBef>
                <a:spcPts val="0"/>
              </a:spcBef>
              <a:spcAft>
                <a:spcPts val="0"/>
              </a:spcAft>
            </a:pPr>
            <a:r>
              <a:rPr sz="1150" b="1" i="0">
                <a:solidFill>
                  <a:srgbClr val="FFFFFF"/>
                </a:solidFill>
                <a:latin typeface="Segoe UI"/>
              </a:rPr>
              <a:t>✓  Auto-submits when time runs out</a:t>
            </a:r>
          </a:p>
        </p:txBody>
      </p:sp>
      <p:sp>
        <p:nvSpPr>
          <p:cNvPr id="50" name="Rounded Rectangle 49"/>
          <p:cNvSpPr/>
          <p:nvPr/>
        </p:nvSpPr>
        <p:spPr>
          <a:xfrm>
            <a:off x="8028432" y="5559552"/>
            <a:ext cx="3639312" cy="475488"/>
          </a:xfrm>
          <a:prstGeom prst="roundRect">
            <a:avLst>
              <a:gd name="adj" fmla="val 22000"/>
            </a:avLst>
          </a:prstGeom>
          <a:solidFill>
            <a:srgbClr val="14143A"/>
          </a:solidFill>
          <a:ln w="12700">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28432" y="5559552"/>
            <a:ext cx="3639312" cy="475488"/>
          </a:xfrm>
          <a:prstGeom prst="rect">
            <a:avLst/>
          </a:prstGeom>
          <a:noFill/>
        </p:spPr>
        <p:txBody>
          <a:bodyPr wrap="square" anchor="ctr" lIns="0" rIns="0" tIns="0" bIns="0">
            <a:spAutoFit/>
          </a:bodyPr>
          <a:lstStyle/>
          <a:p>
            <a:pPr algn="ctr">
              <a:spcBef>
                <a:spcPts val="0"/>
              </a:spcBef>
              <a:spcAft>
                <a:spcPts val="0"/>
              </a:spcAft>
            </a:pPr>
            <a:r>
              <a:rPr sz="1150" b="1" i="0">
                <a:solidFill>
                  <a:srgbClr val="FFFFFF"/>
                </a:solidFill>
                <a:latin typeface="Segoe UI"/>
              </a:rPr>
              <a:t>✓  Refresh or disconnect? Resume safely</a:t>
            </a:r>
          </a:p>
        </p:txBody>
      </p:sp>
      <p:sp>
        <p:nvSpPr>
          <p:cNvPr id="52" name="TextBox 51"/>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53" name="TextBox 52"/>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07</a:t>
            </a:r>
            <a:r>
              <a:rPr sz="1000" b="0" i="0">
                <a:solidFill>
                  <a:srgbClr val="6F72AA"/>
                </a:solidFill>
                <a:latin typeface="Segoe UI"/>
              </a:rPr>
              <a:t> / 11</a:t>
            </a:r>
          </a:p>
        </p:txBody>
      </p:sp>
    </p:spTree>
  </p:cSld>
  <p:clrMapOvr>
    <a:masterClrMapping/>
  </p:clrMapOvr>
  <p:transition spd="med" advClick="1">
    <p:push dir="l"/>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16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270"/>
                                  </p:stCondLst>
                                  <p:childTnLst>
                                    <p:set>
                                      <p:cBhvr>
                                        <p:cTn id="124" dur="1" fill="hold">
                                          <p:stCondLst>
                                            <p:cond delay="0"/>
                                          </p:stCondLst>
                                          <p:attrNameLst>
                                            <p:attrName>style.visibility</p:attrName>
                                          </p:attrNameLst>
                                        </p:cTn>
                                        <p:tgtEl>
                                          <p:spTgt spid="8"/>
                                        </p:tgtEl>
                                      </p:cBhvr>
                                      <p:to>
                                        <p:strVal val="visible"/>
                                      </p:to>
                                    </p:set>
                                    <p:animEffect transition="in" filter="fade">
                                      <p:cBhvr>
                                        <p:cTn id="125" dur="550"/>
                                        <p:tgtEl>
                                          <p:spTgt spid="8"/>
                                        </p:tgtEl>
                                      </p:cBhvr>
                                    </p:animEffect>
                                  </p:childTnLst>
                                </p:cTn>
                              </p:par>
                            </p:childTnLst>
                          </p:cTn>
                        </p:par>
                        <p:par>
                          <p:cTn id="126" fill="hold">
                            <p:stCondLst>
                              <p:cond delay="0"/>
                            </p:stCondLst>
                            <p:childTnLst>
                              <p:par>
                                <p:cTn id="127" presetID="10" presetClass="entr" presetSubtype="0" fill="hold" grpId="0" nodeType="withEffect">
                                  <p:stCondLst>
                                    <p:cond delay="380"/>
                                  </p:stCondLst>
                                  <p:childTnLst>
                                    <p:set>
                                      <p:cBhvr>
                                        <p:cTn id="128" dur="1" fill="hold">
                                          <p:stCondLst>
                                            <p:cond delay="0"/>
                                          </p:stCondLst>
                                          <p:attrNameLst>
                                            <p:attrName>style.visibility</p:attrName>
                                          </p:attrNameLst>
                                        </p:cTn>
                                        <p:tgtEl>
                                          <p:spTgt spid="9"/>
                                        </p:tgtEl>
                                      </p:cBhvr>
                                      <p:to>
                                        <p:strVal val="visible"/>
                                      </p:to>
                                    </p:set>
                                    <p:animEffect transition="in" filter="fade">
                                      <p:cBhvr>
                                        <p:cTn id="129" dur="550"/>
                                        <p:tgtEl>
                                          <p:spTgt spid="9"/>
                                        </p:tgtEl>
                                      </p:cBhvr>
                                    </p:animEffect>
                                  </p:childTnLst>
                                </p:cTn>
                              </p:par>
                            </p:childTnLst>
                          </p:cTn>
                        </p:par>
                        <p:par>
                          <p:cTn id="130" fill="hold">
                            <p:stCondLst>
                              <p:cond delay="0"/>
                            </p:stCondLst>
                            <p:childTnLst>
                              <p:par>
                                <p:cTn id="131" presetID="10" presetClass="entr" presetSubtype="0" fill="hold" grpId="0" nodeType="withEffect">
                                  <p:stCondLst>
                                    <p:cond delay="490"/>
                                  </p:stCondLst>
                                  <p:childTnLst>
                                    <p:set>
                                      <p:cBhvr>
                                        <p:cTn id="132" dur="1" fill="hold">
                                          <p:stCondLst>
                                            <p:cond delay="0"/>
                                          </p:stCondLst>
                                          <p:attrNameLst>
                                            <p:attrName>style.visibility</p:attrName>
                                          </p:attrNameLst>
                                        </p:cTn>
                                        <p:tgtEl>
                                          <p:spTgt spid="10"/>
                                        </p:tgtEl>
                                      </p:cBhvr>
                                      <p:to>
                                        <p:strVal val="visible"/>
                                      </p:to>
                                    </p:set>
                                    <p:animEffect transition="in" filter="fade">
                                      <p:cBhvr>
                                        <p:cTn id="133" dur="550"/>
                                        <p:tgtEl>
                                          <p:spTgt spid="10"/>
                                        </p:tgtEl>
                                      </p:cBhvr>
                                    </p:animEffect>
                                  </p:childTnLst>
                                </p:cTn>
                              </p:par>
                            </p:childTnLst>
                          </p:cTn>
                        </p:par>
                        <p:par>
                          <p:cTn id="134" fill="hold">
                            <p:stCondLst>
                              <p:cond delay="0"/>
                            </p:stCondLst>
                            <p:childTnLst>
                              <p:par>
                                <p:cTn id="135" presetID="10" presetClass="entr" presetSubtype="0" fill="hold" grpId="0" nodeType="withEffect">
                                  <p:stCondLst>
                                    <p:cond delay="600"/>
                                  </p:stCondLst>
                                  <p:childTnLst>
                                    <p:set>
                                      <p:cBhvr>
                                        <p:cTn id="136" dur="1" fill="hold">
                                          <p:stCondLst>
                                            <p:cond delay="0"/>
                                          </p:stCondLst>
                                          <p:attrNameLst>
                                            <p:attrName>style.visibility</p:attrName>
                                          </p:attrNameLst>
                                        </p:cTn>
                                        <p:tgtEl>
                                          <p:spTgt spid="11"/>
                                        </p:tgtEl>
                                      </p:cBhvr>
                                      <p:to>
                                        <p:strVal val="visible"/>
                                      </p:to>
                                    </p:set>
                                    <p:animEffect transition="in" filter="fade">
                                      <p:cBhvr>
                                        <p:cTn id="137" dur="550"/>
                                        <p:tgtEl>
                                          <p:spTgt spid="11"/>
                                        </p:tgtEl>
                                      </p:cBhvr>
                                    </p:animEffect>
                                  </p:childTnLst>
                                </p:cTn>
                              </p:par>
                            </p:childTnLst>
                          </p:cTn>
                        </p:par>
                        <p:par>
                          <p:cTn id="138" fill="hold">
                            <p:stCondLst>
                              <p:cond delay="0"/>
                            </p:stCondLst>
                            <p:childTnLst>
                              <p:par>
                                <p:cTn id="139" presetID="10" presetClass="entr" presetSubtype="0" fill="hold" grpId="0" nodeType="withEffect">
                                  <p:stCondLst>
                                    <p:cond delay="710"/>
                                  </p:stCondLst>
                                  <p:childTnLst>
                                    <p:set>
                                      <p:cBhvr>
                                        <p:cTn id="140" dur="1" fill="hold">
                                          <p:stCondLst>
                                            <p:cond delay="0"/>
                                          </p:stCondLst>
                                          <p:attrNameLst>
                                            <p:attrName>style.visibility</p:attrName>
                                          </p:attrNameLst>
                                        </p:cTn>
                                        <p:tgtEl>
                                          <p:spTgt spid="12"/>
                                        </p:tgtEl>
                                      </p:cBhvr>
                                      <p:to>
                                        <p:strVal val="visible"/>
                                      </p:to>
                                    </p:set>
                                    <p:animEffect transition="in" filter="fade">
                                      <p:cBhvr>
                                        <p:cTn id="141" dur="550"/>
                                        <p:tgtEl>
                                          <p:spTgt spid="12"/>
                                        </p:tgtEl>
                                      </p:cBhvr>
                                    </p:animEffect>
                                  </p:childTnLst>
                                </p:cTn>
                              </p:par>
                            </p:childTnLst>
                          </p:cTn>
                        </p:par>
                        <p:par>
                          <p:cTn id="142" fill="hold">
                            <p:stCondLst>
                              <p:cond delay="0"/>
                            </p:stCondLst>
                            <p:childTnLst>
                              <p:par>
                                <p:cTn id="143" presetID="10" presetClass="entr" presetSubtype="0" fill="hold" grpId="0" nodeType="withEffect">
                                  <p:stCondLst>
                                    <p:cond delay="300"/>
                                  </p:stCondLst>
                                  <p:childTnLst>
                                    <p:set>
                                      <p:cBhvr>
                                        <p:cTn id="144" dur="1" fill="hold">
                                          <p:stCondLst>
                                            <p:cond delay="0"/>
                                          </p:stCondLst>
                                          <p:attrNameLst>
                                            <p:attrName>style.visibility</p:attrName>
                                          </p:attrNameLst>
                                        </p:cTn>
                                        <p:tgtEl>
                                          <p:spTgt spid="14"/>
                                        </p:tgtEl>
                                      </p:cBhvr>
                                      <p:to>
                                        <p:strVal val="visible"/>
                                      </p:to>
                                    </p:set>
                                    <p:animEffect transition="in" filter="fade">
                                      <p:cBhvr>
                                        <p:cTn id="145" dur="550"/>
                                        <p:tgtEl>
                                          <p:spTgt spid="14"/>
                                        </p:tgtEl>
                                      </p:cBhvr>
                                    </p:animEffect>
                                  </p:childTnLst>
                                </p:cTn>
                              </p:par>
                            </p:childTnLst>
                          </p:cTn>
                        </p:par>
                        <p:par>
                          <p:cTn id="146" fill="hold">
                            <p:stCondLst>
                              <p:cond delay="0"/>
                            </p:stCondLst>
                            <p:childTnLst>
                              <p:par>
                                <p:cTn id="147" presetID="10" presetClass="entr" presetSubtype="0" fill="hold" grpId="0" nodeType="withEffect">
                                  <p:stCondLst>
                                    <p:cond delay="300"/>
                                  </p:stCondLst>
                                  <p:childTnLst>
                                    <p:set>
                                      <p:cBhvr>
                                        <p:cTn id="148" dur="1" fill="hold">
                                          <p:stCondLst>
                                            <p:cond delay="0"/>
                                          </p:stCondLst>
                                          <p:attrNameLst>
                                            <p:attrName>style.visibility</p:attrName>
                                          </p:attrNameLst>
                                        </p:cTn>
                                        <p:tgtEl>
                                          <p:spTgt spid="15"/>
                                        </p:tgtEl>
                                      </p:cBhvr>
                                      <p:to>
                                        <p:strVal val="visible"/>
                                      </p:to>
                                    </p:set>
                                    <p:animEffect transition="in" filter="fade">
                                      <p:cBhvr>
                                        <p:cTn id="149" dur="550"/>
                                        <p:tgtEl>
                                          <p:spTgt spid="15"/>
                                        </p:tgtEl>
                                      </p:cBhvr>
                                    </p:animEffect>
                                  </p:childTnLst>
                                </p:cTn>
                              </p:par>
                            </p:childTnLst>
                          </p:cTn>
                        </p:par>
                        <p:par>
                          <p:cTn id="150" fill="hold">
                            <p:stCondLst>
                              <p:cond delay="0"/>
                            </p:stCondLst>
                            <p:childTnLst>
                              <p:par>
                                <p:cTn id="151" presetID="10" presetClass="entr" presetSubtype="0" fill="hold" grpId="0" nodeType="withEffect">
                                  <p:stCondLst>
                                    <p:cond delay="300"/>
                                  </p:stCondLst>
                                  <p:childTnLst>
                                    <p:set>
                                      <p:cBhvr>
                                        <p:cTn id="152" dur="1" fill="hold">
                                          <p:stCondLst>
                                            <p:cond delay="0"/>
                                          </p:stCondLst>
                                          <p:attrNameLst>
                                            <p:attrName>style.visibility</p:attrName>
                                          </p:attrNameLst>
                                        </p:cTn>
                                        <p:tgtEl>
                                          <p:spTgt spid="16"/>
                                        </p:tgtEl>
                                      </p:cBhvr>
                                      <p:to>
                                        <p:strVal val="visible"/>
                                      </p:to>
                                    </p:set>
                                    <p:animEffect transition="in" filter="fade">
                                      <p:cBhvr>
                                        <p:cTn id="153" dur="550"/>
                                        <p:tgtEl>
                                          <p:spTgt spid="16"/>
                                        </p:tgtEl>
                                      </p:cBhvr>
                                    </p:animEffect>
                                  </p:childTnLst>
                                </p:cTn>
                              </p:par>
                            </p:childTnLst>
                          </p:cTn>
                        </p:par>
                        <p:par>
                          <p:cTn id="154" fill="hold">
                            <p:stCondLst>
                              <p:cond delay="0"/>
                            </p:stCondLst>
                            <p:childTnLst>
                              <p:par>
                                <p:cTn id="155" presetID="10" presetClass="entr" presetSubtype="0" fill="hold" grpId="0" nodeType="withEffect">
                                  <p:stCondLst>
                                    <p:cond delay="300"/>
                                  </p:stCondLst>
                                  <p:childTnLst>
                                    <p:set>
                                      <p:cBhvr>
                                        <p:cTn id="156" dur="1" fill="hold">
                                          <p:stCondLst>
                                            <p:cond delay="0"/>
                                          </p:stCondLst>
                                          <p:attrNameLst>
                                            <p:attrName>style.visibility</p:attrName>
                                          </p:attrNameLst>
                                        </p:cTn>
                                        <p:tgtEl>
                                          <p:spTgt spid="17"/>
                                        </p:tgtEl>
                                      </p:cBhvr>
                                      <p:to>
                                        <p:strVal val="visible"/>
                                      </p:to>
                                    </p:set>
                                    <p:animEffect transition="in" filter="fade">
                                      <p:cBhvr>
                                        <p:cTn id="157" dur="550"/>
                                        <p:tgtEl>
                                          <p:spTgt spid="17"/>
                                        </p:tgtEl>
                                      </p:cBhvr>
                                    </p:animEffect>
                                  </p:childTnLst>
                                </p:cTn>
                              </p:par>
                            </p:childTnLst>
                          </p:cTn>
                        </p:par>
                        <p:par>
                          <p:cTn id="158" fill="hold">
                            <p:stCondLst>
                              <p:cond delay="0"/>
                            </p:stCondLst>
                            <p:childTnLst>
                              <p:par>
                                <p:cTn id="159" presetID="10" presetClass="entr" presetSubtype="0" fill="hold" grpId="0" nodeType="withEffect">
                                  <p:stCondLst>
                                    <p:cond delay="300"/>
                                  </p:stCondLst>
                                  <p:childTnLst>
                                    <p:set>
                                      <p:cBhvr>
                                        <p:cTn id="160" dur="1" fill="hold">
                                          <p:stCondLst>
                                            <p:cond delay="0"/>
                                          </p:stCondLst>
                                          <p:attrNameLst>
                                            <p:attrName>style.visibility</p:attrName>
                                          </p:attrNameLst>
                                        </p:cTn>
                                        <p:tgtEl>
                                          <p:spTgt spid="18"/>
                                        </p:tgtEl>
                                      </p:cBhvr>
                                      <p:to>
                                        <p:strVal val="visible"/>
                                      </p:to>
                                    </p:set>
                                    <p:animEffect transition="in" filter="fade">
                                      <p:cBhvr>
                                        <p:cTn id="161" dur="550"/>
                                        <p:tgtEl>
                                          <p:spTgt spid="18"/>
                                        </p:tgtEl>
                                      </p:cBhvr>
                                    </p:animEffect>
                                  </p:childTnLst>
                                </p:cTn>
                              </p:par>
                            </p:childTnLst>
                          </p:cTn>
                        </p:par>
                        <p:par>
                          <p:cTn id="162" fill="hold">
                            <p:stCondLst>
                              <p:cond delay="0"/>
                            </p:stCondLst>
                            <p:childTnLst>
                              <p:par>
                                <p:cTn id="163" presetID="10" presetClass="entr" presetSubtype="0" fill="hold" grpId="0" nodeType="withEffect">
                                  <p:stCondLst>
                                    <p:cond delay="300"/>
                                  </p:stCondLst>
                                  <p:childTnLst>
                                    <p:set>
                                      <p:cBhvr>
                                        <p:cTn id="164" dur="1" fill="hold">
                                          <p:stCondLst>
                                            <p:cond delay="0"/>
                                          </p:stCondLst>
                                          <p:attrNameLst>
                                            <p:attrName>style.visibility</p:attrName>
                                          </p:attrNameLst>
                                        </p:cTn>
                                        <p:tgtEl>
                                          <p:spTgt spid="19"/>
                                        </p:tgtEl>
                                      </p:cBhvr>
                                      <p:to>
                                        <p:strVal val="visible"/>
                                      </p:to>
                                    </p:set>
                                    <p:animEffect transition="in" filter="fade">
                                      <p:cBhvr>
                                        <p:cTn id="165" dur="550"/>
                                        <p:tgtEl>
                                          <p:spTgt spid="19"/>
                                        </p:tgtEl>
                                      </p:cBhvr>
                                    </p:animEffect>
                                  </p:childTnLst>
                                </p:cTn>
                              </p:par>
                            </p:childTnLst>
                          </p:cTn>
                        </p:par>
                        <p:par>
                          <p:cTn id="166" fill="hold">
                            <p:stCondLst>
                              <p:cond delay="0"/>
                            </p:stCondLst>
                            <p:childTnLst>
                              <p:par>
                                <p:cTn id="167" presetID="10" presetClass="entr" presetSubtype="0" fill="hold" grpId="0" nodeType="withEffect">
                                  <p:stCondLst>
                                    <p:cond delay="300"/>
                                  </p:stCondLst>
                                  <p:childTnLst>
                                    <p:set>
                                      <p:cBhvr>
                                        <p:cTn id="168" dur="1" fill="hold">
                                          <p:stCondLst>
                                            <p:cond delay="0"/>
                                          </p:stCondLst>
                                          <p:attrNameLst>
                                            <p:attrName>style.visibility</p:attrName>
                                          </p:attrNameLst>
                                        </p:cTn>
                                        <p:tgtEl>
                                          <p:spTgt spid="20"/>
                                        </p:tgtEl>
                                      </p:cBhvr>
                                      <p:to>
                                        <p:strVal val="visible"/>
                                      </p:to>
                                    </p:set>
                                    <p:animEffect transition="in" filter="fade">
                                      <p:cBhvr>
                                        <p:cTn id="169" dur="550"/>
                                        <p:tgtEl>
                                          <p:spTgt spid="20"/>
                                        </p:tgtEl>
                                      </p:cBhvr>
                                    </p:animEffect>
                                  </p:childTnLst>
                                </p:cTn>
                              </p:par>
                            </p:childTnLst>
                          </p:cTn>
                        </p:par>
                        <p:par>
                          <p:cTn id="170" fill="hold">
                            <p:stCondLst>
                              <p:cond delay="0"/>
                            </p:stCondLst>
                            <p:childTnLst>
                              <p:par>
                                <p:cTn id="171" presetID="10" presetClass="entr" presetSubtype="0" fill="hold" grpId="0" nodeType="withEffect">
                                  <p:stCondLst>
                                    <p:cond delay="420"/>
                                  </p:stCondLst>
                                  <p:childTnLst>
                                    <p:set>
                                      <p:cBhvr>
                                        <p:cTn id="172" dur="1" fill="hold">
                                          <p:stCondLst>
                                            <p:cond delay="0"/>
                                          </p:stCondLst>
                                          <p:attrNameLst>
                                            <p:attrName>style.visibility</p:attrName>
                                          </p:attrNameLst>
                                        </p:cTn>
                                        <p:tgtEl>
                                          <p:spTgt spid="22"/>
                                        </p:tgtEl>
                                      </p:cBhvr>
                                      <p:to>
                                        <p:strVal val="visible"/>
                                      </p:to>
                                    </p:set>
                                    <p:animEffect transition="in" filter="fade">
                                      <p:cBhvr>
                                        <p:cTn id="173" dur="550"/>
                                        <p:tgtEl>
                                          <p:spTgt spid="22"/>
                                        </p:tgtEl>
                                      </p:cBhvr>
                                    </p:animEffect>
                                  </p:childTnLst>
                                </p:cTn>
                              </p:par>
                            </p:childTnLst>
                          </p:cTn>
                        </p:par>
                        <p:par>
                          <p:cTn id="174" fill="hold">
                            <p:stCondLst>
                              <p:cond delay="0"/>
                            </p:stCondLst>
                            <p:childTnLst>
                              <p:par>
                                <p:cTn id="175" presetID="10" presetClass="entr" presetSubtype="0" fill="hold" grpId="0" nodeType="withEffect">
                                  <p:stCondLst>
                                    <p:cond delay="420"/>
                                  </p:stCondLst>
                                  <p:childTnLst>
                                    <p:set>
                                      <p:cBhvr>
                                        <p:cTn id="176" dur="1" fill="hold">
                                          <p:stCondLst>
                                            <p:cond delay="0"/>
                                          </p:stCondLst>
                                          <p:attrNameLst>
                                            <p:attrName>style.visibility</p:attrName>
                                          </p:attrNameLst>
                                        </p:cTn>
                                        <p:tgtEl>
                                          <p:spTgt spid="23"/>
                                        </p:tgtEl>
                                      </p:cBhvr>
                                      <p:to>
                                        <p:strVal val="visible"/>
                                      </p:to>
                                    </p:set>
                                    <p:animEffect transition="in" filter="fade">
                                      <p:cBhvr>
                                        <p:cTn id="177" dur="550"/>
                                        <p:tgtEl>
                                          <p:spTgt spid="23"/>
                                        </p:tgtEl>
                                      </p:cBhvr>
                                    </p:animEffect>
                                  </p:childTnLst>
                                </p:cTn>
                              </p:par>
                            </p:childTnLst>
                          </p:cTn>
                        </p:par>
                        <p:par>
                          <p:cTn id="178" fill="hold">
                            <p:stCondLst>
                              <p:cond delay="0"/>
                            </p:stCondLst>
                            <p:childTnLst>
                              <p:par>
                                <p:cTn id="179" presetID="10" presetClass="entr" presetSubtype="0" fill="hold" grpId="0" nodeType="withEffect">
                                  <p:stCondLst>
                                    <p:cond delay="420"/>
                                  </p:stCondLst>
                                  <p:childTnLst>
                                    <p:set>
                                      <p:cBhvr>
                                        <p:cTn id="180" dur="1" fill="hold">
                                          <p:stCondLst>
                                            <p:cond delay="0"/>
                                          </p:stCondLst>
                                          <p:attrNameLst>
                                            <p:attrName>style.visibility</p:attrName>
                                          </p:attrNameLst>
                                        </p:cTn>
                                        <p:tgtEl>
                                          <p:spTgt spid="24"/>
                                        </p:tgtEl>
                                      </p:cBhvr>
                                      <p:to>
                                        <p:strVal val="visible"/>
                                      </p:to>
                                    </p:set>
                                    <p:animEffect transition="in" filter="fade">
                                      <p:cBhvr>
                                        <p:cTn id="181" dur="550"/>
                                        <p:tgtEl>
                                          <p:spTgt spid="24"/>
                                        </p:tgtEl>
                                      </p:cBhvr>
                                    </p:animEffect>
                                  </p:childTnLst>
                                </p:cTn>
                              </p:par>
                            </p:childTnLst>
                          </p:cTn>
                        </p:par>
                        <p:par>
                          <p:cTn id="182" fill="hold">
                            <p:stCondLst>
                              <p:cond delay="0"/>
                            </p:stCondLst>
                            <p:childTnLst>
                              <p:par>
                                <p:cTn id="183" presetID="10" presetClass="entr" presetSubtype="0" fill="hold" grpId="0" nodeType="withEffect">
                                  <p:stCondLst>
                                    <p:cond delay="420"/>
                                  </p:stCondLst>
                                  <p:childTnLst>
                                    <p:set>
                                      <p:cBhvr>
                                        <p:cTn id="184" dur="1" fill="hold">
                                          <p:stCondLst>
                                            <p:cond delay="0"/>
                                          </p:stCondLst>
                                          <p:attrNameLst>
                                            <p:attrName>style.visibility</p:attrName>
                                          </p:attrNameLst>
                                        </p:cTn>
                                        <p:tgtEl>
                                          <p:spTgt spid="25"/>
                                        </p:tgtEl>
                                      </p:cBhvr>
                                      <p:to>
                                        <p:strVal val="visible"/>
                                      </p:to>
                                    </p:set>
                                    <p:animEffect transition="in" filter="fade">
                                      <p:cBhvr>
                                        <p:cTn id="185" dur="550"/>
                                        <p:tgtEl>
                                          <p:spTgt spid="25"/>
                                        </p:tgtEl>
                                      </p:cBhvr>
                                    </p:animEffect>
                                  </p:childTnLst>
                                </p:cTn>
                              </p:par>
                            </p:childTnLst>
                          </p:cTn>
                        </p:par>
                        <p:par>
                          <p:cTn id="186" fill="hold">
                            <p:stCondLst>
                              <p:cond delay="0"/>
                            </p:stCondLst>
                            <p:childTnLst>
                              <p:par>
                                <p:cTn id="187" presetID="10" presetClass="entr" presetSubtype="0" fill="hold" grpId="0" nodeType="withEffect">
                                  <p:stCondLst>
                                    <p:cond delay="420"/>
                                  </p:stCondLst>
                                  <p:childTnLst>
                                    <p:set>
                                      <p:cBhvr>
                                        <p:cTn id="188" dur="1" fill="hold">
                                          <p:stCondLst>
                                            <p:cond delay="0"/>
                                          </p:stCondLst>
                                          <p:attrNameLst>
                                            <p:attrName>style.visibility</p:attrName>
                                          </p:attrNameLst>
                                        </p:cTn>
                                        <p:tgtEl>
                                          <p:spTgt spid="26"/>
                                        </p:tgtEl>
                                      </p:cBhvr>
                                      <p:to>
                                        <p:strVal val="visible"/>
                                      </p:to>
                                    </p:set>
                                    <p:animEffect transition="in" filter="fade">
                                      <p:cBhvr>
                                        <p:cTn id="189" dur="550"/>
                                        <p:tgtEl>
                                          <p:spTgt spid="26"/>
                                        </p:tgtEl>
                                      </p:cBhvr>
                                    </p:animEffect>
                                  </p:childTnLst>
                                </p:cTn>
                              </p:par>
                            </p:childTnLst>
                          </p:cTn>
                        </p:par>
                        <p:par>
                          <p:cTn id="190" fill="hold">
                            <p:stCondLst>
                              <p:cond delay="0"/>
                            </p:stCondLst>
                            <p:childTnLst>
                              <p:par>
                                <p:cTn id="191" presetID="10" presetClass="entr" presetSubtype="0" fill="hold" grpId="0" nodeType="withEffect">
                                  <p:stCondLst>
                                    <p:cond delay="420"/>
                                  </p:stCondLst>
                                  <p:childTnLst>
                                    <p:set>
                                      <p:cBhvr>
                                        <p:cTn id="192" dur="1" fill="hold">
                                          <p:stCondLst>
                                            <p:cond delay="0"/>
                                          </p:stCondLst>
                                          <p:attrNameLst>
                                            <p:attrName>style.visibility</p:attrName>
                                          </p:attrNameLst>
                                        </p:cTn>
                                        <p:tgtEl>
                                          <p:spTgt spid="27"/>
                                        </p:tgtEl>
                                      </p:cBhvr>
                                      <p:to>
                                        <p:strVal val="visible"/>
                                      </p:to>
                                    </p:set>
                                    <p:animEffect transition="in" filter="fade">
                                      <p:cBhvr>
                                        <p:cTn id="193" dur="550"/>
                                        <p:tgtEl>
                                          <p:spTgt spid="27"/>
                                        </p:tgtEl>
                                      </p:cBhvr>
                                    </p:animEffect>
                                  </p:childTnLst>
                                </p:cTn>
                              </p:par>
                            </p:childTnLst>
                          </p:cTn>
                        </p:par>
                        <p:par>
                          <p:cTn id="194" fill="hold">
                            <p:stCondLst>
                              <p:cond delay="0"/>
                            </p:stCondLst>
                            <p:childTnLst>
                              <p:par>
                                <p:cTn id="195" presetID="10" presetClass="entr" presetSubtype="0" fill="hold" grpId="0" nodeType="withEffect">
                                  <p:stCondLst>
                                    <p:cond delay="420"/>
                                  </p:stCondLst>
                                  <p:childTnLst>
                                    <p:set>
                                      <p:cBhvr>
                                        <p:cTn id="196" dur="1" fill="hold">
                                          <p:stCondLst>
                                            <p:cond delay="0"/>
                                          </p:stCondLst>
                                          <p:attrNameLst>
                                            <p:attrName>style.visibility</p:attrName>
                                          </p:attrNameLst>
                                        </p:cTn>
                                        <p:tgtEl>
                                          <p:spTgt spid="28"/>
                                        </p:tgtEl>
                                      </p:cBhvr>
                                      <p:to>
                                        <p:strVal val="visible"/>
                                      </p:to>
                                    </p:set>
                                    <p:animEffect transition="in" filter="fade">
                                      <p:cBhvr>
                                        <p:cTn id="197" dur="550"/>
                                        <p:tgtEl>
                                          <p:spTgt spid="28"/>
                                        </p:tgtEl>
                                      </p:cBhvr>
                                    </p:animEffect>
                                  </p:childTnLst>
                                </p:cTn>
                              </p:par>
                            </p:childTnLst>
                          </p:cTn>
                        </p:par>
                        <p:par>
                          <p:cTn id="198" fill="hold">
                            <p:stCondLst>
                              <p:cond delay="0"/>
                            </p:stCondLst>
                            <p:childTnLst>
                              <p:par>
                                <p:cTn id="199" presetID="10" presetClass="entr" presetSubtype="0" fill="hold" grpId="0" nodeType="withEffect">
                                  <p:stCondLst>
                                    <p:cond delay="540"/>
                                  </p:stCondLst>
                                  <p:childTnLst>
                                    <p:set>
                                      <p:cBhvr>
                                        <p:cTn id="200" dur="1" fill="hold">
                                          <p:stCondLst>
                                            <p:cond delay="0"/>
                                          </p:stCondLst>
                                          <p:attrNameLst>
                                            <p:attrName>style.visibility</p:attrName>
                                          </p:attrNameLst>
                                        </p:cTn>
                                        <p:tgtEl>
                                          <p:spTgt spid="30"/>
                                        </p:tgtEl>
                                      </p:cBhvr>
                                      <p:to>
                                        <p:strVal val="visible"/>
                                      </p:to>
                                    </p:set>
                                    <p:animEffect transition="in" filter="fade">
                                      <p:cBhvr>
                                        <p:cTn id="201" dur="550"/>
                                        <p:tgtEl>
                                          <p:spTgt spid="30"/>
                                        </p:tgtEl>
                                      </p:cBhvr>
                                    </p:animEffect>
                                  </p:childTnLst>
                                </p:cTn>
                              </p:par>
                            </p:childTnLst>
                          </p:cTn>
                        </p:par>
                        <p:par>
                          <p:cTn id="202" fill="hold">
                            <p:stCondLst>
                              <p:cond delay="0"/>
                            </p:stCondLst>
                            <p:childTnLst>
                              <p:par>
                                <p:cTn id="203" presetID="10" presetClass="entr" presetSubtype="0" fill="hold" grpId="0" nodeType="withEffect">
                                  <p:stCondLst>
                                    <p:cond delay="540"/>
                                  </p:stCondLst>
                                  <p:childTnLst>
                                    <p:set>
                                      <p:cBhvr>
                                        <p:cTn id="204" dur="1" fill="hold">
                                          <p:stCondLst>
                                            <p:cond delay="0"/>
                                          </p:stCondLst>
                                          <p:attrNameLst>
                                            <p:attrName>style.visibility</p:attrName>
                                          </p:attrNameLst>
                                        </p:cTn>
                                        <p:tgtEl>
                                          <p:spTgt spid="31"/>
                                        </p:tgtEl>
                                      </p:cBhvr>
                                      <p:to>
                                        <p:strVal val="visible"/>
                                      </p:to>
                                    </p:set>
                                    <p:animEffect transition="in" filter="fade">
                                      <p:cBhvr>
                                        <p:cTn id="205" dur="550"/>
                                        <p:tgtEl>
                                          <p:spTgt spid="31"/>
                                        </p:tgtEl>
                                      </p:cBhvr>
                                    </p:animEffect>
                                  </p:childTnLst>
                                </p:cTn>
                              </p:par>
                            </p:childTnLst>
                          </p:cTn>
                        </p:par>
                        <p:par>
                          <p:cTn id="206" fill="hold">
                            <p:stCondLst>
                              <p:cond delay="0"/>
                            </p:stCondLst>
                            <p:childTnLst>
                              <p:par>
                                <p:cTn id="207" presetID="10" presetClass="entr" presetSubtype="0" fill="hold" grpId="0" nodeType="withEffect">
                                  <p:stCondLst>
                                    <p:cond delay="540"/>
                                  </p:stCondLst>
                                  <p:childTnLst>
                                    <p:set>
                                      <p:cBhvr>
                                        <p:cTn id="208" dur="1" fill="hold">
                                          <p:stCondLst>
                                            <p:cond delay="0"/>
                                          </p:stCondLst>
                                          <p:attrNameLst>
                                            <p:attrName>style.visibility</p:attrName>
                                          </p:attrNameLst>
                                        </p:cTn>
                                        <p:tgtEl>
                                          <p:spTgt spid="32"/>
                                        </p:tgtEl>
                                      </p:cBhvr>
                                      <p:to>
                                        <p:strVal val="visible"/>
                                      </p:to>
                                    </p:set>
                                    <p:animEffect transition="in" filter="fade">
                                      <p:cBhvr>
                                        <p:cTn id="209" dur="550"/>
                                        <p:tgtEl>
                                          <p:spTgt spid="32"/>
                                        </p:tgtEl>
                                      </p:cBhvr>
                                    </p:animEffect>
                                  </p:childTnLst>
                                </p:cTn>
                              </p:par>
                            </p:childTnLst>
                          </p:cTn>
                        </p:par>
                        <p:par>
                          <p:cTn id="210" fill="hold">
                            <p:stCondLst>
                              <p:cond delay="0"/>
                            </p:stCondLst>
                            <p:childTnLst>
                              <p:par>
                                <p:cTn id="211" presetID="10" presetClass="entr" presetSubtype="0" fill="hold" grpId="0" nodeType="withEffect">
                                  <p:stCondLst>
                                    <p:cond delay="540"/>
                                  </p:stCondLst>
                                  <p:childTnLst>
                                    <p:set>
                                      <p:cBhvr>
                                        <p:cTn id="212" dur="1" fill="hold">
                                          <p:stCondLst>
                                            <p:cond delay="0"/>
                                          </p:stCondLst>
                                          <p:attrNameLst>
                                            <p:attrName>style.visibility</p:attrName>
                                          </p:attrNameLst>
                                        </p:cTn>
                                        <p:tgtEl>
                                          <p:spTgt spid="33"/>
                                        </p:tgtEl>
                                      </p:cBhvr>
                                      <p:to>
                                        <p:strVal val="visible"/>
                                      </p:to>
                                    </p:set>
                                    <p:animEffect transition="in" filter="fade">
                                      <p:cBhvr>
                                        <p:cTn id="213" dur="550"/>
                                        <p:tgtEl>
                                          <p:spTgt spid="33"/>
                                        </p:tgtEl>
                                      </p:cBhvr>
                                    </p:animEffect>
                                  </p:childTnLst>
                                </p:cTn>
                              </p:par>
                            </p:childTnLst>
                          </p:cTn>
                        </p:par>
                        <p:par>
                          <p:cTn id="214" fill="hold">
                            <p:stCondLst>
                              <p:cond delay="0"/>
                            </p:stCondLst>
                            <p:childTnLst>
                              <p:par>
                                <p:cTn id="215" presetID="10" presetClass="entr" presetSubtype="0" fill="hold" grpId="0" nodeType="withEffect">
                                  <p:stCondLst>
                                    <p:cond delay="540"/>
                                  </p:stCondLst>
                                  <p:childTnLst>
                                    <p:set>
                                      <p:cBhvr>
                                        <p:cTn id="216" dur="1" fill="hold">
                                          <p:stCondLst>
                                            <p:cond delay="0"/>
                                          </p:stCondLst>
                                          <p:attrNameLst>
                                            <p:attrName>style.visibility</p:attrName>
                                          </p:attrNameLst>
                                        </p:cTn>
                                        <p:tgtEl>
                                          <p:spTgt spid="34"/>
                                        </p:tgtEl>
                                      </p:cBhvr>
                                      <p:to>
                                        <p:strVal val="visible"/>
                                      </p:to>
                                    </p:set>
                                    <p:animEffect transition="in" filter="fade">
                                      <p:cBhvr>
                                        <p:cTn id="217" dur="550"/>
                                        <p:tgtEl>
                                          <p:spTgt spid="34"/>
                                        </p:tgtEl>
                                      </p:cBhvr>
                                    </p:animEffect>
                                  </p:childTnLst>
                                </p:cTn>
                              </p:par>
                            </p:childTnLst>
                          </p:cTn>
                        </p:par>
                        <p:par>
                          <p:cTn id="218" fill="hold">
                            <p:stCondLst>
                              <p:cond delay="0"/>
                            </p:stCondLst>
                            <p:childTnLst>
                              <p:par>
                                <p:cTn id="219" presetID="10" presetClass="entr" presetSubtype="0" fill="hold" grpId="0" nodeType="withEffect">
                                  <p:stCondLst>
                                    <p:cond delay="540"/>
                                  </p:stCondLst>
                                  <p:childTnLst>
                                    <p:set>
                                      <p:cBhvr>
                                        <p:cTn id="220" dur="1" fill="hold">
                                          <p:stCondLst>
                                            <p:cond delay="0"/>
                                          </p:stCondLst>
                                          <p:attrNameLst>
                                            <p:attrName>style.visibility</p:attrName>
                                          </p:attrNameLst>
                                        </p:cTn>
                                        <p:tgtEl>
                                          <p:spTgt spid="35"/>
                                        </p:tgtEl>
                                      </p:cBhvr>
                                      <p:to>
                                        <p:strVal val="visible"/>
                                      </p:to>
                                    </p:set>
                                    <p:animEffect transition="in" filter="fade">
                                      <p:cBhvr>
                                        <p:cTn id="221" dur="550"/>
                                        <p:tgtEl>
                                          <p:spTgt spid="35"/>
                                        </p:tgtEl>
                                      </p:cBhvr>
                                    </p:animEffect>
                                  </p:childTnLst>
                                </p:cTn>
                              </p:par>
                            </p:childTnLst>
                          </p:cTn>
                        </p:par>
                        <p:par>
                          <p:cTn id="222" fill="hold">
                            <p:stCondLst>
                              <p:cond delay="0"/>
                            </p:stCondLst>
                            <p:childTnLst>
                              <p:par>
                                <p:cTn id="223" presetID="10" presetClass="entr" presetSubtype="0" fill="hold" grpId="0" nodeType="withEffect">
                                  <p:stCondLst>
                                    <p:cond delay="540"/>
                                  </p:stCondLst>
                                  <p:childTnLst>
                                    <p:set>
                                      <p:cBhvr>
                                        <p:cTn id="224" dur="1" fill="hold">
                                          <p:stCondLst>
                                            <p:cond delay="0"/>
                                          </p:stCondLst>
                                          <p:attrNameLst>
                                            <p:attrName>style.visibility</p:attrName>
                                          </p:attrNameLst>
                                        </p:cTn>
                                        <p:tgtEl>
                                          <p:spTgt spid="36"/>
                                        </p:tgtEl>
                                      </p:cBhvr>
                                      <p:to>
                                        <p:strVal val="visible"/>
                                      </p:to>
                                    </p:set>
                                    <p:animEffect transition="in" filter="fade">
                                      <p:cBhvr>
                                        <p:cTn id="225" dur="550"/>
                                        <p:tgtEl>
                                          <p:spTgt spid="36"/>
                                        </p:tgtEl>
                                      </p:cBhvr>
                                    </p:animEffect>
                                  </p:childTnLst>
                                </p:cTn>
                              </p:par>
                            </p:childTnLst>
                          </p:cTn>
                        </p:par>
                        <p:par>
                          <p:cTn id="226" fill="hold">
                            <p:stCondLst>
                              <p:cond delay="0"/>
                            </p:stCondLst>
                            <p:childTnLst>
                              <p:par>
                                <p:cTn id="227" presetID="10" presetClass="entr" presetSubtype="0" fill="hold" grpId="0" nodeType="withEffect">
                                  <p:stCondLst>
                                    <p:cond delay="660"/>
                                  </p:stCondLst>
                                  <p:childTnLst>
                                    <p:set>
                                      <p:cBhvr>
                                        <p:cTn id="228" dur="1" fill="hold">
                                          <p:stCondLst>
                                            <p:cond delay="0"/>
                                          </p:stCondLst>
                                          <p:attrNameLst>
                                            <p:attrName>style.visibility</p:attrName>
                                          </p:attrNameLst>
                                        </p:cTn>
                                        <p:tgtEl>
                                          <p:spTgt spid="38"/>
                                        </p:tgtEl>
                                      </p:cBhvr>
                                      <p:to>
                                        <p:strVal val="visible"/>
                                      </p:to>
                                    </p:set>
                                    <p:animEffect transition="in" filter="fade">
                                      <p:cBhvr>
                                        <p:cTn id="229" dur="550"/>
                                        <p:tgtEl>
                                          <p:spTgt spid="38"/>
                                        </p:tgtEl>
                                      </p:cBhvr>
                                    </p:animEffect>
                                  </p:childTnLst>
                                </p:cTn>
                              </p:par>
                            </p:childTnLst>
                          </p:cTn>
                        </p:par>
                        <p:par>
                          <p:cTn id="230" fill="hold">
                            <p:stCondLst>
                              <p:cond delay="0"/>
                            </p:stCondLst>
                            <p:childTnLst>
                              <p:par>
                                <p:cTn id="231" presetID="10" presetClass="entr" presetSubtype="0" fill="hold" grpId="0" nodeType="withEffect">
                                  <p:stCondLst>
                                    <p:cond delay="660"/>
                                  </p:stCondLst>
                                  <p:childTnLst>
                                    <p:set>
                                      <p:cBhvr>
                                        <p:cTn id="232" dur="1" fill="hold">
                                          <p:stCondLst>
                                            <p:cond delay="0"/>
                                          </p:stCondLst>
                                          <p:attrNameLst>
                                            <p:attrName>style.visibility</p:attrName>
                                          </p:attrNameLst>
                                        </p:cTn>
                                        <p:tgtEl>
                                          <p:spTgt spid="39"/>
                                        </p:tgtEl>
                                      </p:cBhvr>
                                      <p:to>
                                        <p:strVal val="visible"/>
                                      </p:to>
                                    </p:set>
                                    <p:animEffect transition="in" filter="fade">
                                      <p:cBhvr>
                                        <p:cTn id="233" dur="550"/>
                                        <p:tgtEl>
                                          <p:spTgt spid="39"/>
                                        </p:tgtEl>
                                      </p:cBhvr>
                                    </p:animEffect>
                                  </p:childTnLst>
                                </p:cTn>
                              </p:par>
                            </p:childTnLst>
                          </p:cTn>
                        </p:par>
                        <p:par>
                          <p:cTn id="234" fill="hold">
                            <p:stCondLst>
                              <p:cond delay="0"/>
                            </p:stCondLst>
                            <p:childTnLst>
                              <p:par>
                                <p:cTn id="235" presetID="10" presetClass="entr" presetSubtype="0" fill="hold" grpId="0" nodeType="withEffect">
                                  <p:stCondLst>
                                    <p:cond delay="660"/>
                                  </p:stCondLst>
                                  <p:childTnLst>
                                    <p:set>
                                      <p:cBhvr>
                                        <p:cTn id="236" dur="1" fill="hold">
                                          <p:stCondLst>
                                            <p:cond delay="0"/>
                                          </p:stCondLst>
                                          <p:attrNameLst>
                                            <p:attrName>style.visibility</p:attrName>
                                          </p:attrNameLst>
                                        </p:cTn>
                                        <p:tgtEl>
                                          <p:spTgt spid="40"/>
                                        </p:tgtEl>
                                      </p:cBhvr>
                                      <p:to>
                                        <p:strVal val="visible"/>
                                      </p:to>
                                    </p:set>
                                    <p:animEffect transition="in" filter="fade">
                                      <p:cBhvr>
                                        <p:cTn id="237" dur="550"/>
                                        <p:tgtEl>
                                          <p:spTgt spid="40"/>
                                        </p:tgtEl>
                                      </p:cBhvr>
                                    </p:animEffect>
                                  </p:childTnLst>
                                </p:cTn>
                              </p:par>
                            </p:childTnLst>
                          </p:cTn>
                        </p:par>
                        <p:par>
                          <p:cTn id="238" fill="hold">
                            <p:stCondLst>
                              <p:cond delay="0"/>
                            </p:stCondLst>
                            <p:childTnLst>
                              <p:par>
                                <p:cTn id="239" presetID="10" presetClass="entr" presetSubtype="0" fill="hold" grpId="0" nodeType="withEffect">
                                  <p:stCondLst>
                                    <p:cond delay="660"/>
                                  </p:stCondLst>
                                  <p:childTnLst>
                                    <p:set>
                                      <p:cBhvr>
                                        <p:cTn id="240" dur="1" fill="hold">
                                          <p:stCondLst>
                                            <p:cond delay="0"/>
                                          </p:stCondLst>
                                          <p:attrNameLst>
                                            <p:attrName>style.visibility</p:attrName>
                                          </p:attrNameLst>
                                        </p:cTn>
                                        <p:tgtEl>
                                          <p:spTgt spid="41"/>
                                        </p:tgtEl>
                                      </p:cBhvr>
                                      <p:to>
                                        <p:strVal val="visible"/>
                                      </p:to>
                                    </p:set>
                                    <p:animEffect transition="in" filter="fade">
                                      <p:cBhvr>
                                        <p:cTn id="241" dur="550"/>
                                        <p:tgtEl>
                                          <p:spTgt spid="41"/>
                                        </p:tgtEl>
                                      </p:cBhvr>
                                    </p:animEffect>
                                  </p:childTnLst>
                                </p:cTn>
                              </p:par>
                            </p:childTnLst>
                          </p:cTn>
                        </p:par>
                        <p:par>
                          <p:cTn id="242" fill="hold">
                            <p:stCondLst>
                              <p:cond delay="0"/>
                            </p:stCondLst>
                            <p:childTnLst>
                              <p:par>
                                <p:cTn id="243" presetID="10" presetClass="entr" presetSubtype="0" fill="hold" grpId="0" nodeType="withEffect">
                                  <p:stCondLst>
                                    <p:cond delay="660"/>
                                  </p:stCondLst>
                                  <p:childTnLst>
                                    <p:set>
                                      <p:cBhvr>
                                        <p:cTn id="244" dur="1" fill="hold">
                                          <p:stCondLst>
                                            <p:cond delay="0"/>
                                          </p:stCondLst>
                                          <p:attrNameLst>
                                            <p:attrName>style.visibility</p:attrName>
                                          </p:attrNameLst>
                                        </p:cTn>
                                        <p:tgtEl>
                                          <p:spTgt spid="42"/>
                                        </p:tgtEl>
                                      </p:cBhvr>
                                      <p:to>
                                        <p:strVal val="visible"/>
                                      </p:to>
                                    </p:set>
                                    <p:animEffect transition="in" filter="fade">
                                      <p:cBhvr>
                                        <p:cTn id="245" dur="550"/>
                                        <p:tgtEl>
                                          <p:spTgt spid="42"/>
                                        </p:tgtEl>
                                      </p:cBhvr>
                                    </p:animEffect>
                                  </p:childTnLst>
                                </p:cTn>
                              </p:par>
                            </p:childTnLst>
                          </p:cTn>
                        </p:par>
                        <p:par>
                          <p:cTn id="246" fill="hold">
                            <p:stCondLst>
                              <p:cond delay="0"/>
                            </p:stCondLst>
                            <p:childTnLst>
                              <p:par>
                                <p:cTn id="247" presetID="10" presetClass="entr" presetSubtype="0" fill="hold" grpId="0" nodeType="withEffect">
                                  <p:stCondLst>
                                    <p:cond delay="660"/>
                                  </p:stCondLst>
                                  <p:childTnLst>
                                    <p:set>
                                      <p:cBhvr>
                                        <p:cTn id="248" dur="1" fill="hold">
                                          <p:stCondLst>
                                            <p:cond delay="0"/>
                                          </p:stCondLst>
                                          <p:attrNameLst>
                                            <p:attrName>style.visibility</p:attrName>
                                          </p:attrNameLst>
                                        </p:cTn>
                                        <p:tgtEl>
                                          <p:spTgt spid="43"/>
                                        </p:tgtEl>
                                      </p:cBhvr>
                                      <p:to>
                                        <p:strVal val="visible"/>
                                      </p:to>
                                    </p:set>
                                    <p:animEffect transition="in" filter="fade">
                                      <p:cBhvr>
                                        <p:cTn id="249" dur="550"/>
                                        <p:tgtEl>
                                          <p:spTgt spid="43"/>
                                        </p:tgtEl>
                                      </p:cBhvr>
                                    </p:animEffect>
                                  </p:childTnLst>
                                </p:cTn>
                              </p:par>
                            </p:childTnLst>
                          </p:cTn>
                        </p:par>
                        <p:par>
                          <p:cTn id="250" fill="hold">
                            <p:stCondLst>
                              <p:cond delay="0"/>
                            </p:stCondLst>
                            <p:childTnLst>
                              <p:par>
                                <p:cTn id="251" presetID="10" presetClass="entr" presetSubtype="0" fill="hold" grpId="0" nodeType="withEffect">
                                  <p:stCondLst>
                                    <p:cond delay="660"/>
                                  </p:stCondLst>
                                  <p:childTnLst>
                                    <p:set>
                                      <p:cBhvr>
                                        <p:cTn id="252" dur="1" fill="hold">
                                          <p:stCondLst>
                                            <p:cond delay="0"/>
                                          </p:stCondLst>
                                          <p:attrNameLst>
                                            <p:attrName>style.visibility</p:attrName>
                                          </p:attrNameLst>
                                        </p:cTn>
                                        <p:tgtEl>
                                          <p:spTgt spid="44"/>
                                        </p:tgtEl>
                                      </p:cBhvr>
                                      <p:to>
                                        <p:strVal val="visible"/>
                                      </p:to>
                                    </p:set>
                                    <p:animEffect transition="in" filter="fade">
                                      <p:cBhvr>
                                        <p:cTn id="253" dur="550"/>
                                        <p:tgtEl>
                                          <p:spTgt spid="44"/>
                                        </p:tgtEl>
                                      </p:cBhvr>
                                    </p:animEffect>
                                  </p:childTnLst>
                                </p:cTn>
                              </p:par>
                            </p:childTnLst>
                          </p:cTn>
                        </p:par>
                        <p:par>
                          <p:cTn id="254" fill="hold">
                            <p:stCondLst>
                              <p:cond delay="0"/>
                            </p:stCondLst>
                            <p:childTnLst>
                              <p:par>
                                <p:cTn id="255" presetID="10" presetClass="entr" presetSubtype="0" fill="hold" grpId="0" nodeType="withEffect">
                                  <p:stCondLst>
                                    <p:cond delay="700"/>
                                  </p:stCondLst>
                                  <p:childTnLst>
                                    <p:set>
                                      <p:cBhvr>
                                        <p:cTn id="256" dur="1" fill="hold">
                                          <p:stCondLst>
                                            <p:cond delay="0"/>
                                          </p:stCondLst>
                                          <p:attrNameLst>
                                            <p:attrName>style.visibility</p:attrName>
                                          </p:attrNameLst>
                                        </p:cTn>
                                        <p:tgtEl>
                                          <p:spTgt spid="46"/>
                                        </p:tgtEl>
                                      </p:cBhvr>
                                      <p:to>
                                        <p:strVal val="visible"/>
                                      </p:to>
                                    </p:set>
                                    <p:animEffect transition="in" filter="fade">
                                      <p:cBhvr>
                                        <p:cTn id="257" dur="550"/>
                                        <p:tgtEl>
                                          <p:spTgt spid="46"/>
                                        </p:tgtEl>
                                      </p:cBhvr>
                                    </p:animEffect>
                                  </p:childTnLst>
                                </p:cTn>
                              </p:par>
                            </p:childTnLst>
                          </p:cTn>
                        </p:par>
                        <p:par>
                          <p:cTn id="258" fill="hold">
                            <p:stCondLst>
                              <p:cond delay="0"/>
                            </p:stCondLst>
                            <p:childTnLst>
                              <p:par>
                                <p:cTn id="259" presetID="10" presetClass="entr" presetSubtype="0" fill="hold" grpId="0" nodeType="withEffect">
                                  <p:stCondLst>
                                    <p:cond delay="790"/>
                                  </p:stCondLst>
                                  <p:childTnLst>
                                    <p:set>
                                      <p:cBhvr>
                                        <p:cTn id="260" dur="1" fill="hold">
                                          <p:stCondLst>
                                            <p:cond delay="0"/>
                                          </p:stCondLst>
                                          <p:attrNameLst>
                                            <p:attrName>style.visibility</p:attrName>
                                          </p:attrNameLst>
                                        </p:cTn>
                                        <p:tgtEl>
                                          <p:spTgt spid="48"/>
                                        </p:tgtEl>
                                      </p:cBhvr>
                                      <p:to>
                                        <p:strVal val="visible"/>
                                      </p:to>
                                    </p:set>
                                    <p:animEffect transition="in" filter="fade">
                                      <p:cBhvr>
                                        <p:cTn id="261" dur="550"/>
                                        <p:tgtEl>
                                          <p:spTgt spid="48"/>
                                        </p:tgtEl>
                                      </p:cBhvr>
                                    </p:animEffect>
                                  </p:childTnLst>
                                </p:cTn>
                              </p:par>
                            </p:childTnLst>
                          </p:cTn>
                        </p:par>
                        <p:par>
                          <p:cTn id="262" fill="hold">
                            <p:stCondLst>
                              <p:cond delay="0"/>
                            </p:stCondLst>
                            <p:childTnLst>
                              <p:par>
                                <p:cTn id="263" presetID="10" presetClass="entr" presetSubtype="0" fill="hold" grpId="0" nodeType="withEffect">
                                  <p:stCondLst>
                                    <p:cond delay="880"/>
                                  </p:stCondLst>
                                  <p:childTnLst>
                                    <p:set>
                                      <p:cBhvr>
                                        <p:cTn id="264" dur="1" fill="hold">
                                          <p:stCondLst>
                                            <p:cond delay="0"/>
                                          </p:stCondLst>
                                          <p:attrNameLst>
                                            <p:attrName>style.visibility</p:attrName>
                                          </p:attrNameLst>
                                        </p:cTn>
                                        <p:tgtEl>
                                          <p:spTgt spid="50"/>
                                        </p:tgtEl>
                                      </p:cBhvr>
                                      <p:to>
                                        <p:strVal val="visible"/>
                                      </p:to>
                                    </p:set>
                                    <p:animEffect transition="in" filter="fade">
                                      <p:cBhvr>
                                        <p:cTn id="265" dur="550"/>
                                        <p:tgtEl>
                                          <p:spTgt spid="50"/>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CRUD OPERATIONS · DATABASE INTEGRATION</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Full CRUD, </a:t>
            </a:r>
            <a:r>
              <a:rPr sz="2700" b="1" i="0">
                <a:gradFill rotWithShape="1">
                  <a:gsLst>
                    <a:gs pos="0">
                      <a:srgbClr val="6366F1"/>
                    </a:gs>
                    <a:gs pos="55000">
                      <a:srgbClr val="8B5CF6"/>
                    </a:gs>
                    <a:gs pos="100000">
                      <a:srgbClr val="06B6D4"/>
                    </a:gs>
                  </a:gsLst>
                  <a:lin ang="0" scaled="1"/>
                </a:gradFill>
                <a:latin typeface="Segoe UI"/>
              </a:rPr>
              <a:t>fully integrated</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Every record is created, read, updated and deleted through validated, audited workflows.</a:t>
            </a:r>
          </a:p>
        </p:txBody>
      </p:sp>
      <p:sp>
        <p:nvSpPr>
          <p:cNvPr id="7" name="Rounded Rectangle 6"/>
          <p:cNvSpPr/>
          <p:nvPr/>
        </p:nvSpPr>
        <p:spPr>
          <a:xfrm>
            <a:off x="521207" y="1810512"/>
            <a:ext cx="4828032" cy="93268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76656" y="1993392"/>
            <a:ext cx="566928" cy="566928"/>
          </a:xfrm>
          <a:prstGeom prst="roundRect">
            <a:avLst>
              <a:gd name="adj" fmla="val 26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i="0">
                <a:solidFill>
                  <a:srgbClr val="FFFFFF"/>
                </a:solidFill>
                <a:latin typeface="Segoe UI"/>
              </a:rPr>
              <a:t>C</a:t>
            </a:r>
          </a:p>
        </p:txBody>
      </p:sp>
      <p:sp>
        <p:nvSpPr>
          <p:cNvPr id="9" name="TextBox 8"/>
          <p:cNvSpPr txBox="1"/>
          <p:nvPr/>
        </p:nvSpPr>
        <p:spPr>
          <a:xfrm>
            <a:off x="1417319" y="1929384"/>
            <a:ext cx="3794760" cy="292608"/>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Create</a:t>
            </a:r>
          </a:p>
        </p:txBody>
      </p:sp>
      <p:sp>
        <p:nvSpPr>
          <p:cNvPr id="10" name="TextBox 9"/>
          <p:cNvSpPr txBox="1"/>
          <p:nvPr/>
        </p:nvSpPr>
        <p:spPr>
          <a:xfrm>
            <a:off x="1417319" y="2240280"/>
            <a:ext cx="3794760" cy="475488"/>
          </a:xfrm>
          <a:prstGeom prst="rect">
            <a:avLst/>
          </a:prstGeom>
          <a:noFill/>
        </p:spPr>
        <p:txBody>
          <a:bodyPr wrap="square" anchor="t" lIns="0" rIns="0" tIns="0" bIns="0">
            <a:spAutoFit/>
          </a:bodyPr>
          <a:lstStyle/>
          <a:p>
            <a:pPr algn="l">
              <a:lnSpc>
                <a:spcPct val="112000"/>
              </a:lnSpc>
              <a:spcBef>
                <a:spcPts val="0"/>
              </a:spcBef>
              <a:spcAft>
                <a:spcPts val="0"/>
              </a:spcAft>
            </a:pPr>
            <a:r>
              <a:rPr sz="1030" b="0" i="0">
                <a:solidFill>
                  <a:srgbClr val="9699CC"/>
                </a:solidFill>
                <a:latin typeface="Segoe UI"/>
              </a:rPr>
              <a:t>Quizzes, questions, users, categories, announcements — plus bulk CSV / JSON import.</a:t>
            </a:r>
          </a:p>
        </p:txBody>
      </p:sp>
      <p:sp>
        <p:nvSpPr>
          <p:cNvPr id="11" name="Rounded Rectangle 10"/>
          <p:cNvSpPr/>
          <p:nvPr/>
        </p:nvSpPr>
        <p:spPr>
          <a:xfrm>
            <a:off x="521207" y="2871215"/>
            <a:ext cx="4828032" cy="93268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054096"/>
            <a:ext cx="566928" cy="566928"/>
          </a:xfrm>
          <a:prstGeom prst="roundRect">
            <a:avLst>
              <a:gd name="adj" fmla="val 26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i="0">
                <a:solidFill>
                  <a:srgbClr val="FFFFFF"/>
                </a:solidFill>
                <a:latin typeface="Segoe UI"/>
              </a:rPr>
              <a:t>R</a:t>
            </a:r>
          </a:p>
        </p:txBody>
      </p:sp>
      <p:sp>
        <p:nvSpPr>
          <p:cNvPr id="13" name="TextBox 12"/>
          <p:cNvSpPr txBox="1"/>
          <p:nvPr/>
        </p:nvSpPr>
        <p:spPr>
          <a:xfrm>
            <a:off x="1417319" y="2990087"/>
            <a:ext cx="3794760" cy="292608"/>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Read</a:t>
            </a:r>
          </a:p>
        </p:txBody>
      </p:sp>
      <p:sp>
        <p:nvSpPr>
          <p:cNvPr id="14" name="TextBox 13"/>
          <p:cNvSpPr txBox="1"/>
          <p:nvPr/>
        </p:nvSpPr>
        <p:spPr>
          <a:xfrm>
            <a:off x="1417319" y="3300983"/>
            <a:ext cx="3794760" cy="475488"/>
          </a:xfrm>
          <a:prstGeom prst="rect">
            <a:avLst/>
          </a:prstGeom>
          <a:noFill/>
        </p:spPr>
        <p:txBody>
          <a:bodyPr wrap="square" anchor="t" lIns="0" rIns="0" tIns="0" bIns="0">
            <a:spAutoFit/>
          </a:bodyPr>
          <a:lstStyle/>
          <a:p>
            <a:pPr algn="l">
              <a:lnSpc>
                <a:spcPct val="112000"/>
              </a:lnSpc>
              <a:spcBef>
                <a:spcPts val="0"/>
              </a:spcBef>
              <a:spcAft>
                <a:spcPts val="0"/>
              </a:spcAft>
            </a:pPr>
            <a:r>
              <a:rPr sz="1030" b="0" i="0">
                <a:solidFill>
                  <a:srgbClr val="9699CC"/>
                </a:solidFill>
                <a:latin typeface="Segoe UI"/>
              </a:rPr>
              <a:t>Live search, filters, sorting &amp; pagination on every list and dashboard.</a:t>
            </a:r>
          </a:p>
        </p:txBody>
      </p:sp>
      <p:sp>
        <p:nvSpPr>
          <p:cNvPr id="15" name="Rounded Rectangle 14"/>
          <p:cNvSpPr/>
          <p:nvPr/>
        </p:nvSpPr>
        <p:spPr>
          <a:xfrm>
            <a:off x="521207" y="3931920"/>
            <a:ext cx="4828032" cy="93268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76656" y="4114800"/>
            <a:ext cx="566928" cy="566928"/>
          </a:xfrm>
          <a:prstGeom prst="roundRect">
            <a:avLst>
              <a:gd name="adj" fmla="val 26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i="0">
                <a:solidFill>
                  <a:srgbClr val="FFFFFF"/>
                </a:solidFill>
                <a:latin typeface="Segoe UI"/>
              </a:rPr>
              <a:t>U</a:t>
            </a:r>
          </a:p>
        </p:txBody>
      </p:sp>
      <p:sp>
        <p:nvSpPr>
          <p:cNvPr id="17" name="TextBox 16"/>
          <p:cNvSpPr txBox="1"/>
          <p:nvPr/>
        </p:nvSpPr>
        <p:spPr>
          <a:xfrm>
            <a:off x="1417319" y="4050791"/>
            <a:ext cx="3794760" cy="292608"/>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Update</a:t>
            </a:r>
          </a:p>
        </p:txBody>
      </p:sp>
      <p:sp>
        <p:nvSpPr>
          <p:cNvPr id="18" name="TextBox 17"/>
          <p:cNvSpPr txBox="1"/>
          <p:nvPr/>
        </p:nvSpPr>
        <p:spPr>
          <a:xfrm>
            <a:off x="1417319" y="4361688"/>
            <a:ext cx="3794760" cy="475488"/>
          </a:xfrm>
          <a:prstGeom prst="rect">
            <a:avLst/>
          </a:prstGeom>
          <a:noFill/>
        </p:spPr>
        <p:txBody>
          <a:bodyPr wrap="square" anchor="t" lIns="0" rIns="0" tIns="0" bIns="0">
            <a:spAutoFit/>
          </a:bodyPr>
          <a:lstStyle/>
          <a:p>
            <a:pPr algn="l">
              <a:lnSpc>
                <a:spcPct val="112000"/>
              </a:lnSpc>
              <a:spcBef>
                <a:spcPts val="0"/>
              </a:spcBef>
              <a:spcAft>
                <a:spcPts val="0"/>
              </a:spcAft>
            </a:pPr>
            <a:r>
              <a:rPr sz="1030" b="0" i="0">
                <a:solidFill>
                  <a:srgbClr val="9699CC"/>
                </a:solidFill>
                <a:latin typeface="Segoe UI"/>
              </a:rPr>
              <a:t>Edit content, toggle publish state, manage roles &amp; account status.</a:t>
            </a:r>
          </a:p>
        </p:txBody>
      </p:sp>
      <p:sp>
        <p:nvSpPr>
          <p:cNvPr id="19" name="Rounded Rectangle 18"/>
          <p:cNvSpPr/>
          <p:nvPr/>
        </p:nvSpPr>
        <p:spPr>
          <a:xfrm>
            <a:off x="521207" y="4992624"/>
            <a:ext cx="4828032" cy="93268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76656" y="5175504"/>
            <a:ext cx="566928" cy="566928"/>
          </a:xfrm>
          <a:prstGeom prst="roundRect">
            <a:avLst>
              <a:gd name="adj" fmla="val 26000"/>
            </a:avLst>
          </a:prstGeom>
          <a:gradFill rotWithShape="1">
            <a:gsLst>
              <a:gs pos="0">
                <a:srgbClr val="6366F1"/>
              </a:gs>
              <a:gs pos="55000">
                <a:srgbClr val="8B5CF6"/>
              </a:gs>
              <a:gs pos="100000">
                <a:srgbClr val="06B6D4"/>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i="0">
                <a:solidFill>
                  <a:srgbClr val="FFFFFF"/>
                </a:solidFill>
                <a:latin typeface="Segoe UI"/>
              </a:rPr>
              <a:t>D</a:t>
            </a:r>
          </a:p>
        </p:txBody>
      </p:sp>
      <p:sp>
        <p:nvSpPr>
          <p:cNvPr id="21" name="TextBox 20"/>
          <p:cNvSpPr txBox="1"/>
          <p:nvPr/>
        </p:nvSpPr>
        <p:spPr>
          <a:xfrm>
            <a:off x="1417319" y="5111496"/>
            <a:ext cx="3794760" cy="292608"/>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Delete</a:t>
            </a:r>
          </a:p>
        </p:txBody>
      </p:sp>
      <p:sp>
        <p:nvSpPr>
          <p:cNvPr id="22" name="TextBox 21"/>
          <p:cNvSpPr txBox="1"/>
          <p:nvPr/>
        </p:nvSpPr>
        <p:spPr>
          <a:xfrm>
            <a:off x="1417319" y="5422392"/>
            <a:ext cx="3794760" cy="475488"/>
          </a:xfrm>
          <a:prstGeom prst="rect">
            <a:avLst/>
          </a:prstGeom>
          <a:noFill/>
        </p:spPr>
        <p:txBody>
          <a:bodyPr wrap="square" anchor="t" lIns="0" rIns="0" tIns="0" bIns="0">
            <a:spAutoFit/>
          </a:bodyPr>
          <a:lstStyle/>
          <a:p>
            <a:pPr algn="l">
              <a:lnSpc>
                <a:spcPct val="112000"/>
              </a:lnSpc>
              <a:spcBef>
                <a:spcPts val="0"/>
              </a:spcBef>
              <a:spcAft>
                <a:spcPts val="0"/>
              </a:spcAft>
            </a:pPr>
            <a:r>
              <a:rPr sz="1030" b="0" i="0">
                <a:solidFill>
                  <a:srgbClr val="9699CC"/>
                </a:solidFill>
                <a:latin typeface="Segoe UI"/>
              </a:rPr>
              <a:t>Confirmation dialog first — every deletion is written to the audit log.</a:t>
            </a:r>
          </a:p>
        </p:txBody>
      </p:sp>
      <p:sp>
        <p:nvSpPr>
          <p:cNvPr id="23" name="Rounded Rectangle 22"/>
          <p:cNvSpPr/>
          <p:nvPr/>
        </p:nvSpPr>
        <p:spPr>
          <a:xfrm>
            <a:off x="5687568" y="1810512"/>
            <a:ext cx="5980176" cy="4035932"/>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43016" y="1920240"/>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035040" y="1920240"/>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227064" y="1920240"/>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02215" y="1869948"/>
            <a:ext cx="2750880"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02215" y="1869948"/>
            <a:ext cx="2750880"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quizmaster.app/admin/quizzes</a:t>
            </a:r>
          </a:p>
        </p:txBody>
      </p:sp>
      <p:pic>
        <p:nvPicPr>
          <p:cNvPr id="29" name="Picture 28" descr="admin_quizzes.jpg"/>
          <p:cNvPicPr>
            <a:picLocks noChangeAspect="1"/>
          </p:cNvPicPr>
          <p:nvPr/>
        </p:nvPicPr>
        <p:blipFill>
          <a:blip r:embed="rId3"/>
          <a:stretch>
            <a:fillRect/>
          </a:stretch>
        </p:blipFill>
        <p:spPr>
          <a:xfrm>
            <a:off x="5737859" y="2121408"/>
            <a:ext cx="5879592" cy="3674745"/>
          </a:xfrm>
          <a:prstGeom prst="roundRect">
            <a:avLst>
              <a:gd name="adj" fmla="val 2600"/>
            </a:avLst>
          </a:prstGeom>
        </p:spPr>
      </p:pic>
      <p:sp>
        <p:nvSpPr>
          <p:cNvPr id="30" name="Rounded Rectangle 29"/>
          <p:cNvSpPr/>
          <p:nvPr/>
        </p:nvSpPr>
        <p:spPr>
          <a:xfrm>
            <a:off x="5468112" y="3767328"/>
            <a:ext cx="3127248" cy="2197989"/>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623560" y="3849624"/>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815584" y="3849624"/>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007608" y="3849624"/>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12468" y="3799331"/>
            <a:ext cx="1438534"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12468" y="3799331"/>
            <a:ext cx="1438534"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quizmaster.app/admin/questions</a:t>
            </a:r>
          </a:p>
        </p:txBody>
      </p:sp>
      <p:pic>
        <p:nvPicPr>
          <p:cNvPr id="36" name="Picture 35" descr="question_bank.jpg"/>
          <p:cNvPicPr>
            <a:picLocks noChangeAspect="1"/>
          </p:cNvPicPr>
          <p:nvPr/>
        </p:nvPicPr>
        <p:blipFill>
          <a:blip r:embed="rId4"/>
          <a:stretch>
            <a:fillRect/>
          </a:stretch>
        </p:blipFill>
        <p:spPr>
          <a:xfrm>
            <a:off x="5518404" y="4023360"/>
            <a:ext cx="3026664" cy="1891665"/>
          </a:xfrm>
          <a:prstGeom prst="roundRect">
            <a:avLst>
              <a:gd name="adj" fmla="val 2600"/>
            </a:avLst>
          </a:prstGeom>
        </p:spPr>
      </p:pic>
      <p:sp>
        <p:nvSpPr>
          <p:cNvPr id="37" name="Rounded Rectangle 36"/>
          <p:cNvSpPr/>
          <p:nvPr/>
        </p:nvSpPr>
        <p:spPr>
          <a:xfrm>
            <a:off x="521207" y="6053328"/>
            <a:ext cx="11149279" cy="384048"/>
          </a:xfrm>
          <a:prstGeom prst="roundRect">
            <a:avLst>
              <a:gd name="adj" fmla="val 24000"/>
            </a:avLst>
          </a:prstGeom>
          <a:solidFill>
            <a:srgbClr val="14143A"/>
          </a:solidFill>
          <a:ln w="12700">
            <a:solidFill>
              <a:srgbClr val="2D2D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7" y="6053328"/>
            <a:ext cx="11149279" cy="384048"/>
          </a:xfrm>
          <a:prstGeom prst="rect">
            <a:avLst/>
          </a:prstGeom>
          <a:noFill/>
        </p:spPr>
        <p:txBody>
          <a:bodyPr wrap="square" anchor="ctr" lIns="0" rIns="0" tIns="0" bIns="0">
            <a:spAutoFit/>
          </a:bodyPr>
          <a:lstStyle/>
          <a:p>
            <a:pPr algn="ctr">
              <a:spcBef>
                <a:spcPts val="0"/>
              </a:spcBef>
              <a:spcAft>
                <a:spcPts val="0"/>
              </a:spcAft>
            </a:pPr>
            <a:r>
              <a:rPr sz="1080" b="0" i="0">
                <a:solidFill>
                  <a:srgbClr val="CDD1F2"/>
                </a:solidFill>
                <a:latin typeface="Segoe UI"/>
              </a:rPr>
              <a:t>SQLAlchemy ORM · Alembic migrations · unique constraints block duplicates · append-only audit log · automatic backups</a:t>
            </a:r>
          </a:p>
        </p:txBody>
      </p:sp>
      <p:sp>
        <p:nvSpPr>
          <p:cNvPr id="39" name="TextBox 38"/>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40" name="TextBox 39"/>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08</a:t>
            </a:r>
            <a:r>
              <a:rPr sz="1000" b="0" i="0">
                <a:solidFill>
                  <a:srgbClr val="6F72AA"/>
                </a:solidFill>
                <a:latin typeface="Segoe UI"/>
              </a:rPr>
              <a:t> / 11</a:t>
            </a:r>
          </a:p>
        </p:txBody>
      </p:sp>
    </p:spTree>
  </p:cSld>
  <p:clrMapOvr>
    <a:masterClrMapping/>
  </p:clrMapOvr>
  <p:transition spd="med" advClick="1">
    <p:wipe dir="r"/>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18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290"/>
                                  </p:stCondLst>
                                  <p:childTnLst>
                                    <p:set>
                                      <p:cBhvr>
                                        <p:cTn id="124" dur="1" fill="hold">
                                          <p:stCondLst>
                                            <p:cond delay="0"/>
                                          </p:stCondLst>
                                          <p:attrNameLst>
                                            <p:attrName>style.visibility</p:attrName>
                                          </p:attrNameLst>
                                        </p:cTn>
                                        <p:tgtEl>
                                          <p:spTgt spid="11"/>
                                        </p:tgtEl>
                                      </p:cBhvr>
                                      <p:to>
                                        <p:strVal val="visible"/>
                                      </p:to>
                                    </p:set>
                                    <p:animEffect transition="in" filter="fade">
                                      <p:cBhvr>
                                        <p:cTn id="125" dur="550"/>
                                        <p:tgtEl>
                                          <p:spTgt spid="11"/>
                                        </p:tgtEl>
                                      </p:cBhvr>
                                    </p:animEffect>
                                  </p:childTnLst>
                                </p:cTn>
                              </p:par>
                            </p:childTnLst>
                          </p:cTn>
                        </p:par>
                        <p:par>
                          <p:cTn id="126" fill="hold">
                            <p:stCondLst>
                              <p:cond delay="0"/>
                            </p:stCondLst>
                            <p:childTnLst>
                              <p:par>
                                <p:cTn id="127" presetID="10" presetClass="entr" presetSubtype="0" fill="hold" grpId="0" nodeType="withEffect">
                                  <p:stCondLst>
                                    <p:cond delay="400"/>
                                  </p:stCondLst>
                                  <p:childTnLst>
                                    <p:set>
                                      <p:cBhvr>
                                        <p:cTn id="128" dur="1" fill="hold">
                                          <p:stCondLst>
                                            <p:cond delay="0"/>
                                          </p:stCondLst>
                                          <p:attrNameLst>
                                            <p:attrName>style.visibility</p:attrName>
                                          </p:attrNameLst>
                                        </p:cTn>
                                        <p:tgtEl>
                                          <p:spTgt spid="15"/>
                                        </p:tgtEl>
                                      </p:cBhvr>
                                      <p:to>
                                        <p:strVal val="visible"/>
                                      </p:to>
                                    </p:set>
                                    <p:animEffect transition="in" filter="fade">
                                      <p:cBhvr>
                                        <p:cTn id="129" dur="550"/>
                                        <p:tgtEl>
                                          <p:spTgt spid="15"/>
                                        </p:tgtEl>
                                      </p:cBhvr>
                                    </p:animEffect>
                                  </p:childTnLst>
                                </p:cTn>
                              </p:par>
                            </p:childTnLst>
                          </p:cTn>
                        </p:par>
                        <p:par>
                          <p:cTn id="130" fill="hold">
                            <p:stCondLst>
                              <p:cond delay="0"/>
                            </p:stCondLst>
                            <p:childTnLst>
                              <p:par>
                                <p:cTn id="131" presetID="10" presetClass="entr" presetSubtype="0" fill="hold" grpId="0" nodeType="withEffect">
                                  <p:stCondLst>
                                    <p:cond delay="510"/>
                                  </p:stCondLst>
                                  <p:childTnLst>
                                    <p:set>
                                      <p:cBhvr>
                                        <p:cTn id="132" dur="1" fill="hold">
                                          <p:stCondLst>
                                            <p:cond delay="0"/>
                                          </p:stCondLst>
                                          <p:attrNameLst>
                                            <p:attrName>style.visibility</p:attrName>
                                          </p:attrNameLst>
                                        </p:cTn>
                                        <p:tgtEl>
                                          <p:spTgt spid="19"/>
                                        </p:tgtEl>
                                      </p:cBhvr>
                                      <p:to>
                                        <p:strVal val="visible"/>
                                      </p:to>
                                    </p:set>
                                    <p:animEffect transition="in" filter="fade">
                                      <p:cBhvr>
                                        <p:cTn id="133" dur="550"/>
                                        <p:tgtEl>
                                          <p:spTgt spid="19"/>
                                        </p:tgtEl>
                                      </p:cBhvr>
                                    </p:animEffect>
                                  </p:childTnLst>
                                </p:cTn>
                              </p:par>
                            </p:childTnLst>
                          </p:cTn>
                        </p:par>
                        <p:par>
                          <p:cTn id="134" fill="hold">
                            <p:stCondLst>
                              <p:cond delay="0"/>
                            </p:stCondLst>
                            <p:childTnLst>
                              <p:par>
                                <p:cTn id="135" presetID="10" presetClass="entr" presetSubtype="0" fill="hold" grpId="0" nodeType="withEffect">
                                  <p:stCondLst>
                                    <p:cond delay="320"/>
                                  </p:stCondLst>
                                  <p:childTnLst>
                                    <p:set>
                                      <p:cBhvr>
                                        <p:cTn id="136" dur="1" fill="hold">
                                          <p:stCondLst>
                                            <p:cond delay="0"/>
                                          </p:stCondLst>
                                          <p:attrNameLst>
                                            <p:attrName>style.visibility</p:attrName>
                                          </p:attrNameLst>
                                        </p:cTn>
                                        <p:tgtEl>
                                          <p:spTgt spid="23"/>
                                        </p:tgtEl>
                                      </p:cBhvr>
                                      <p:to>
                                        <p:strVal val="visible"/>
                                      </p:to>
                                    </p:set>
                                    <p:animEffect transition="in" filter="fade">
                                      <p:cBhvr>
                                        <p:cTn id="137" dur="550"/>
                                        <p:tgtEl>
                                          <p:spTgt spid="23"/>
                                        </p:tgtEl>
                                      </p:cBhvr>
                                    </p:animEffect>
                                  </p:childTnLst>
                                </p:cTn>
                              </p:par>
                            </p:childTnLst>
                          </p:cTn>
                        </p:par>
                        <p:par>
                          <p:cTn id="138" fill="hold">
                            <p:stCondLst>
                              <p:cond delay="0"/>
                            </p:stCondLst>
                            <p:childTnLst>
                              <p:par>
                                <p:cTn id="139" presetID="10" presetClass="entr" presetSubtype="0" fill="hold" grpId="0" nodeType="withEffect">
                                  <p:stCondLst>
                                    <p:cond delay="320"/>
                                  </p:stCondLst>
                                  <p:childTnLst>
                                    <p:set>
                                      <p:cBhvr>
                                        <p:cTn id="140" dur="1" fill="hold">
                                          <p:stCondLst>
                                            <p:cond delay="0"/>
                                          </p:stCondLst>
                                          <p:attrNameLst>
                                            <p:attrName>style.visibility</p:attrName>
                                          </p:attrNameLst>
                                        </p:cTn>
                                        <p:tgtEl>
                                          <p:spTgt spid="24"/>
                                        </p:tgtEl>
                                      </p:cBhvr>
                                      <p:to>
                                        <p:strVal val="visible"/>
                                      </p:to>
                                    </p:set>
                                    <p:animEffect transition="in" filter="fade">
                                      <p:cBhvr>
                                        <p:cTn id="141" dur="550"/>
                                        <p:tgtEl>
                                          <p:spTgt spid="24"/>
                                        </p:tgtEl>
                                      </p:cBhvr>
                                    </p:animEffect>
                                  </p:childTnLst>
                                </p:cTn>
                              </p:par>
                            </p:childTnLst>
                          </p:cTn>
                        </p:par>
                        <p:par>
                          <p:cTn id="142" fill="hold">
                            <p:stCondLst>
                              <p:cond delay="0"/>
                            </p:stCondLst>
                            <p:childTnLst>
                              <p:par>
                                <p:cTn id="143" presetID="10" presetClass="entr" presetSubtype="0" fill="hold" grpId="0" nodeType="withEffect">
                                  <p:stCondLst>
                                    <p:cond delay="320"/>
                                  </p:stCondLst>
                                  <p:childTnLst>
                                    <p:set>
                                      <p:cBhvr>
                                        <p:cTn id="144" dur="1" fill="hold">
                                          <p:stCondLst>
                                            <p:cond delay="0"/>
                                          </p:stCondLst>
                                          <p:attrNameLst>
                                            <p:attrName>style.visibility</p:attrName>
                                          </p:attrNameLst>
                                        </p:cTn>
                                        <p:tgtEl>
                                          <p:spTgt spid="25"/>
                                        </p:tgtEl>
                                      </p:cBhvr>
                                      <p:to>
                                        <p:strVal val="visible"/>
                                      </p:to>
                                    </p:set>
                                    <p:animEffect transition="in" filter="fade">
                                      <p:cBhvr>
                                        <p:cTn id="145" dur="550"/>
                                        <p:tgtEl>
                                          <p:spTgt spid="25"/>
                                        </p:tgtEl>
                                      </p:cBhvr>
                                    </p:animEffect>
                                  </p:childTnLst>
                                </p:cTn>
                              </p:par>
                            </p:childTnLst>
                          </p:cTn>
                        </p:par>
                        <p:par>
                          <p:cTn id="146" fill="hold">
                            <p:stCondLst>
                              <p:cond delay="0"/>
                            </p:stCondLst>
                            <p:childTnLst>
                              <p:par>
                                <p:cTn id="147" presetID="10" presetClass="entr" presetSubtype="0" fill="hold" grpId="0" nodeType="withEffect">
                                  <p:stCondLst>
                                    <p:cond delay="320"/>
                                  </p:stCondLst>
                                  <p:childTnLst>
                                    <p:set>
                                      <p:cBhvr>
                                        <p:cTn id="148" dur="1" fill="hold">
                                          <p:stCondLst>
                                            <p:cond delay="0"/>
                                          </p:stCondLst>
                                          <p:attrNameLst>
                                            <p:attrName>style.visibility</p:attrName>
                                          </p:attrNameLst>
                                        </p:cTn>
                                        <p:tgtEl>
                                          <p:spTgt spid="26"/>
                                        </p:tgtEl>
                                      </p:cBhvr>
                                      <p:to>
                                        <p:strVal val="visible"/>
                                      </p:to>
                                    </p:set>
                                    <p:animEffect transition="in" filter="fade">
                                      <p:cBhvr>
                                        <p:cTn id="149" dur="550"/>
                                        <p:tgtEl>
                                          <p:spTgt spid="26"/>
                                        </p:tgtEl>
                                      </p:cBhvr>
                                    </p:animEffect>
                                  </p:childTnLst>
                                </p:cTn>
                              </p:par>
                            </p:childTnLst>
                          </p:cTn>
                        </p:par>
                        <p:par>
                          <p:cTn id="150" fill="hold">
                            <p:stCondLst>
                              <p:cond delay="0"/>
                            </p:stCondLst>
                            <p:childTnLst>
                              <p:par>
                                <p:cTn id="151" presetID="10" presetClass="entr" presetSubtype="0" fill="hold" grpId="0" nodeType="withEffect">
                                  <p:stCondLst>
                                    <p:cond delay="320"/>
                                  </p:stCondLst>
                                  <p:childTnLst>
                                    <p:set>
                                      <p:cBhvr>
                                        <p:cTn id="152" dur="1" fill="hold">
                                          <p:stCondLst>
                                            <p:cond delay="0"/>
                                          </p:stCondLst>
                                          <p:attrNameLst>
                                            <p:attrName>style.visibility</p:attrName>
                                          </p:attrNameLst>
                                        </p:cTn>
                                        <p:tgtEl>
                                          <p:spTgt spid="27"/>
                                        </p:tgtEl>
                                      </p:cBhvr>
                                      <p:to>
                                        <p:strVal val="visible"/>
                                      </p:to>
                                    </p:set>
                                    <p:animEffect transition="in" filter="fade">
                                      <p:cBhvr>
                                        <p:cTn id="153" dur="550"/>
                                        <p:tgtEl>
                                          <p:spTgt spid="27"/>
                                        </p:tgtEl>
                                      </p:cBhvr>
                                    </p:animEffect>
                                  </p:childTnLst>
                                </p:cTn>
                              </p:par>
                            </p:childTnLst>
                          </p:cTn>
                        </p:par>
                        <p:par>
                          <p:cTn id="154" fill="hold">
                            <p:stCondLst>
                              <p:cond delay="0"/>
                            </p:stCondLst>
                            <p:childTnLst>
                              <p:par>
                                <p:cTn id="155" presetID="10" presetClass="entr" presetSubtype="0" fill="hold" grpId="0" nodeType="withEffect">
                                  <p:stCondLst>
                                    <p:cond delay="320"/>
                                  </p:stCondLst>
                                  <p:childTnLst>
                                    <p:set>
                                      <p:cBhvr>
                                        <p:cTn id="156" dur="1" fill="hold">
                                          <p:stCondLst>
                                            <p:cond delay="0"/>
                                          </p:stCondLst>
                                          <p:attrNameLst>
                                            <p:attrName>style.visibility</p:attrName>
                                          </p:attrNameLst>
                                        </p:cTn>
                                        <p:tgtEl>
                                          <p:spTgt spid="28"/>
                                        </p:tgtEl>
                                      </p:cBhvr>
                                      <p:to>
                                        <p:strVal val="visible"/>
                                      </p:to>
                                    </p:set>
                                    <p:animEffect transition="in" filter="fade">
                                      <p:cBhvr>
                                        <p:cTn id="157" dur="550"/>
                                        <p:tgtEl>
                                          <p:spTgt spid="28"/>
                                        </p:tgtEl>
                                      </p:cBhvr>
                                    </p:animEffect>
                                  </p:childTnLst>
                                </p:cTn>
                              </p:par>
                            </p:childTnLst>
                          </p:cTn>
                        </p:par>
                        <p:par>
                          <p:cTn id="158" fill="hold">
                            <p:stCondLst>
                              <p:cond delay="0"/>
                            </p:stCondLst>
                            <p:childTnLst>
                              <p:par>
                                <p:cTn id="159" presetID="10" presetClass="entr" presetSubtype="0" fill="hold" grpId="0" nodeType="withEffect">
                                  <p:stCondLst>
                                    <p:cond delay="320"/>
                                  </p:stCondLst>
                                  <p:childTnLst>
                                    <p:set>
                                      <p:cBhvr>
                                        <p:cTn id="160" dur="1" fill="hold">
                                          <p:stCondLst>
                                            <p:cond delay="0"/>
                                          </p:stCondLst>
                                          <p:attrNameLst>
                                            <p:attrName>style.visibility</p:attrName>
                                          </p:attrNameLst>
                                        </p:cTn>
                                        <p:tgtEl>
                                          <p:spTgt spid="29"/>
                                        </p:tgtEl>
                                      </p:cBhvr>
                                      <p:to>
                                        <p:strVal val="visible"/>
                                      </p:to>
                                    </p:set>
                                    <p:animEffect transition="in" filter="fade">
                                      <p:cBhvr>
                                        <p:cTn id="161" dur="550"/>
                                        <p:tgtEl>
                                          <p:spTgt spid="29"/>
                                        </p:tgtEl>
                                      </p:cBhvr>
                                    </p:animEffect>
                                  </p:childTnLst>
                                </p:cTn>
                              </p:par>
                            </p:childTnLst>
                          </p:cTn>
                        </p:par>
                        <p:par>
                          <p:cTn id="162" fill="hold">
                            <p:stCondLst>
                              <p:cond delay="0"/>
                            </p:stCondLst>
                            <p:childTnLst>
                              <p:par>
                                <p:cTn id="163" presetID="10" presetClass="entr" presetSubtype="0" fill="hold" grpId="0" nodeType="withEffect">
                                  <p:stCondLst>
                                    <p:cond delay="560"/>
                                  </p:stCondLst>
                                  <p:childTnLst>
                                    <p:set>
                                      <p:cBhvr>
                                        <p:cTn id="164" dur="1" fill="hold">
                                          <p:stCondLst>
                                            <p:cond delay="0"/>
                                          </p:stCondLst>
                                          <p:attrNameLst>
                                            <p:attrName>style.visibility</p:attrName>
                                          </p:attrNameLst>
                                        </p:cTn>
                                        <p:tgtEl>
                                          <p:spTgt spid="30"/>
                                        </p:tgtEl>
                                      </p:cBhvr>
                                      <p:to>
                                        <p:strVal val="visible"/>
                                      </p:to>
                                    </p:set>
                                    <p:animEffect transition="in" filter="fade">
                                      <p:cBhvr>
                                        <p:cTn id="165" dur="550"/>
                                        <p:tgtEl>
                                          <p:spTgt spid="30"/>
                                        </p:tgtEl>
                                      </p:cBhvr>
                                    </p:animEffect>
                                  </p:childTnLst>
                                </p:cTn>
                              </p:par>
                            </p:childTnLst>
                          </p:cTn>
                        </p:par>
                        <p:par>
                          <p:cTn id="166" fill="hold">
                            <p:stCondLst>
                              <p:cond delay="0"/>
                            </p:stCondLst>
                            <p:childTnLst>
                              <p:par>
                                <p:cTn id="167" presetID="10" presetClass="entr" presetSubtype="0" fill="hold" grpId="0" nodeType="withEffect">
                                  <p:stCondLst>
                                    <p:cond delay="560"/>
                                  </p:stCondLst>
                                  <p:childTnLst>
                                    <p:set>
                                      <p:cBhvr>
                                        <p:cTn id="168" dur="1" fill="hold">
                                          <p:stCondLst>
                                            <p:cond delay="0"/>
                                          </p:stCondLst>
                                          <p:attrNameLst>
                                            <p:attrName>style.visibility</p:attrName>
                                          </p:attrNameLst>
                                        </p:cTn>
                                        <p:tgtEl>
                                          <p:spTgt spid="31"/>
                                        </p:tgtEl>
                                      </p:cBhvr>
                                      <p:to>
                                        <p:strVal val="visible"/>
                                      </p:to>
                                    </p:set>
                                    <p:animEffect transition="in" filter="fade">
                                      <p:cBhvr>
                                        <p:cTn id="169" dur="550"/>
                                        <p:tgtEl>
                                          <p:spTgt spid="31"/>
                                        </p:tgtEl>
                                      </p:cBhvr>
                                    </p:animEffect>
                                  </p:childTnLst>
                                </p:cTn>
                              </p:par>
                            </p:childTnLst>
                          </p:cTn>
                        </p:par>
                        <p:par>
                          <p:cTn id="170" fill="hold">
                            <p:stCondLst>
                              <p:cond delay="0"/>
                            </p:stCondLst>
                            <p:childTnLst>
                              <p:par>
                                <p:cTn id="171" presetID="10" presetClass="entr" presetSubtype="0" fill="hold" grpId="0" nodeType="withEffect">
                                  <p:stCondLst>
                                    <p:cond delay="560"/>
                                  </p:stCondLst>
                                  <p:childTnLst>
                                    <p:set>
                                      <p:cBhvr>
                                        <p:cTn id="172" dur="1" fill="hold">
                                          <p:stCondLst>
                                            <p:cond delay="0"/>
                                          </p:stCondLst>
                                          <p:attrNameLst>
                                            <p:attrName>style.visibility</p:attrName>
                                          </p:attrNameLst>
                                        </p:cTn>
                                        <p:tgtEl>
                                          <p:spTgt spid="32"/>
                                        </p:tgtEl>
                                      </p:cBhvr>
                                      <p:to>
                                        <p:strVal val="visible"/>
                                      </p:to>
                                    </p:set>
                                    <p:animEffect transition="in" filter="fade">
                                      <p:cBhvr>
                                        <p:cTn id="173" dur="550"/>
                                        <p:tgtEl>
                                          <p:spTgt spid="32"/>
                                        </p:tgtEl>
                                      </p:cBhvr>
                                    </p:animEffect>
                                  </p:childTnLst>
                                </p:cTn>
                              </p:par>
                            </p:childTnLst>
                          </p:cTn>
                        </p:par>
                        <p:par>
                          <p:cTn id="174" fill="hold">
                            <p:stCondLst>
                              <p:cond delay="0"/>
                            </p:stCondLst>
                            <p:childTnLst>
                              <p:par>
                                <p:cTn id="175" presetID="10" presetClass="entr" presetSubtype="0" fill="hold" grpId="0" nodeType="withEffect">
                                  <p:stCondLst>
                                    <p:cond delay="560"/>
                                  </p:stCondLst>
                                  <p:childTnLst>
                                    <p:set>
                                      <p:cBhvr>
                                        <p:cTn id="176" dur="1" fill="hold">
                                          <p:stCondLst>
                                            <p:cond delay="0"/>
                                          </p:stCondLst>
                                          <p:attrNameLst>
                                            <p:attrName>style.visibility</p:attrName>
                                          </p:attrNameLst>
                                        </p:cTn>
                                        <p:tgtEl>
                                          <p:spTgt spid="33"/>
                                        </p:tgtEl>
                                      </p:cBhvr>
                                      <p:to>
                                        <p:strVal val="visible"/>
                                      </p:to>
                                    </p:set>
                                    <p:animEffect transition="in" filter="fade">
                                      <p:cBhvr>
                                        <p:cTn id="177" dur="550"/>
                                        <p:tgtEl>
                                          <p:spTgt spid="33"/>
                                        </p:tgtEl>
                                      </p:cBhvr>
                                    </p:animEffect>
                                  </p:childTnLst>
                                </p:cTn>
                              </p:par>
                            </p:childTnLst>
                          </p:cTn>
                        </p:par>
                        <p:par>
                          <p:cTn id="178" fill="hold">
                            <p:stCondLst>
                              <p:cond delay="0"/>
                            </p:stCondLst>
                            <p:childTnLst>
                              <p:par>
                                <p:cTn id="179" presetID="10" presetClass="entr" presetSubtype="0" fill="hold" grpId="0" nodeType="withEffect">
                                  <p:stCondLst>
                                    <p:cond delay="560"/>
                                  </p:stCondLst>
                                  <p:childTnLst>
                                    <p:set>
                                      <p:cBhvr>
                                        <p:cTn id="180" dur="1" fill="hold">
                                          <p:stCondLst>
                                            <p:cond delay="0"/>
                                          </p:stCondLst>
                                          <p:attrNameLst>
                                            <p:attrName>style.visibility</p:attrName>
                                          </p:attrNameLst>
                                        </p:cTn>
                                        <p:tgtEl>
                                          <p:spTgt spid="34"/>
                                        </p:tgtEl>
                                      </p:cBhvr>
                                      <p:to>
                                        <p:strVal val="visible"/>
                                      </p:to>
                                    </p:set>
                                    <p:animEffect transition="in" filter="fade">
                                      <p:cBhvr>
                                        <p:cTn id="181" dur="550"/>
                                        <p:tgtEl>
                                          <p:spTgt spid="34"/>
                                        </p:tgtEl>
                                      </p:cBhvr>
                                    </p:animEffect>
                                  </p:childTnLst>
                                </p:cTn>
                              </p:par>
                            </p:childTnLst>
                          </p:cTn>
                        </p:par>
                        <p:par>
                          <p:cTn id="182" fill="hold">
                            <p:stCondLst>
                              <p:cond delay="0"/>
                            </p:stCondLst>
                            <p:childTnLst>
                              <p:par>
                                <p:cTn id="183" presetID="10" presetClass="entr" presetSubtype="0" fill="hold" grpId="0" nodeType="withEffect">
                                  <p:stCondLst>
                                    <p:cond delay="560"/>
                                  </p:stCondLst>
                                  <p:childTnLst>
                                    <p:set>
                                      <p:cBhvr>
                                        <p:cTn id="184" dur="1" fill="hold">
                                          <p:stCondLst>
                                            <p:cond delay="0"/>
                                          </p:stCondLst>
                                          <p:attrNameLst>
                                            <p:attrName>style.visibility</p:attrName>
                                          </p:attrNameLst>
                                        </p:cTn>
                                        <p:tgtEl>
                                          <p:spTgt spid="35"/>
                                        </p:tgtEl>
                                      </p:cBhvr>
                                      <p:to>
                                        <p:strVal val="visible"/>
                                      </p:to>
                                    </p:set>
                                    <p:animEffect transition="in" filter="fade">
                                      <p:cBhvr>
                                        <p:cTn id="185" dur="550"/>
                                        <p:tgtEl>
                                          <p:spTgt spid="35"/>
                                        </p:tgtEl>
                                      </p:cBhvr>
                                    </p:animEffect>
                                  </p:childTnLst>
                                </p:cTn>
                              </p:par>
                            </p:childTnLst>
                          </p:cTn>
                        </p:par>
                        <p:par>
                          <p:cTn id="186" fill="hold">
                            <p:stCondLst>
                              <p:cond delay="0"/>
                            </p:stCondLst>
                            <p:childTnLst>
                              <p:par>
                                <p:cTn id="187" presetID="10" presetClass="entr" presetSubtype="0" fill="hold" grpId="0" nodeType="withEffect">
                                  <p:stCondLst>
                                    <p:cond delay="560"/>
                                  </p:stCondLst>
                                  <p:childTnLst>
                                    <p:set>
                                      <p:cBhvr>
                                        <p:cTn id="188" dur="1" fill="hold">
                                          <p:stCondLst>
                                            <p:cond delay="0"/>
                                          </p:stCondLst>
                                          <p:attrNameLst>
                                            <p:attrName>style.visibility</p:attrName>
                                          </p:attrNameLst>
                                        </p:cTn>
                                        <p:tgtEl>
                                          <p:spTgt spid="36"/>
                                        </p:tgtEl>
                                      </p:cBhvr>
                                      <p:to>
                                        <p:strVal val="visible"/>
                                      </p:to>
                                    </p:set>
                                    <p:animEffect transition="in" filter="fade">
                                      <p:cBhvr>
                                        <p:cTn id="189" dur="550"/>
                                        <p:tgtEl>
                                          <p:spTgt spid="36"/>
                                        </p:tgtEl>
                                      </p:cBhvr>
                                    </p:animEffect>
                                  </p:childTnLst>
                                </p:cTn>
                              </p:par>
                            </p:childTnLst>
                          </p:cTn>
                        </p:par>
                        <p:par>
                          <p:cTn id="190" fill="hold">
                            <p:stCondLst>
                              <p:cond delay="0"/>
                            </p:stCondLst>
                            <p:childTnLst>
                              <p:par>
                                <p:cTn id="191" presetID="10" presetClass="entr" presetSubtype="0" fill="hold" grpId="0" nodeType="withEffect">
                                  <p:stCondLst>
                                    <p:cond delay="740"/>
                                  </p:stCondLst>
                                  <p:childTnLst>
                                    <p:set>
                                      <p:cBhvr>
                                        <p:cTn id="192" dur="1" fill="hold">
                                          <p:stCondLst>
                                            <p:cond delay="0"/>
                                          </p:stCondLst>
                                          <p:attrNameLst>
                                            <p:attrName>style.visibility</p:attrName>
                                          </p:attrNameLst>
                                        </p:cTn>
                                        <p:tgtEl>
                                          <p:spTgt spid="37"/>
                                        </p:tgtEl>
                                      </p:cBhvr>
                                      <p:to>
                                        <p:strVal val="visible"/>
                                      </p:to>
                                    </p:set>
                                    <p:animEffect transition="in" filter="fade">
                                      <p:cBhvr>
                                        <p:cTn id="193" dur="550"/>
                                        <p:tgtEl>
                                          <p:spTgt spid="37"/>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PRODUCT TOUR · STUDENT SIDE</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A dashboard that </a:t>
            </a:r>
            <a:r>
              <a:rPr sz="2700" b="1" i="0">
                <a:gradFill rotWithShape="1">
                  <a:gsLst>
                    <a:gs pos="0">
                      <a:srgbClr val="6366F1"/>
                    </a:gs>
                    <a:gs pos="55000">
                      <a:srgbClr val="8B5CF6"/>
                    </a:gs>
                    <a:gs pos="100000">
                      <a:srgbClr val="06B6D4"/>
                    </a:gs>
                  </a:gsLst>
                  <a:lin ang="0" scaled="1"/>
                </a:gradFill>
                <a:latin typeface="Segoe UI"/>
              </a:rPr>
              <a:t>coaches every student</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The working application — real screens from the live system.</a:t>
            </a:r>
          </a:p>
        </p:txBody>
      </p:sp>
      <p:sp>
        <p:nvSpPr>
          <p:cNvPr id="7" name="Rounded Rectangle 6"/>
          <p:cNvSpPr/>
          <p:nvPr/>
        </p:nvSpPr>
        <p:spPr>
          <a:xfrm>
            <a:off x="521207" y="1810512"/>
            <a:ext cx="5961888" cy="4321528"/>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76656" y="1920240"/>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1920240"/>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0704" y="1920240"/>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30917" y="1869948"/>
            <a:ext cx="2742468"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0917" y="1869948"/>
            <a:ext cx="2742468"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quizmaster.app/dashboard</a:t>
            </a:r>
          </a:p>
        </p:txBody>
      </p:sp>
      <p:pic>
        <p:nvPicPr>
          <p:cNvPr id="13" name="Picture 12" descr="dashboard.jpg"/>
          <p:cNvPicPr>
            <a:picLocks noChangeAspect="1"/>
          </p:cNvPicPr>
          <p:nvPr/>
        </p:nvPicPr>
        <p:blipFill>
          <a:blip r:embed="rId3"/>
          <a:stretch>
            <a:fillRect/>
          </a:stretch>
        </p:blipFill>
        <p:spPr>
          <a:xfrm>
            <a:off x="571500" y="2121408"/>
            <a:ext cx="5861303" cy="3960340"/>
          </a:xfrm>
          <a:prstGeom prst="roundRect">
            <a:avLst>
              <a:gd name="adj" fmla="val 2600"/>
            </a:avLst>
          </a:prstGeom>
        </p:spPr>
      </p:pic>
      <p:sp>
        <p:nvSpPr>
          <p:cNvPr id="14" name="TextBox 13"/>
          <p:cNvSpPr txBox="1"/>
          <p:nvPr/>
        </p:nvSpPr>
        <p:spPr>
          <a:xfrm>
            <a:off x="521207" y="6205192"/>
            <a:ext cx="5961888" cy="274320"/>
          </a:xfrm>
          <a:prstGeom prst="rect">
            <a:avLst/>
          </a:prstGeom>
          <a:noFill/>
        </p:spPr>
        <p:txBody>
          <a:bodyPr wrap="square" anchor="t" lIns="0" rIns="0" tIns="0" bIns="0">
            <a:spAutoFit/>
          </a:bodyPr>
          <a:lstStyle/>
          <a:p>
            <a:pPr algn="ctr">
              <a:spcBef>
                <a:spcPts val="0"/>
              </a:spcBef>
              <a:spcAft>
                <a:spcPts val="0"/>
              </a:spcAft>
            </a:pPr>
            <a:r>
              <a:rPr sz="1100" b="1" i="0">
                <a:solidFill>
                  <a:srgbClr val="CDD1F2"/>
                </a:solidFill>
                <a:latin typeface="Segoe UI"/>
              </a:rPr>
              <a:t>Student dashboard — live scores, trends &amp; recommendations</a:t>
            </a:r>
          </a:p>
        </p:txBody>
      </p:sp>
      <p:sp>
        <p:nvSpPr>
          <p:cNvPr id="15" name="TextBox 14"/>
          <p:cNvSpPr txBox="1"/>
          <p:nvPr/>
        </p:nvSpPr>
        <p:spPr>
          <a:xfrm>
            <a:off x="6748272" y="1847088"/>
            <a:ext cx="4919472" cy="2103120"/>
          </a:xfrm>
          <a:prstGeom prst="rect">
            <a:avLst/>
          </a:prstGeom>
          <a:noFill/>
        </p:spPr>
        <p:txBody>
          <a:bodyPr wrap="square" anchor="t" lIns="0" rIns="0" tIns="0" bIns="0">
            <a:spAutoFit/>
          </a:bodyPr>
          <a:lstStyle/>
          <a:p>
            <a:pPr algn="l" marL="173736" indent="-173736">
              <a:lnSpc>
                <a:spcPct val="112000"/>
              </a:lnSpc>
              <a:spcBef>
                <a:spcPts val="0"/>
              </a:spcBef>
              <a:spcAft>
                <a:spcPts val="800"/>
              </a:spcAft>
            </a:pPr>
            <a:r>
              <a:rPr sz="762" b="1" i="0">
                <a:solidFill>
                  <a:srgbClr val="22D3EE"/>
                </a:solidFill>
                <a:latin typeface="Segoe UI"/>
              </a:rPr>
              <a:t>●  </a:t>
            </a:r>
            <a:r>
              <a:rPr sz="1230" b="1" i="0">
                <a:solidFill>
                  <a:srgbClr val="FFFFFF"/>
                </a:solidFill>
                <a:latin typeface="Segoe UI"/>
              </a:rPr>
              <a:t>Personal dashboard </a:t>
            </a:r>
            <a:r>
              <a:rPr sz="1230" b="0" i="0">
                <a:solidFill>
                  <a:srgbClr val="CDD1F2"/>
                </a:solidFill>
                <a:latin typeface="Segoe UI"/>
              </a:rPr>
              <a:t>— streaks, score trend, subject strengths</a:t>
            </a:r>
          </a:p>
          <a:p>
            <a:pPr algn="l" marL="173736" indent="-173736">
              <a:lnSpc>
                <a:spcPct val="112000"/>
              </a:lnSpc>
              <a:spcBef>
                <a:spcPts val="0"/>
              </a:spcBef>
              <a:spcAft>
                <a:spcPts val="800"/>
              </a:spcAft>
            </a:pPr>
            <a:r>
              <a:rPr sz="762" b="1" i="0">
                <a:solidFill>
                  <a:srgbClr val="22D3EE"/>
                </a:solidFill>
                <a:latin typeface="Segoe UI"/>
              </a:rPr>
              <a:t>●  </a:t>
            </a:r>
            <a:r>
              <a:rPr sz="1230" b="1" i="0">
                <a:solidFill>
                  <a:srgbClr val="FFFFFF"/>
                </a:solidFill>
                <a:latin typeface="Segoe UI"/>
              </a:rPr>
              <a:t>Focused quiz player </a:t>
            </a:r>
            <a:r>
              <a:rPr sz="1230" b="0" i="0">
                <a:solidFill>
                  <a:srgbClr val="CDD1F2"/>
                </a:solidFill>
                <a:latin typeface="Segoe UI"/>
              </a:rPr>
              <a:t>— live timer, progress, keyboard control</a:t>
            </a:r>
          </a:p>
          <a:p>
            <a:pPr algn="l" marL="173736" indent="-173736">
              <a:lnSpc>
                <a:spcPct val="112000"/>
              </a:lnSpc>
              <a:spcBef>
                <a:spcPts val="0"/>
              </a:spcBef>
              <a:spcAft>
                <a:spcPts val="800"/>
              </a:spcAft>
            </a:pPr>
            <a:r>
              <a:rPr sz="762" b="1" i="0">
                <a:solidFill>
                  <a:srgbClr val="22D3EE"/>
                </a:solidFill>
                <a:latin typeface="Segoe UI"/>
              </a:rPr>
              <a:t>●  </a:t>
            </a:r>
            <a:r>
              <a:rPr sz="1230" b="1" i="0">
                <a:solidFill>
                  <a:srgbClr val="FFFFFF"/>
                </a:solidFill>
                <a:latin typeface="Segoe UI"/>
              </a:rPr>
              <a:t>Instant review </a:t>
            </a:r>
            <a:r>
              <a:rPr sz="1230" b="0" i="0">
                <a:solidFill>
                  <a:srgbClr val="CDD1F2"/>
                </a:solidFill>
                <a:latin typeface="Segoe UI"/>
              </a:rPr>
              <a:t>— correct answers with explanations</a:t>
            </a:r>
          </a:p>
          <a:p>
            <a:pPr algn="l" marL="173736" indent="-173736">
              <a:lnSpc>
                <a:spcPct val="112000"/>
              </a:lnSpc>
              <a:spcBef>
                <a:spcPts val="0"/>
              </a:spcBef>
              <a:spcAft>
                <a:spcPts val="800"/>
              </a:spcAft>
            </a:pPr>
            <a:r>
              <a:rPr sz="762" b="1" i="0">
                <a:solidFill>
                  <a:srgbClr val="22D3EE"/>
                </a:solidFill>
                <a:latin typeface="Segoe UI"/>
              </a:rPr>
              <a:t>●  </a:t>
            </a:r>
            <a:r>
              <a:rPr sz="1230" b="1" i="0">
                <a:solidFill>
                  <a:srgbClr val="FFFFFF"/>
                </a:solidFill>
                <a:latin typeface="Segoe UI"/>
              </a:rPr>
              <a:t>Smart recommendations </a:t>
            </a:r>
            <a:r>
              <a:rPr sz="1230" b="0" i="0">
                <a:solidFill>
                  <a:srgbClr val="CDD1F2"/>
                </a:solidFill>
                <a:latin typeface="Segoe UI"/>
              </a:rPr>
              <a:t>target your weakest subjects</a:t>
            </a:r>
          </a:p>
          <a:p>
            <a:pPr algn="l" marL="173736" indent="-173736">
              <a:lnSpc>
                <a:spcPct val="112000"/>
              </a:lnSpc>
              <a:spcBef>
                <a:spcPts val="0"/>
              </a:spcBef>
              <a:spcAft>
                <a:spcPts val="800"/>
              </a:spcAft>
            </a:pPr>
            <a:r>
              <a:rPr sz="762" b="1" i="0">
                <a:solidFill>
                  <a:srgbClr val="22D3EE"/>
                </a:solidFill>
                <a:latin typeface="Segoe UI"/>
              </a:rPr>
              <a:t>●  </a:t>
            </a:r>
            <a:r>
              <a:rPr sz="1230" b="1" i="0">
                <a:solidFill>
                  <a:srgbClr val="FFFFFF"/>
                </a:solidFill>
                <a:latin typeface="Segoe UI"/>
              </a:rPr>
              <a:t>Made personal </a:t>
            </a:r>
            <a:r>
              <a:rPr sz="1230" b="0" i="0">
                <a:solidFill>
                  <a:srgbClr val="CDD1F2"/>
                </a:solidFill>
                <a:latin typeface="Segoe UI"/>
              </a:rPr>
              <a:t>— light/dark themes, 4 palettes, accessibility</a:t>
            </a:r>
          </a:p>
        </p:txBody>
      </p:sp>
      <p:sp>
        <p:nvSpPr>
          <p:cNvPr id="16" name="Rounded Rectangle 15"/>
          <p:cNvSpPr/>
          <p:nvPr/>
        </p:nvSpPr>
        <p:spPr>
          <a:xfrm>
            <a:off x="6748272" y="4041648"/>
            <a:ext cx="2395728" cy="1722501"/>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903720" y="4114800"/>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095744" y="4114800"/>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287768" y="4114800"/>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95118" y="4064507"/>
            <a:ext cx="1102034"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95118" y="4064507"/>
            <a:ext cx="1102034"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22" name="Picture 21" descr="quiz_player.jpg"/>
          <p:cNvPicPr>
            <a:picLocks noChangeAspect="1"/>
          </p:cNvPicPr>
          <p:nvPr/>
        </p:nvPicPr>
        <p:blipFill>
          <a:blip r:embed="rId4"/>
          <a:stretch>
            <a:fillRect/>
          </a:stretch>
        </p:blipFill>
        <p:spPr>
          <a:xfrm>
            <a:off x="6798564" y="4279392"/>
            <a:ext cx="2295144" cy="1434465"/>
          </a:xfrm>
          <a:prstGeom prst="roundRect">
            <a:avLst>
              <a:gd name="adj" fmla="val 2600"/>
            </a:avLst>
          </a:prstGeom>
        </p:spPr>
      </p:pic>
      <p:sp>
        <p:nvSpPr>
          <p:cNvPr id="23" name="TextBox 22"/>
          <p:cNvSpPr txBox="1"/>
          <p:nvPr/>
        </p:nvSpPr>
        <p:spPr>
          <a:xfrm>
            <a:off x="6748272" y="5828157"/>
            <a:ext cx="2395728" cy="256032"/>
          </a:xfrm>
          <a:prstGeom prst="rect">
            <a:avLst/>
          </a:prstGeom>
          <a:noFill/>
        </p:spPr>
        <p:txBody>
          <a:bodyPr wrap="square" anchor="t" lIns="0" rIns="0" tIns="0" bIns="0">
            <a:spAutoFit/>
          </a:bodyPr>
          <a:lstStyle/>
          <a:p>
            <a:pPr algn="ctr">
              <a:spcBef>
                <a:spcPts val="0"/>
              </a:spcBef>
              <a:spcAft>
                <a:spcPts val="0"/>
              </a:spcAft>
            </a:pPr>
            <a:r>
              <a:rPr sz="1050" b="1" i="0">
                <a:solidFill>
                  <a:srgbClr val="CDD1F2"/>
                </a:solidFill>
                <a:latin typeface="Segoe UI"/>
              </a:rPr>
              <a:t>Timed quiz player</a:t>
            </a:r>
          </a:p>
        </p:txBody>
      </p:sp>
      <p:sp>
        <p:nvSpPr>
          <p:cNvPr id="24" name="Rounded Rectangle 23"/>
          <p:cNvSpPr/>
          <p:nvPr/>
        </p:nvSpPr>
        <p:spPr>
          <a:xfrm>
            <a:off x="9272016" y="4041648"/>
            <a:ext cx="2395728" cy="1722501"/>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427464" y="4114800"/>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19488" y="4114800"/>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11512" y="4114800"/>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918862" y="4064507"/>
            <a:ext cx="1102034"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918862" y="4064507"/>
            <a:ext cx="1102034"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t>
            </a:r>
          </a:p>
        </p:txBody>
      </p:sp>
      <p:pic>
        <p:nvPicPr>
          <p:cNvPr id="30" name="Picture 29" descr="results.jpg"/>
          <p:cNvPicPr>
            <a:picLocks noChangeAspect="1"/>
          </p:cNvPicPr>
          <p:nvPr/>
        </p:nvPicPr>
        <p:blipFill>
          <a:blip r:embed="rId5"/>
          <a:stretch>
            <a:fillRect/>
          </a:stretch>
        </p:blipFill>
        <p:spPr>
          <a:xfrm>
            <a:off x="9322308" y="4279392"/>
            <a:ext cx="2295144" cy="1434465"/>
          </a:xfrm>
          <a:prstGeom prst="roundRect">
            <a:avLst>
              <a:gd name="adj" fmla="val 2600"/>
            </a:avLst>
          </a:prstGeom>
        </p:spPr>
      </p:pic>
      <p:sp>
        <p:nvSpPr>
          <p:cNvPr id="31" name="TextBox 30"/>
          <p:cNvSpPr txBox="1"/>
          <p:nvPr/>
        </p:nvSpPr>
        <p:spPr>
          <a:xfrm>
            <a:off x="9272016" y="5828157"/>
            <a:ext cx="2395728" cy="256032"/>
          </a:xfrm>
          <a:prstGeom prst="rect">
            <a:avLst/>
          </a:prstGeom>
          <a:noFill/>
        </p:spPr>
        <p:txBody>
          <a:bodyPr wrap="square" anchor="t" lIns="0" rIns="0" tIns="0" bIns="0">
            <a:spAutoFit/>
          </a:bodyPr>
          <a:lstStyle/>
          <a:p>
            <a:pPr algn="ctr">
              <a:spcBef>
                <a:spcPts val="0"/>
              </a:spcBef>
              <a:spcAft>
                <a:spcPts val="0"/>
              </a:spcAft>
            </a:pPr>
            <a:r>
              <a:rPr sz="1050" b="1" i="0">
                <a:solidFill>
                  <a:srgbClr val="CDD1F2"/>
                </a:solidFill>
                <a:latin typeface="Segoe UI"/>
              </a:rPr>
              <a:t>Result &amp; answer review</a:t>
            </a:r>
          </a:p>
        </p:txBody>
      </p:sp>
      <p:sp>
        <p:nvSpPr>
          <p:cNvPr id="32" name="TextBox 31"/>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33" name="TextBox 32"/>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09</a:t>
            </a:r>
            <a:r>
              <a:rPr sz="1000" b="0" i="0">
                <a:solidFill>
                  <a:srgbClr val="6F72AA"/>
                </a:solidFill>
                <a:latin typeface="Segoe UI"/>
              </a:rPr>
              <a:t> / 11</a:t>
            </a:r>
          </a:p>
        </p:txBody>
      </p:sp>
    </p:spTree>
  </p:cSld>
  <p:clrMapOvr>
    <a:masterClrMapping/>
  </p:clrMapOvr>
  <p:transition spd="med" advClick="1">
    <p:fade thruBlk="1"/>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22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220"/>
                                  </p:stCondLst>
                                  <p:childTnLst>
                                    <p:set>
                                      <p:cBhvr>
                                        <p:cTn id="124" dur="1" fill="hold">
                                          <p:stCondLst>
                                            <p:cond delay="0"/>
                                          </p:stCondLst>
                                          <p:attrNameLst>
                                            <p:attrName>style.visibility</p:attrName>
                                          </p:attrNameLst>
                                        </p:cTn>
                                        <p:tgtEl>
                                          <p:spTgt spid="8"/>
                                        </p:tgtEl>
                                      </p:cBhvr>
                                      <p:to>
                                        <p:strVal val="visible"/>
                                      </p:to>
                                    </p:set>
                                    <p:animEffect transition="in" filter="fade">
                                      <p:cBhvr>
                                        <p:cTn id="125" dur="550"/>
                                        <p:tgtEl>
                                          <p:spTgt spid="8"/>
                                        </p:tgtEl>
                                      </p:cBhvr>
                                    </p:animEffect>
                                  </p:childTnLst>
                                </p:cTn>
                              </p:par>
                            </p:childTnLst>
                          </p:cTn>
                        </p:par>
                        <p:par>
                          <p:cTn id="126" fill="hold">
                            <p:stCondLst>
                              <p:cond delay="0"/>
                            </p:stCondLst>
                            <p:childTnLst>
                              <p:par>
                                <p:cTn id="127" presetID="10" presetClass="entr" presetSubtype="0" fill="hold" grpId="0" nodeType="withEffect">
                                  <p:stCondLst>
                                    <p:cond delay="220"/>
                                  </p:stCondLst>
                                  <p:childTnLst>
                                    <p:set>
                                      <p:cBhvr>
                                        <p:cTn id="128" dur="1" fill="hold">
                                          <p:stCondLst>
                                            <p:cond delay="0"/>
                                          </p:stCondLst>
                                          <p:attrNameLst>
                                            <p:attrName>style.visibility</p:attrName>
                                          </p:attrNameLst>
                                        </p:cTn>
                                        <p:tgtEl>
                                          <p:spTgt spid="9"/>
                                        </p:tgtEl>
                                      </p:cBhvr>
                                      <p:to>
                                        <p:strVal val="visible"/>
                                      </p:to>
                                    </p:set>
                                    <p:animEffect transition="in" filter="fade">
                                      <p:cBhvr>
                                        <p:cTn id="129" dur="550"/>
                                        <p:tgtEl>
                                          <p:spTgt spid="9"/>
                                        </p:tgtEl>
                                      </p:cBhvr>
                                    </p:animEffect>
                                  </p:childTnLst>
                                </p:cTn>
                              </p:par>
                            </p:childTnLst>
                          </p:cTn>
                        </p:par>
                        <p:par>
                          <p:cTn id="130" fill="hold">
                            <p:stCondLst>
                              <p:cond delay="0"/>
                            </p:stCondLst>
                            <p:childTnLst>
                              <p:par>
                                <p:cTn id="131" presetID="10" presetClass="entr" presetSubtype="0" fill="hold" grpId="0" nodeType="withEffect">
                                  <p:stCondLst>
                                    <p:cond delay="220"/>
                                  </p:stCondLst>
                                  <p:childTnLst>
                                    <p:set>
                                      <p:cBhvr>
                                        <p:cTn id="132" dur="1" fill="hold">
                                          <p:stCondLst>
                                            <p:cond delay="0"/>
                                          </p:stCondLst>
                                          <p:attrNameLst>
                                            <p:attrName>style.visibility</p:attrName>
                                          </p:attrNameLst>
                                        </p:cTn>
                                        <p:tgtEl>
                                          <p:spTgt spid="10"/>
                                        </p:tgtEl>
                                      </p:cBhvr>
                                      <p:to>
                                        <p:strVal val="visible"/>
                                      </p:to>
                                    </p:set>
                                    <p:animEffect transition="in" filter="fade">
                                      <p:cBhvr>
                                        <p:cTn id="133" dur="550"/>
                                        <p:tgtEl>
                                          <p:spTgt spid="10"/>
                                        </p:tgtEl>
                                      </p:cBhvr>
                                    </p:animEffect>
                                  </p:childTnLst>
                                </p:cTn>
                              </p:par>
                            </p:childTnLst>
                          </p:cTn>
                        </p:par>
                        <p:par>
                          <p:cTn id="134" fill="hold">
                            <p:stCondLst>
                              <p:cond delay="0"/>
                            </p:stCondLst>
                            <p:childTnLst>
                              <p:par>
                                <p:cTn id="135" presetID="10" presetClass="entr" presetSubtype="0" fill="hold" grpId="0" nodeType="withEffect">
                                  <p:stCondLst>
                                    <p:cond delay="220"/>
                                  </p:stCondLst>
                                  <p:childTnLst>
                                    <p:set>
                                      <p:cBhvr>
                                        <p:cTn id="136" dur="1" fill="hold">
                                          <p:stCondLst>
                                            <p:cond delay="0"/>
                                          </p:stCondLst>
                                          <p:attrNameLst>
                                            <p:attrName>style.visibility</p:attrName>
                                          </p:attrNameLst>
                                        </p:cTn>
                                        <p:tgtEl>
                                          <p:spTgt spid="11"/>
                                        </p:tgtEl>
                                      </p:cBhvr>
                                      <p:to>
                                        <p:strVal val="visible"/>
                                      </p:to>
                                    </p:set>
                                    <p:animEffect transition="in" filter="fade">
                                      <p:cBhvr>
                                        <p:cTn id="137" dur="550"/>
                                        <p:tgtEl>
                                          <p:spTgt spid="11"/>
                                        </p:tgtEl>
                                      </p:cBhvr>
                                    </p:animEffect>
                                  </p:childTnLst>
                                </p:cTn>
                              </p:par>
                            </p:childTnLst>
                          </p:cTn>
                        </p:par>
                        <p:par>
                          <p:cTn id="138" fill="hold">
                            <p:stCondLst>
                              <p:cond delay="0"/>
                            </p:stCondLst>
                            <p:childTnLst>
                              <p:par>
                                <p:cTn id="139" presetID="10" presetClass="entr" presetSubtype="0" fill="hold" grpId="0" nodeType="withEffect">
                                  <p:stCondLst>
                                    <p:cond delay="220"/>
                                  </p:stCondLst>
                                  <p:childTnLst>
                                    <p:set>
                                      <p:cBhvr>
                                        <p:cTn id="140" dur="1" fill="hold">
                                          <p:stCondLst>
                                            <p:cond delay="0"/>
                                          </p:stCondLst>
                                          <p:attrNameLst>
                                            <p:attrName>style.visibility</p:attrName>
                                          </p:attrNameLst>
                                        </p:cTn>
                                        <p:tgtEl>
                                          <p:spTgt spid="12"/>
                                        </p:tgtEl>
                                      </p:cBhvr>
                                      <p:to>
                                        <p:strVal val="visible"/>
                                      </p:to>
                                    </p:set>
                                    <p:animEffect transition="in" filter="fade">
                                      <p:cBhvr>
                                        <p:cTn id="141" dur="550"/>
                                        <p:tgtEl>
                                          <p:spTgt spid="12"/>
                                        </p:tgtEl>
                                      </p:cBhvr>
                                    </p:animEffect>
                                  </p:childTnLst>
                                </p:cTn>
                              </p:par>
                            </p:childTnLst>
                          </p:cTn>
                        </p:par>
                        <p:par>
                          <p:cTn id="142" fill="hold">
                            <p:stCondLst>
                              <p:cond delay="0"/>
                            </p:stCondLst>
                            <p:childTnLst>
                              <p:par>
                                <p:cTn id="143" presetID="10" presetClass="entr" presetSubtype="0" fill="hold" grpId="0" nodeType="withEffect">
                                  <p:stCondLst>
                                    <p:cond delay="220"/>
                                  </p:stCondLst>
                                  <p:childTnLst>
                                    <p:set>
                                      <p:cBhvr>
                                        <p:cTn id="144" dur="1" fill="hold">
                                          <p:stCondLst>
                                            <p:cond delay="0"/>
                                          </p:stCondLst>
                                          <p:attrNameLst>
                                            <p:attrName>style.visibility</p:attrName>
                                          </p:attrNameLst>
                                        </p:cTn>
                                        <p:tgtEl>
                                          <p:spTgt spid="13"/>
                                        </p:tgtEl>
                                      </p:cBhvr>
                                      <p:to>
                                        <p:strVal val="visible"/>
                                      </p:to>
                                    </p:set>
                                    <p:animEffect transition="in" filter="fade">
                                      <p:cBhvr>
                                        <p:cTn id="145" dur="550"/>
                                        <p:tgtEl>
                                          <p:spTgt spid="13"/>
                                        </p:tgtEl>
                                      </p:cBhvr>
                                    </p:animEffect>
                                  </p:childTnLst>
                                </p:cTn>
                              </p:par>
                            </p:childTnLst>
                          </p:cTn>
                        </p:par>
                        <p:par>
                          <p:cTn id="146" fill="hold">
                            <p:stCondLst>
                              <p:cond delay="0"/>
                            </p:stCondLst>
                            <p:childTnLst>
                              <p:par>
                                <p:cTn id="147" presetID="10" presetClass="entr" presetSubtype="0" fill="hold" grpId="0" nodeType="withEffect">
                                  <p:stCondLst>
                                    <p:cond delay="360"/>
                                  </p:stCondLst>
                                  <p:childTnLst>
                                    <p:set>
                                      <p:cBhvr>
                                        <p:cTn id="148" dur="1" fill="hold">
                                          <p:stCondLst>
                                            <p:cond delay="0"/>
                                          </p:stCondLst>
                                          <p:attrNameLst>
                                            <p:attrName>style.visibility</p:attrName>
                                          </p:attrNameLst>
                                        </p:cTn>
                                        <p:tgtEl>
                                          <p:spTgt spid="15"/>
                                        </p:tgtEl>
                                      </p:cBhvr>
                                      <p:to>
                                        <p:strVal val="visible"/>
                                      </p:to>
                                    </p:set>
                                    <p:animEffect transition="in" filter="fade">
                                      <p:cBhvr>
                                        <p:cTn id="149" dur="550"/>
                                        <p:tgtEl>
                                          <p:spTgt spid="15"/>
                                        </p:tgtEl>
                                      </p:cBhvr>
                                    </p:animEffect>
                                  </p:childTnLst>
                                </p:cTn>
                              </p:par>
                            </p:childTnLst>
                          </p:cTn>
                        </p:par>
                        <p:par>
                          <p:cTn id="150" fill="hold">
                            <p:stCondLst>
                              <p:cond delay="0"/>
                            </p:stCondLst>
                            <p:childTnLst>
                              <p:par>
                                <p:cTn id="151" presetID="10" presetClass="entr" presetSubtype="0" fill="hold" grpId="0" nodeType="withEffect">
                                  <p:stCondLst>
                                    <p:cond delay="500"/>
                                  </p:stCondLst>
                                  <p:childTnLst>
                                    <p:set>
                                      <p:cBhvr>
                                        <p:cTn id="152" dur="1" fill="hold">
                                          <p:stCondLst>
                                            <p:cond delay="0"/>
                                          </p:stCondLst>
                                          <p:attrNameLst>
                                            <p:attrName>style.visibility</p:attrName>
                                          </p:attrNameLst>
                                        </p:cTn>
                                        <p:tgtEl>
                                          <p:spTgt spid="16"/>
                                        </p:tgtEl>
                                      </p:cBhvr>
                                      <p:to>
                                        <p:strVal val="visible"/>
                                      </p:to>
                                    </p:set>
                                    <p:animEffect transition="in" filter="fade">
                                      <p:cBhvr>
                                        <p:cTn id="153" dur="550"/>
                                        <p:tgtEl>
                                          <p:spTgt spid="16"/>
                                        </p:tgtEl>
                                      </p:cBhvr>
                                    </p:animEffect>
                                  </p:childTnLst>
                                </p:cTn>
                              </p:par>
                            </p:childTnLst>
                          </p:cTn>
                        </p:par>
                        <p:par>
                          <p:cTn id="154" fill="hold">
                            <p:stCondLst>
                              <p:cond delay="0"/>
                            </p:stCondLst>
                            <p:childTnLst>
                              <p:par>
                                <p:cTn id="155" presetID="10" presetClass="entr" presetSubtype="0" fill="hold" grpId="0" nodeType="withEffect">
                                  <p:stCondLst>
                                    <p:cond delay="500"/>
                                  </p:stCondLst>
                                  <p:childTnLst>
                                    <p:set>
                                      <p:cBhvr>
                                        <p:cTn id="156" dur="1" fill="hold">
                                          <p:stCondLst>
                                            <p:cond delay="0"/>
                                          </p:stCondLst>
                                          <p:attrNameLst>
                                            <p:attrName>style.visibility</p:attrName>
                                          </p:attrNameLst>
                                        </p:cTn>
                                        <p:tgtEl>
                                          <p:spTgt spid="17"/>
                                        </p:tgtEl>
                                      </p:cBhvr>
                                      <p:to>
                                        <p:strVal val="visible"/>
                                      </p:to>
                                    </p:set>
                                    <p:animEffect transition="in" filter="fade">
                                      <p:cBhvr>
                                        <p:cTn id="157" dur="550"/>
                                        <p:tgtEl>
                                          <p:spTgt spid="17"/>
                                        </p:tgtEl>
                                      </p:cBhvr>
                                    </p:animEffect>
                                  </p:childTnLst>
                                </p:cTn>
                              </p:par>
                            </p:childTnLst>
                          </p:cTn>
                        </p:par>
                        <p:par>
                          <p:cTn id="158" fill="hold">
                            <p:stCondLst>
                              <p:cond delay="0"/>
                            </p:stCondLst>
                            <p:childTnLst>
                              <p:par>
                                <p:cTn id="159" presetID="10" presetClass="entr" presetSubtype="0" fill="hold" grpId="0" nodeType="withEffect">
                                  <p:stCondLst>
                                    <p:cond delay="500"/>
                                  </p:stCondLst>
                                  <p:childTnLst>
                                    <p:set>
                                      <p:cBhvr>
                                        <p:cTn id="160" dur="1" fill="hold">
                                          <p:stCondLst>
                                            <p:cond delay="0"/>
                                          </p:stCondLst>
                                          <p:attrNameLst>
                                            <p:attrName>style.visibility</p:attrName>
                                          </p:attrNameLst>
                                        </p:cTn>
                                        <p:tgtEl>
                                          <p:spTgt spid="18"/>
                                        </p:tgtEl>
                                      </p:cBhvr>
                                      <p:to>
                                        <p:strVal val="visible"/>
                                      </p:to>
                                    </p:set>
                                    <p:animEffect transition="in" filter="fade">
                                      <p:cBhvr>
                                        <p:cTn id="161" dur="550"/>
                                        <p:tgtEl>
                                          <p:spTgt spid="18"/>
                                        </p:tgtEl>
                                      </p:cBhvr>
                                    </p:animEffect>
                                  </p:childTnLst>
                                </p:cTn>
                              </p:par>
                            </p:childTnLst>
                          </p:cTn>
                        </p:par>
                        <p:par>
                          <p:cTn id="162" fill="hold">
                            <p:stCondLst>
                              <p:cond delay="0"/>
                            </p:stCondLst>
                            <p:childTnLst>
                              <p:par>
                                <p:cTn id="163" presetID="10" presetClass="entr" presetSubtype="0" fill="hold" grpId="0" nodeType="withEffect">
                                  <p:stCondLst>
                                    <p:cond delay="500"/>
                                  </p:stCondLst>
                                  <p:childTnLst>
                                    <p:set>
                                      <p:cBhvr>
                                        <p:cTn id="164" dur="1" fill="hold">
                                          <p:stCondLst>
                                            <p:cond delay="0"/>
                                          </p:stCondLst>
                                          <p:attrNameLst>
                                            <p:attrName>style.visibility</p:attrName>
                                          </p:attrNameLst>
                                        </p:cTn>
                                        <p:tgtEl>
                                          <p:spTgt spid="19"/>
                                        </p:tgtEl>
                                      </p:cBhvr>
                                      <p:to>
                                        <p:strVal val="visible"/>
                                      </p:to>
                                    </p:set>
                                    <p:animEffect transition="in" filter="fade">
                                      <p:cBhvr>
                                        <p:cTn id="165" dur="550"/>
                                        <p:tgtEl>
                                          <p:spTgt spid="19"/>
                                        </p:tgtEl>
                                      </p:cBhvr>
                                    </p:animEffect>
                                  </p:childTnLst>
                                </p:cTn>
                              </p:par>
                            </p:childTnLst>
                          </p:cTn>
                        </p:par>
                        <p:par>
                          <p:cTn id="166" fill="hold">
                            <p:stCondLst>
                              <p:cond delay="0"/>
                            </p:stCondLst>
                            <p:childTnLst>
                              <p:par>
                                <p:cTn id="167" presetID="10" presetClass="entr" presetSubtype="0" fill="hold" grpId="0" nodeType="withEffect">
                                  <p:stCondLst>
                                    <p:cond delay="500"/>
                                  </p:stCondLst>
                                  <p:childTnLst>
                                    <p:set>
                                      <p:cBhvr>
                                        <p:cTn id="168" dur="1" fill="hold">
                                          <p:stCondLst>
                                            <p:cond delay="0"/>
                                          </p:stCondLst>
                                          <p:attrNameLst>
                                            <p:attrName>style.visibility</p:attrName>
                                          </p:attrNameLst>
                                        </p:cTn>
                                        <p:tgtEl>
                                          <p:spTgt spid="20"/>
                                        </p:tgtEl>
                                      </p:cBhvr>
                                      <p:to>
                                        <p:strVal val="visible"/>
                                      </p:to>
                                    </p:set>
                                    <p:animEffect transition="in" filter="fade">
                                      <p:cBhvr>
                                        <p:cTn id="169" dur="550"/>
                                        <p:tgtEl>
                                          <p:spTgt spid="20"/>
                                        </p:tgtEl>
                                      </p:cBhvr>
                                    </p:animEffect>
                                  </p:childTnLst>
                                </p:cTn>
                              </p:par>
                            </p:childTnLst>
                          </p:cTn>
                        </p:par>
                        <p:par>
                          <p:cTn id="170" fill="hold">
                            <p:stCondLst>
                              <p:cond delay="0"/>
                            </p:stCondLst>
                            <p:childTnLst>
                              <p:par>
                                <p:cTn id="171" presetID="10" presetClass="entr" presetSubtype="0" fill="hold" grpId="0" nodeType="withEffect">
                                  <p:stCondLst>
                                    <p:cond delay="500"/>
                                  </p:stCondLst>
                                  <p:childTnLst>
                                    <p:set>
                                      <p:cBhvr>
                                        <p:cTn id="172" dur="1" fill="hold">
                                          <p:stCondLst>
                                            <p:cond delay="0"/>
                                          </p:stCondLst>
                                          <p:attrNameLst>
                                            <p:attrName>style.visibility</p:attrName>
                                          </p:attrNameLst>
                                        </p:cTn>
                                        <p:tgtEl>
                                          <p:spTgt spid="21"/>
                                        </p:tgtEl>
                                      </p:cBhvr>
                                      <p:to>
                                        <p:strVal val="visible"/>
                                      </p:to>
                                    </p:set>
                                    <p:animEffect transition="in" filter="fade">
                                      <p:cBhvr>
                                        <p:cTn id="173" dur="550"/>
                                        <p:tgtEl>
                                          <p:spTgt spid="21"/>
                                        </p:tgtEl>
                                      </p:cBhvr>
                                    </p:animEffect>
                                  </p:childTnLst>
                                </p:cTn>
                              </p:par>
                            </p:childTnLst>
                          </p:cTn>
                        </p:par>
                        <p:par>
                          <p:cTn id="174" fill="hold">
                            <p:stCondLst>
                              <p:cond delay="0"/>
                            </p:stCondLst>
                            <p:childTnLst>
                              <p:par>
                                <p:cTn id="175" presetID="10" presetClass="entr" presetSubtype="0" fill="hold" grpId="0" nodeType="withEffect">
                                  <p:stCondLst>
                                    <p:cond delay="500"/>
                                  </p:stCondLst>
                                  <p:childTnLst>
                                    <p:set>
                                      <p:cBhvr>
                                        <p:cTn id="176" dur="1" fill="hold">
                                          <p:stCondLst>
                                            <p:cond delay="0"/>
                                          </p:stCondLst>
                                          <p:attrNameLst>
                                            <p:attrName>style.visibility</p:attrName>
                                          </p:attrNameLst>
                                        </p:cTn>
                                        <p:tgtEl>
                                          <p:spTgt spid="22"/>
                                        </p:tgtEl>
                                      </p:cBhvr>
                                      <p:to>
                                        <p:strVal val="visible"/>
                                      </p:to>
                                    </p:set>
                                    <p:animEffect transition="in" filter="fade">
                                      <p:cBhvr>
                                        <p:cTn id="177" dur="550"/>
                                        <p:tgtEl>
                                          <p:spTgt spid="22"/>
                                        </p:tgtEl>
                                      </p:cBhvr>
                                    </p:animEffect>
                                  </p:childTnLst>
                                </p:cTn>
                              </p:par>
                            </p:childTnLst>
                          </p:cTn>
                        </p:par>
                        <p:par>
                          <p:cTn id="178" fill="hold">
                            <p:stCondLst>
                              <p:cond delay="0"/>
                            </p:stCondLst>
                            <p:childTnLst>
                              <p:par>
                                <p:cTn id="179" presetID="10" presetClass="entr" presetSubtype="0" fill="hold" grpId="0" nodeType="withEffect">
                                  <p:stCondLst>
                                    <p:cond delay="630"/>
                                  </p:stCondLst>
                                  <p:childTnLst>
                                    <p:set>
                                      <p:cBhvr>
                                        <p:cTn id="180" dur="1" fill="hold">
                                          <p:stCondLst>
                                            <p:cond delay="0"/>
                                          </p:stCondLst>
                                          <p:attrNameLst>
                                            <p:attrName>style.visibility</p:attrName>
                                          </p:attrNameLst>
                                        </p:cTn>
                                        <p:tgtEl>
                                          <p:spTgt spid="24"/>
                                        </p:tgtEl>
                                      </p:cBhvr>
                                      <p:to>
                                        <p:strVal val="visible"/>
                                      </p:to>
                                    </p:set>
                                    <p:animEffect transition="in" filter="fade">
                                      <p:cBhvr>
                                        <p:cTn id="181" dur="550"/>
                                        <p:tgtEl>
                                          <p:spTgt spid="24"/>
                                        </p:tgtEl>
                                      </p:cBhvr>
                                    </p:animEffect>
                                  </p:childTnLst>
                                </p:cTn>
                              </p:par>
                            </p:childTnLst>
                          </p:cTn>
                        </p:par>
                        <p:par>
                          <p:cTn id="182" fill="hold">
                            <p:stCondLst>
                              <p:cond delay="0"/>
                            </p:stCondLst>
                            <p:childTnLst>
                              <p:par>
                                <p:cTn id="183" presetID="10" presetClass="entr" presetSubtype="0" fill="hold" grpId="0" nodeType="withEffect">
                                  <p:stCondLst>
                                    <p:cond delay="630"/>
                                  </p:stCondLst>
                                  <p:childTnLst>
                                    <p:set>
                                      <p:cBhvr>
                                        <p:cTn id="184" dur="1" fill="hold">
                                          <p:stCondLst>
                                            <p:cond delay="0"/>
                                          </p:stCondLst>
                                          <p:attrNameLst>
                                            <p:attrName>style.visibility</p:attrName>
                                          </p:attrNameLst>
                                        </p:cTn>
                                        <p:tgtEl>
                                          <p:spTgt spid="25"/>
                                        </p:tgtEl>
                                      </p:cBhvr>
                                      <p:to>
                                        <p:strVal val="visible"/>
                                      </p:to>
                                    </p:set>
                                    <p:animEffect transition="in" filter="fade">
                                      <p:cBhvr>
                                        <p:cTn id="185" dur="550"/>
                                        <p:tgtEl>
                                          <p:spTgt spid="25"/>
                                        </p:tgtEl>
                                      </p:cBhvr>
                                    </p:animEffect>
                                  </p:childTnLst>
                                </p:cTn>
                              </p:par>
                            </p:childTnLst>
                          </p:cTn>
                        </p:par>
                        <p:par>
                          <p:cTn id="186" fill="hold">
                            <p:stCondLst>
                              <p:cond delay="0"/>
                            </p:stCondLst>
                            <p:childTnLst>
                              <p:par>
                                <p:cTn id="187" presetID="10" presetClass="entr" presetSubtype="0" fill="hold" grpId="0" nodeType="withEffect">
                                  <p:stCondLst>
                                    <p:cond delay="630"/>
                                  </p:stCondLst>
                                  <p:childTnLst>
                                    <p:set>
                                      <p:cBhvr>
                                        <p:cTn id="188" dur="1" fill="hold">
                                          <p:stCondLst>
                                            <p:cond delay="0"/>
                                          </p:stCondLst>
                                          <p:attrNameLst>
                                            <p:attrName>style.visibility</p:attrName>
                                          </p:attrNameLst>
                                        </p:cTn>
                                        <p:tgtEl>
                                          <p:spTgt spid="26"/>
                                        </p:tgtEl>
                                      </p:cBhvr>
                                      <p:to>
                                        <p:strVal val="visible"/>
                                      </p:to>
                                    </p:set>
                                    <p:animEffect transition="in" filter="fade">
                                      <p:cBhvr>
                                        <p:cTn id="189" dur="550"/>
                                        <p:tgtEl>
                                          <p:spTgt spid="26"/>
                                        </p:tgtEl>
                                      </p:cBhvr>
                                    </p:animEffect>
                                  </p:childTnLst>
                                </p:cTn>
                              </p:par>
                            </p:childTnLst>
                          </p:cTn>
                        </p:par>
                        <p:par>
                          <p:cTn id="190" fill="hold">
                            <p:stCondLst>
                              <p:cond delay="0"/>
                            </p:stCondLst>
                            <p:childTnLst>
                              <p:par>
                                <p:cTn id="191" presetID="10" presetClass="entr" presetSubtype="0" fill="hold" grpId="0" nodeType="withEffect">
                                  <p:stCondLst>
                                    <p:cond delay="630"/>
                                  </p:stCondLst>
                                  <p:childTnLst>
                                    <p:set>
                                      <p:cBhvr>
                                        <p:cTn id="192" dur="1" fill="hold">
                                          <p:stCondLst>
                                            <p:cond delay="0"/>
                                          </p:stCondLst>
                                          <p:attrNameLst>
                                            <p:attrName>style.visibility</p:attrName>
                                          </p:attrNameLst>
                                        </p:cTn>
                                        <p:tgtEl>
                                          <p:spTgt spid="27"/>
                                        </p:tgtEl>
                                      </p:cBhvr>
                                      <p:to>
                                        <p:strVal val="visible"/>
                                      </p:to>
                                    </p:set>
                                    <p:animEffect transition="in" filter="fade">
                                      <p:cBhvr>
                                        <p:cTn id="193" dur="550"/>
                                        <p:tgtEl>
                                          <p:spTgt spid="27"/>
                                        </p:tgtEl>
                                      </p:cBhvr>
                                    </p:animEffect>
                                  </p:childTnLst>
                                </p:cTn>
                              </p:par>
                            </p:childTnLst>
                          </p:cTn>
                        </p:par>
                        <p:par>
                          <p:cTn id="194" fill="hold">
                            <p:stCondLst>
                              <p:cond delay="0"/>
                            </p:stCondLst>
                            <p:childTnLst>
                              <p:par>
                                <p:cTn id="195" presetID="10" presetClass="entr" presetSubtype="0" fill="hold" grpId="0" nodeType="withEffect">
                                  <p:stCondLst>
                                    <p:cond delay="630"/>
                                  </p:stCondLst>
                                  <p:childTnLst>
                                    <p:set>
                                      <p:cBhvr>
                                        <p:cTn id="196" dur="1" fill="hold">
                                          <p:stCondLst>
                                            <p:cond delay="0"/>
                                          </p:stCondLst>
                                          <p:attrNameLst>
                                            <p:attrName>style.visibility</p:attrName>
                                          </p:attrNameLst>
                                        </p:cTn>
                                        <p:tgtEl>
                                          <p:spTgt spid="28"/>
                                        </p:tgtEl>
                                      </p:cBhvr>
                                      <p:to>
                                        <p:strVal val="visible"/>
                                      </p:to>
                                    </p:set>
                                    <p:animEffect transition="in" filter="fade">
                                      <p:cBhvr>
                                        <p:cTn id="197" dur="550"/>
                                        <p:tgtEl>
                                          <p:spTgt spid="28"/>
                                        </p:tgtEl>
                                      </p:cBhvr>
                                    </p:animEffect>
                                  </p:childTnLst>
                                </p:cTn>
                              </p:par>
                            </p:childTnLst>
                          </p:cTn>
                        </p:par>
                        <p:par>
                          <p:cTn id="198" fill="hold">
                            <p:stCondLst>
                              <p:cond delay="0"/>
                            </p:stCondLst>
                            <p:childTnLst>
                              <p:par>
                                <p:cTn id="199" presetID="10" presetClass="entr" presetSubtype="0" fill="hold" grpId="0" nodeType="withEffect">
                                  <p:stCondLst>
                                    <p:cond delay="630"/>
                                  </p:stCondLst>
                                  <p:childTnLst>
                                    <p:set>
                                      <p:cBhvr>
                                        <p:cTn id="200" dur="1" fill="hold">
                                          <p:stCondLst>
                                            <p:cond delay="0"/>
                                          </p:stCondLst>
                                          <p:attrNameLst>
                                            <p:attrName>style.visibility</p:attrName>
                                          </p:attrNameLst>
                                        </p:cTn>
                                        <p:tgtEl>
                                          <p:spTgt spid="29"/>
                                        </p:tgtEl>
                                      </p:cBhvr>
                                      <p:to>
                                        <p:strVal val="visible"/>
                                      </p:to>
                                    </p:set>
                                    <p:animEffect transition="in" filter="fade">
                                      <p:cBhvr>
                                        <p:cTn id="201" dur="550"/>
                                        <p:tgtEl>
                                          <p:spTgt spid="29"/>
                                        </p:tgtEl>
                                      </p:cBhvr>
                                    </p:animEffect>
                                  </p:childTnLst>
                                </p:cTn>
                              </p:par>
                            </p:childTnLst>
                          </p:cTn>
                        </p:par>
                        <p:par>
                          <p:cTn id="202" fill="hold">
                            <p:stCondLst>
                              <p:cond delay="0"/>
                            </p:stCondLst>
                            <p:childTnLst>
                              <p:par>
                                <p:cTn id="203" presetID="10" presetClass="entr" presetSubtype="0" fill="hold" grpId="0" nodeType="withEffect">
                                  <p:stCondLst>
                                    <p:cond delay="630"/>
                                  </p:stCondLst>
                                  <p:childTnLst>
                                    <p:set>
                                      <p:cBhvr>
                                        <p:cTn id="204" dur="1" fill="hold">
                                          <p:stCondLst>
                                            <p:cond delay="0"/>
                                          </p:stCondLst>
                                          <p:attrNameLst>
                                            <p:attrName>style.visibility</p:attrName>
                                          </p:attrNameLst>
                                        </p:cTn>
                                        <p:tgtEl>
                                          <p:spTgt spid="30"/>
                                        </p:tgtEl>
                                      </p:cBhvr>
                                      <p:to>
                                        <p:strVal val="visible"/>
                                      </p:to>
                                    </p:set>
                                    <p:animEffect transition="in" filter="fade">
                                      <p:cBhvr>
                                        <p:cTn id="205" dur="550"/>
                                        <p:tgtEl>
                                          <p:spTgt spid="30"/>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ccent.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TQM QUALITY WORKSPACE</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Quality isn't a chapter — </a:t>
            </a:r>
            <a:r>
              <a:rPr sz="2700" b="1" i="0">
                <a:gradFill rotWithShape="1">
                  <a:gsLst>
                    <a:gs pos="0">
                      <a:srgbClr val="6366F1"/>
                    </a:gs>
                    <a:gs pos="55000">
                      <a:srgbClr val="8B5CF6"/>
                    </a:gs>
                    <a:gs pos="100000">
                      <a:srgbClr val="06B6D4"/>
                    </a:gs>
                  </a:gsLst>
                  <a:lin ang="0" scaled="1"/>
                </a:gradFill>
                <a:latin typeface="Segoe UI"/>
              </a:rPr>
              <a:t>it's built in</a:t>
            </a:r>
          </a:p>
        </p:txBody>
      </p:sp>
      <p:sp>
        <p:nvSpPr>
          <p:cNvPr id="6" name="TextBox 5"/>
          <p:cNvSpPr txBox="1"/>
          <p:nvPr/>
        </p:nvSpPr>
        <p:spPr>
          <a:xfrm>
            <a:off x="521207" y="1188720"/>
            <a:ext cx="11149279" cy="365760"/>
          </a:xfrm>
          <a:prstGeom prst="rect">
            <a:avLst/>
          </a:prstGeom>
          <a:noFill/>
        </p:spPr>
        <p:txBody>
          <a:bodyPr wrap="square" anchor="t" lIns="0" rIns="0" tIns="0" bIns="0">
            <a:spAutoFit/>
          </a:bodyPr>
          <a:lstStyle/>
          <a:p>
            <a:pPr algn="l">
              <a:spcBef>
                <a:spcPts val="0"/>
              </a:spcBef>
              <a:spcAft>
                <a:spcPts val="0"/>
              </a:spcAft>
            </a:pPr>
            <a:r>
              <a:rPr sz="1300" b="0" i="0">
                <a:solidFill>
                  <a:srgbClr val="9699CC"/>
                </a:solidFill>
                <a:latin typeface="Segoe UI"/>
              </a:rPr>
              <a:t>A complete Total Quality Management centre, running on this project's own real defect data.</a:t>
            </a:r>
          </a:p>
        </p:txBody>
      </p:sp>
      <p:sp>
        <p:nvSpPr>
          <p:cNvPr id="7" name="TextBox 6"/>
          <p:cNvSpPr txBox="1"/>
          <p:nvPr/>
        </p:nvSpPr>
        <p:spPr>
          <a:xfrm>
            <a:off x="521207" y="1828800"/>
            <a:ext cx="4709160" cy="2834640"/>
          </a:xfrm>
          <a:prstGeom prst="rect">
            <a:avLst/>
          </a:prstGeom>
          <a:noFill/>
        </p:spPr>
        <p:txBody>
          <a:bodyPr wrap="square" anchor="t" lIns="0" rIns="0" tIns="0" bIns="0">
            <a:spAutoFit/>
          </a:bodyPr>
          <a:lstStyle/>
          <a:p>
            <a:pPr algn="l" marL="173736" indent="-173736">
              <a:lnSpc>
                <a:spcPct val="112000"/>
              </a:lnSpc>
              <a:spcBef>
                <a:spcPts val="0"/>
              </a:spcBef>
              <a:spcAft>
                <a:spcPts val="900"/>
              </a:spcAft>
            </a:pPr>
            <a:r>
              <a:rPr sz="762" b="1" i="0">
                <a:solidFill>
                  <a:srgbClr val="22D3EE"/>
                </a:solidFill>
                <a:latin typeface="Segoe UI"/>
              </a:rPr>
              <a:t>●  </a:t>
            </a:r>
            <a:r>
              <a:rPr sz="1230" b="1" i="0">
                <a:solidFill>
                  <a:srgbClr val="FFFFFF"/>
                </a:solidFill>
                <a:latin typeface="Segoe UI"/>
              </a:rPr>
              <a:t>Defect log </a:t>
            </a:r>
            <a:r>
              <a:rPr sz="1230" b="0" i="0">
                <a:solidFill>
                  <a:srgbClr val="CDD1F2"/>
                </a:solidFill>
                <a:latin typeface="Segoe UI"/>
              </a:rPr>
              <a:t>— 16 real development defects, 100% closed</a:t>
            </a:r>
          </a:p>
          <a:p>
            <a:pPr algn="l" marL="173736" indent="-173736">
              <a:lnSpc>
                <a:spcPct val="112000"/>
              </a:lnSpc>
              <a:spcBef>
                <a:spcPts val="0"/>
              </a:spcBef>
              <a:spcAft>
                <a:spcPts val="900"/>
              </a:spcAft>
            </a:pPr>
            <a:r>
              <a:rPr sz="762" b="1" i="0">
                <a:solidFill>
                  <a:srgbClr val="22D3EE"/>
                </a:solidFill>
                <a:latin typeface="Segoe UI"/>
              </a:rPr>
              <a:t>●  </a:t>
            </a:r>
            <a:r>
              <a:rPr sz="1230" b="1" i="0">
                <a:solidFill>
                  <a:srgbClr val="FFFFFF"/>
                </a:solidFill>
                <a:latin typeface="Segoe UI"/>
              </a:rPr>
              <a:t>Pareto analysis </a:t>
            </a:r>
            <a:r>
              <a:rPr sz="1230" b="0" i="0">
                <a:solidFill>
                  <a:srgbClr val="CDD1F2"/>
                </a:solidFill>
                <a:latin typeface="Segoe UI"/>
              </a:rPr>
              <a:t>— the vital few causes behind ~80% of defects</a:t>
            </a:r>
          </a:p>
          <a:p>
            <a:pPr algn="l" marL="173736" indent="-173736">
              <a:lnSpc>
                <a:spcPct val="112000"/>
              </a:lnSpc>
              <a:spcBef>
                <a:spcPts val="0"/>
              </a:spcBef>
              <a:spcAft>
                <a:spcPts val="900"/>
              </a:spcAft>
            </a:pPr>
            <a:r>
              <a:rPr sz="762" b="1" i="0">
                <a:solidFill>
                  <a:srgbClr val="22D3EE"/>
                </a:solidFill>
                <a:latin typeface="Segoe UI"/>
              </a:rPr>
              <a:t>●  </a:t>
            </a:r>
            <a:r>
              <a:rPr sz="1230" b="1" i="0">
                <a:solidFill>
                  <a:srgbClr val="FFFFFF"/>
                </a:solidFill>
                <a:latin typeface="Segoe UI"/>
              </a:rPr>
              <a:t>Fishbone diagram </a:t>
            </a:r>
            <a:r>
              <a:rPr sz="1230" b="0" i="0">
                <a:solidFill>
                  <a:srgbClr val="CDD1F2"/>
                </a:solidFill>
                <a:latin typeface="Segoe UI"/>
              </a:rPr>
              <a:t>— root causes across six categories</a:t>
            </a:r>
          </a:p>
          <a:p>
            <a:pPr algn="l" marL="173736" indent="-173736">
              <a:lnSpc>
                <a:spcPct val="112000"/>
              </a:lnSpc>
              <a:spcBef>
                <a:spcPts val="0"/>
              </a:spcBef>
              <a:spcAft>
                <a:spcPts val="900"/>
              </a:spcAft>
            </a:pPr>
            <a:r>
              <a:rPr sz="762" b="1" i="0">
                <a:solidFill>
                  <a:srgbClr val="22D3EE"/>
                </a:solidFill>
                <a:latin typeface="Segoe UI"/>
              </a:rPr>
              <a:t>●  </a:t>
            </a:r>
            <a:r>
              <a:rPr sz="1230" b="1" i="0">
                <a:solidFill>
                  <a:srgbClr val="FFFFFF"/>
                </a:solidFill>
                <a:latin typeface="Segoe UI"/>
              </a:rPr>
              <a:t>FMEA </a:t>
            </a:r>
            <a:r>
              <a:rPr sz="1230" b="0" i="0">
                <a:solidFill>
                  <a:srgbClr val="CDD1F2"/>
                </a:solidFill>
                <a:latin typeface="Segoe UI"/>
              </a:rPr>
              <a:t>— 12 risks scored by RPN, re-scored after action</a:t>
            </a:r>
          </a:p>
          <a:p>
            <a:pPr algn="l" marL="173736" indent="-173736">
              <a:lnSpc>
                <a:spcPct val="112000"/>
              </a:lnSpc>
              <a:spcBef>
                <a:spcPts val="0"/>
              </a:spcBef>
              <a:spcAft>
                <a:spcPts val="900"/>
              </a:spcAft>
            </a:pPr>
            <a:r>
              <a:rPr sz="762" b="1" i="0">
                <a:solidFill>
                  <a:srgbClr val="22D3EE"/>
                </a:solidFill>
                <a:latin typeface="Segoe UI"/>
              </a:rPr>
              <a:t>●  </a:t>
            </a:r>
            <a:r>
              <a:rPr sz="1230" b="1" i="0">
                <a:solidFill>
                  <a:srgbClr val="FFFFFF"/>
                </a:solidFill>
                <a:latin typeface="Segoe UI"/>
              </a:rPr>
              <a:t>PDCA · SIPOC · CTQ </a:t>
            </a:r>
            <a:r>
              <a:rPr sz="1230" b="0" i="0">
                <a:solidFill>
                  <a:srgbClr val="CDD1F2"/>
                </a:solidFill>
                <a:latin typeface="Segoe UI"/>
              </a:rPr>
              <a:t>— the quiz process, mapped end-to-end</a:t>
            </a:r>
          </a:p>
          <a:p>
            <a:pPr algn="l" marL="173736" indent="-173736">
              <a:lnSpc>
                <a:spcPct val="112000"/>
              </a:lnSpc>
              <a:spcBef>
                <a:spcPts val="0"/>
              </a:spcBef>
              <a:spcAft>
                <a:spcPts val="900"/>
              </a:spcAft>
            </a:pPr>
            <a:r>
              <a:rPr sz="762" b="1" i="0">
                <a:solidFill>
                  <a:srgbClr val="22D3EE"/>
                </a:solidFill>
                <a:latin typeface="Segoe UI"/>
              </a:rPr>
              <a:t>●  </a:t>
            </a:r>
            <a:r>
              <a:rPr sz="1230" b="1" i="0">
                <a:solidFill>
                  <a:srgbClr val="FFFFFF"/>
                </a:solidFill>
                <a:latin typeface="Segoe UI"/>
              </a:rPr>
              <a:t>Control charts </a:t>
            </a:r>
            <a:r>
              <a:rPr sz="1230" b="0" i="0">
                <a:solidFill>
                  <a:srgbClr val="CDD1F2"/>
                </a:solidFill>
                <a:latin typeface="Segoe UI"/>
              </a:rPr>
              <a:t>— submission latency under statistical control</a:t>
            </a:r>
          </a:p>
        </p:txBody>
      </p:sp>
      <p:sp>
        <p:nvSpPr>
          <p:cNvPr id="8" name="Rounded Rectangle 7"/>
          <p:cNvSpPr/>
          <p:nvPr/>
        </p:nvSpPr>
        <p:spPr>
          <a:xfrm>
            <a:off x="521207" y="4700016"/>
            <a:ext cx="2340864" cy="969264"/>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4818888"/>
            <a:ext cx="2057400" cy="457200"/>
          </a:xfrm>
          <a:prstGeom prst="rect">
            <a:avLst/>
          </a:prstGeom>
          <a:noFill/>
        </p:spPr>
        <p:txBody>
          <a:bodyPr wrap="square" anchor="t" lIns="0" rIns="0" tIns="0" bIns="0">
            <a:spAutoFit/>
          </a:bodyPr>
          <a:lstStyle/>
          <a:p>
            <a:pPr algn="l">
              <a:spcBef>
                <a:spcPts val="0"/>
              </a:spcBef>
              <a:spcAft>
                <a:spcPts val="0"/>
              </a:spcAft>
            </a:pPr>
            <a:r>
              <a:rPr sz="2100" b="1" i="0">
                <a:gradFill rotWithShape="1">
                  <a:gsLst>
                    <a:gs pos="0">
                      <a:srgbClr val="6366F1"/>
                    </a:gs>
                    <a:gs pos="55000">
                      <a:srgbClr val="8B5CF6"/>
                    </a:gs>
                    <a:gs pos="100000">
                      <a:srgbClr val="06B6D4"/>
                    </a:gs>
                  </a:gsLst>
                  <a:lin ang="0" scaled="1"/>
                </a:gradFill>
                <a:latin typeface="Segoe UI"/>
              </a:rPr>
              <a:t>7.39 ms</a:t>
            </a:r>
          </a:p>
        </p:txBody>
      </p:sp>
      <p:sp>
        <p:nvSpPr>
          <p:cNvPr id="10" name="TextBox 9"/>
          <p:cNvSpPr txBox="1"/>
          <p:nvPr/>
        </p:nvSpPr>
        <p:spPr>
          <a:xfrm>
            <a:off x="704088" y="5248656"/>
            <a:ext cx="2057400" cy="402336"/>
          </a:xfrm>
          <a:prstGeom prst="rect">
            <a:avLst/>
          </a:prstGeom>
          <a:noFill/>
        </p:spPr>
        <p:txBody>
          <a:bodyPr wrap="square" anchor="t" lIns="0" rIns="0" tIns="0" bIns="0">
            <a:spAutoFit/>
          </a:bodyPr>
          <a:lstStyle/>
          <a:p>
            <a:pPr algn="l">
              <a:lnSpc>
                <a:spcPct val="110000"/>
              </a:lnSpc>
              <a:spcBef>
                <a:spcPts val="0"/>
              </a:spcBef>
              <a:spcAft>
                <a:spcPts val="0"/>
              </a:spcAft>
            </a:pPr>
            <a:r>
              <a:rPr sz="930" b="0" i="0">
                <a:solidFill>
                  <a:srgbClr val="9699CC"/>
                </a:solidFill>
                <a:latin typeface="Segoe UI"/>
              </a:rPr>
              <a:t>P95 submission processing
(target &lt; 500 ms)</a:t>
            </a:r>
          </a:p>
        </p:txBody>
      </p:sp>
      <p:sp>
        <p:nvSpPr>
          <p:cNvPr id="11" name="Rounded Rectangle 10"/>
          <p:cNvSpPr/>
          <p:nvPr/>
        </p:nvSpPr>
        <p:spPr>
          <a:xfrm>
            <a:off x="2990088" y="4700016"/>
            <a:ext cx="2340864" cy="969264"/>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72968" y="4818888"/>
            <a:ext cx="2057400" cy="457200"/>
          </a:xfrm>
          <a:prstGeom prst="rect">
            <a:avLst/>
          </a:prstGeom>
          <a:noFill/>
        </p:spPr>
        <p:txBody>
          <a:bodyPr wrap="square" anchor="t" lIns="0" rIns="0" tIns="0" bIns="0">
            <a:spAutoFit/>
          </a:bodyPr>
          <a:lstStyle/>
          <a:p>
            <a:pPr algn="l">
              <a:spcBef>
                <a:spcPts val="0"/>
              </a:spcBef>
              <a:spcAft>
                <a:spcPts val="0"/>
              </a:spcAft>
            </a:pPr>
            <a:r>
              <a:rPr sz="2100" b="1" i="0">
                <a:gradFill rotWithShape="1">
                  <a:gsLst>
                    <a:gs pos="0">
                      <a:srgbClr val="6366F1"/>
                    </a:gs>
                    <a:gs pos="55000">
                      <a:srgbClr val="8B5CF6"/>
                    </a:gs>
                    <a:gs pos="100000">
                      <a:srgbClr val="06B6D4"/>
                    </a:gs>
                  </a:gsLst>
                  <a:lin ang="0" scaled="1"/>
                </a:gradFill>
                <a:latin typeface="Segoe UI"/>
              </a:rPr>
              <a:t>100%</a:t>
            </a:r>
          </a:p>
        </p:txBody>
      </p:sp>
      <p:sp>
        <p:nvSpPr>
          <p:cNvPr id="13" name="TextBox 12"/>
          <p:cNvSpPr txBox="1"/>
          <p:nvPr/>
        </p:nvSpPr>
        <p:spPr>
          <a:xfrm>
            <a:off x="3172968" y="5248656"/>
            <a:ext cx="2057400" cy="402336"/>
          </a:xfrm>
          <a:prstGeom prst="rect">
            <a:avLst/>
          </a:prstGeom>
          <a:noFill/>
        </p:spPr>
        <p:txBody>
          <a:bodyPr wrap="square" anchor="t" lIns="0" rIns="0" tIns="0" bIns="0">
            <a:spAutoFit/>
          </a:bodyPr>
          <a:lstStyle/>
          <a:p>
            <a:pPr algn="l">
              <a:lnSpc>
                <a:spcPct val="110000"/>
              </a:lnSpc>
              <a:spcBef>
                <a:spcPts val="0"/>
              </a:spcBef>
              <a:spcAft>
                <a:spcPts val="0"/>
              </a:spcAft>
            </a:pPr>
            <a:r>
              <a:rPr sz="930" b="0" i="0">
                <a:solidFill>
                  <a:srgbClr val="9699CC"/>
                </a:solidFill>
                <a:latin typeface="Segoe UI"/>
              </a:rPr>
              <a:t>autosave success &amp;
grading reproducibility</a:t>
            </a:r>
          </a:p>
        </p:txBody>
      </p:sp>
      <p:sp>
        <p:nvSpPr>
          <p:cNvPr id="14" name="TextBox 13"/>
          <p:cNvSpPr txBox="1"/>
          <p:nvPr/>
        </p:nvSpPr>
        <p:spPr>
          <a:xfrm>
            <a:off x="521207" y="5815584"/>
            <a:ext cx="4846320" cy="292608"/>
          </a:xfrm>
          <a:prstGeom prst="rect">
            <a:avLst/>
          </a:prstGeom>
          <a:noFill/>
        </p:spPr>
        <p:txBody>
          <a:bodyPr wrap="square" anchor="t" lIns="0" rIns="0" tIns="0" bIns="0">
            <a:spAutoFit/>
          </a:bodyPr>
          <a:lstStyle/>
          <a:p>
            <a:pPr algn="l">
              <a:spcBef>
                <a:spcPts val="0"/>
              </a:spcBef>
              <a:spcAft>
                <a:spcPts val="0"/>
              </a:spcAft>
            </a:pPr>
            <a:r>
              <a:rPr sz="1100" b="1" i="1">
                <a:solidFill>
                  <a:srgbClr val="22D3EE"/>
                </a:solidFill>
                <a:latin typeface="Segoe UI"/>
              </a:rPr>
              <a:t>Nothing is simulated — every figure is computed live.</a:t>
            </a:r>
          </a:p>
        </p:txBody>
      </p:sp>
      <p:sp>
        <p:nvSpPr>
          <p:cNvPr id="15" name="Rounded Rectangle 14"/>
          <p:cNvSpPr/>
          <p:nvPr/>
        </p:nvSpPr>
        <p:spPr>
          <a:xfrm>
            <a:off x="5504688" y="1810512"/>
            <a:ext cx="4956048" cy="3957827"/>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60136" y="1920240"/>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52159" y="1920240"/>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044183" y="1920240"/>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42820" y="1869948"/>
            <a:ext cx="2279782"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2820" y="1869948"/>
            <a:ext cx="2279782"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quizmaster.app/admin/tqm</a:t>
            </a:r>
          </a:p>
        </p:txBody>
      </p:sp>
      <p:pic>
        <p:nvPicPr>
          <p:cNvPr id="21" name="Picture 20" descr="tqm_overview.jpg"/>
          <p:cNvPicPr>
            <a:picLocks noChangeAspect="1"/>
          </p:cNvPicPr>
          <p:nvPr/>
        </p:nvPicPr>
        <p:blipFill>
          <a:blip r:embed="rId3"/>
          <a:stretch>
            <a:fillRect/>
          </a:stretch>
        </p:blipFill>
        <p:spPr>
          <a:xfrm>
            <a:off x="5554979" y="2121408"/>
            <a:ext cx="4855464" cy="3596639"/>
          </a:xfrm>
          <a:prstGeom prst="roundRect">
            <a:avLst>
              <a:gd name="adj" fmla="val 2600"/>
            </a:avLst>
          </a:prstGeom>
        </p:spPr>
      </p:pic>
      <p:sp>
        <p:nvSpPr>
          <p:cNvPr id="22" name="Rounded Rectangle 21"/>
          <p:cNvSpPr/>
          <p:nvPr/>
        </p:nvSpPr>
        <p:spPr>
          <a:xfrm>
            <a:off x="8485632" y="3584448"/>
            <a:ext cx="3035808" cy="2480564"/>
          </a:xfrm>
          <a:prstGeom prst="roundRect">
            <a:avLst>
              <a:gd name="adj" fmla="val 3500"/>
            </a:avLst>
          </a:prstGeom>
          <a:solidFill>
            <a:srgbClr val="10102E"/>
          </a:solidFill>
          <a:ln w="13970">
            <a:solidFill>
              <a:srgbClr val="2D2D68"/>
            </a:solidFill>
          </a:ln>
          <a:effectLst>
            <a:outerShdw blurRad="128016" dist="54864" dir="5400000"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41080" y="3666744"/>
            <a:ext cx="91440" cy="91440"/>
          </a:xfrm>
          <a:prstGeom prst="ellipse">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833104" y="3666744"/>
            <a:ext cx="91440" cy="91440"/>
          </a:xfrm>
          <a:prstGeom prst="ellipse">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25128" y="3666744"/>
            <a:ext cx="91440" cy="91440"/>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305300" y="3616451"/>
            <a:ext cx="1396471" cy="192024"/>
          </a:xfrm>
          <a:prstGeom prst="roundRect">
            <a:avLst>
              <a:gd name="adj" fmla="val 50000"/>
            </a:avLst>
          </a:prstGeom>
          <a:solidFill>
            <a:srgbClr val="202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5300" y="3616451"/>
            <a:ext cx="1396471" cy="192024"/>
          </a:xfrm>
          <a:prstGeom prst="rect">
            <a:avLst/>
          </a:prstGeom>
          <a:noFill/>
        </p:spPr>
        <p:txBody>
          <a:bodyPr wrap="square" anchor="ctr" lIns="0" rIns="0" tIns="0" bIns="0">
            <a:spAutoFit/>
          </a:bodyPr>
          <a:lstStyle/>
          <a:p>
            <a:pPr algn="ctr">
              <a:spcBef>
                <a:spcPts val="0"/>
              </a:spcBef>
              <a:spcAft>
                <a:spcPts val="0"/>
              </a:spcAft>
            </a:pPr>
            <a:r>
              <a:rPr sz="850" b="0" i="0">
                <a:solidFill>
                  <a:srgbClr val="9699CC"/>
                </a:solidFill>
                <a:latin typeface="Segoe UI"/>
              </a:rPr>
              <a:t>quizmaster.app/admin/tqm/pareto</a:t>
            </a:r>
          </a:p>
        </p:txBody>
      </p:sp>
      <p:pic>
        <p:nvPicPr>
          <p:cNvPr id="28" name="Picture 27" descr="pareto.jpg"/>
          <p:cNvPicPr>
            <a:picLocks noChangeAspect="1"/>
          </p:cNvPicPr>
          <p:nvPr/>
        </p:nvPicPr>
        <p:blipFill>
          <a:blip r:embed="rId4"/>
          <a:stretch>
            <a:fillRect/>
          </a:stretch>
        </p:blipFill>
        <p:spPr>
          <a:xfrm>
            <a:off x="8535924" y="3840480"/>
            <a:ext cx="2935224" cy="2174240"/>
          </a:xfrm>
          <a:prstGeom prst="roundRect">
            <a:avLst>
              <a:gd name="adj" fmla="val 2600"/>
            </a:avLst>
          </a:prstGeom>
        </p:spPr>
      </p:pic>
      <p:sp>
        <p:nvSpPr>
          <p:cNvPr id="29" name="TextBox 28"/>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30" name="TextBox 29"/>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10</a:t>
            </a:r>
            <a:r>
              <a:rPr sz="1000" b="0" i="0">
                <a:solidFill>
                  <a:srgbClr val="6F72AA"/>
                </a:solidFill>
                <a:latin typeface="Segoe UI"/>
              </a:rPr>
              <a:t> / 11</a:t>
            </a:r>
          </a:p>
        </p:txBody>
      </p:sp>
    </p:spTree>
  </p:cSld>
  <p:clrMapOvr>
    <a:masterClrMapping/>
  </p:clrMapOvr>
  <p:transition spd="med" advClick="1">
    <p:cover dir="l"/>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200"/>
                                  </p:stCondLst>
                                  <p:childTnLst>
                                    <p:set>
                                      <p:cBhvr>
                                        <p:cTn id="120" dur="1" fill="hold">
                                          <p:stCondLst>
                                            <p:cond delay="0"/>
                                          </p:stCondLst>
                                          <p:attrNameLst>
                                            <p:attrName>style.visibility</p:attrName>
                                          </p:attrNameLst>
                                        </p:cTn>
                                        <p:tgtEl>
                                          <p:spTgt spid="7"/>
                                        </p:tgtEl>
                                      </p:cBhvr>
                                      <p:to>
                                        <p:strVal val="visible"/>
                                      </p:to>
                                    </p:set>
                                    <p:animEffect transition="in" filter="fade">
                                      <p:cBhvr>
                                        <p:cTn id="121" dur="550"/>
                                        <p:tgtEl>
                                          <p:spTgt spid="7"/>
                                        </p:tgtEl>
                                      </p:cBhvr>
                                    </p:animEffect>
                                  </p:childTnLst>
                                </p:cTn>
                              </p:par>
                            </p:childTnLst>
                          </p:cTn>
                        </p:par>
                        <p:par>
                          <p:cTn id="122" fill="hold">
                            <p:stCondLst>
                              <p:cond delay="0"/>
                            </p:stCondLst>
                            <p:childTnLst>
                              <p:par>
                                <p:cTn id="123" presetID="10" presetClass="entr" presetSubtype="0" fill="hold" grpId="0" nodeType="withEffect">
                                  <p:stCondLst>
                                    <p:cond delay="480"/>
                                  </p:stCondLst>
                                  <p:childTnLst>
                                    <p:set>
                                      <p:cBhvr>
                                        <p:cTn id="124" dur="1" fill="hold">
                                          <p:stCondLst>
                                            <p:cond delay="0"/>
                                          </p:stCondLst>
                                          <p:attrNameLst>
                                            <p:attrName>style.visibility</p:attrName>
                                          </p:attrNameLst>
                                        </p:cTn>
                                        <p:tgtEl>
                                          <p:spTgt spid="8"/>
                                        </p:tgtEl>
                                      </p:cBhvr>
                                      <p:to>
                                        <p:strVal val="visible"/>
                                      </p:to>
                                    </p:set>
                                    <p:animEffect transition="in" filter="fade">
                                      <p:cBhvr>
                                        <p:cTn id="125" dur="550"/>
                                        <p:tgtEl>
                                          <p:spTgt spid="8"/>
                                        </p:tgtEl>
                                      </p:cBhvr>
                                    </p:animEffect>
                                  </p:childTnLst>
                                </p:cTn>
                              </p:par>
                            </p:childTnLst>
                          </p:cTn>
                        </p:par>
                        <p:par>
                          <p:cTn id="126" fill="hold">
                            <p:stCondLst>
                              <p:cond delay="0"/>
                            </p:stCondLst>
                            <p:childTnLst>
                              <p:par>
                                <p:cTn id="127" presetID="10" presetClass="entr" presetSubtype="0" fill="hold" grpId="0" nodeType="withEffect">
                                  <p:stCondLst>
                                    <p:cond delay="600"/>
                                  </p:stCondLst>
                                  <p:childTnLst>
                                    <p:set>
                                      <p:cBhvr>
                                        <p:cTn id="128" dur="1" fill="hold">
                                          <p:stCondLst>
                                            <p:cond delay="0"/>
                                          </p:stCondLst>
                                          <p:attrNameLst>
                                            <p:attrName>style.visibility</p:attrName>
                                          </p:attrNameLst>
                                        </p:cTn>
                                        <p:tgtEl>
                                          <p:spTgt spid="11"/>
                                        </p:tgtEl>
                                      </p:cBhvr>
                                      <p:to>
                                        <p:strVal val="visible"/>
                                      </p:to>
                                    </p:set>
                                    <p:animEffect transition="in" filter="fade">
                                      <p:cBhvr>
                                        <p:cTn id="129" dur="550"/>
                                        <p:tgtEl>
                                          <p:spTgt spid="11"/>
                                        </p:tgtEl>
                                      </p:cBhvr>
                                    </p:animEffect>
                                  </p:childTnLst>
                                </p:cTn>
                              </p:par>
                            </p:childTnLst>
                          </p:cTn>
                        </p:par>
                        <p:par>
                          <p:cTn id="130" fill="hold">
                            <p:stCondLst>
                              <p:cond delay="0"/>
                            </p:stCondLst>
                            <p:childTnLst>
                              <p:par>
                                <p:cTn id="131" presetID="10" presetClass="entr" presetSubtype="0" fill="hold" grpId="0" nodeType="withEffect">
                                  <p:stCondLst>
                                    <p:cond delay="320"/>
                                  </p:stCondLst>
                                  <p:childTnLst>
                                    <p:set>
                                      <p:cBhvr>
                                        <p:cTn id="132" dur="1" fill="hold">
                                          <p:stCondLst>
                                            <p:cond delay="0"/>
                                          </p:stCondLst>
                                          <p:attrNameLst>
                                            <p:attrName>style.visibility</p:attrName>
                                          </p:attrNameLst>
                                        </p:cTn>
                                        <p:tgtEl>
                                          <p:spTgt spid="15"/>
                                        </p:tgtEl>
                                      </p:cBhvr>
                                      <p:to>
                                        <p:strVal val="visible"/>
                                      </p:to>
                                    </p:set>
                                    <p:animEffect transition="in" filter="fade">
                                      <p:cBhvr>
                                        <p:cTn id="133" dur="550"/>
                                        <p:tgtEl>
                                          <p:spTgt spid="15"/>
                                        </p:tgtEl>
                                      </p:cBhvr>
                                    </p:animEffect>
                                  </p:childTnLst>
                                </p:cTn>
                              </p:par>
                            </p:childTnLst>
                          </p:cTn>
                        </p:par>
                        <p:par>
                          <p:cTn id="134" fill="hold">
                            <p:stCondLst>
                              <p:cond delay="0"/>
                            </p:stCondLst>
                            <p:childTnLst>
                              <p:par>
                                <p:cTn id="135" presetID="10" presetClass="entr" presetSubtype="0" fill="hold" grpId="0" nodeType="withEffect">
                                  <p:stCondLst>
                                    <p:cond delay="320"/>
                                  </p:stCondLst>
                                  <p:childTnLst>
                                    <p:set>
                                      <p:cBhvr>
                                        <p:cTn id="136" dur="1" fill="hold">
                                          <p:stCondLst>
                                            <p:cond delay="0"/>
                                          </p:stCondLst>
                                          <p:attrNameLst>
                                            <p:attrName>style.visibility</p:attrName>
                                          </p:attrNameLst>
                                        </p:cTn>
                                        <p:tgtEl>
                                          <p:spTgt spid="16"/>
                                        </p:tgtEl>
                                      </p:cBhvr>
                                      <p:to>
                                        <p:strVal val="visible"/>
                                      </p:to>
                                    </p:set>
                                    <p:animEffect transition="in" filter="fade">
                                      <p:cBhvr>
                                        <p:cTn id="137" dur="550"/>
                                        <p:tgtEl>
                                          <p:spTgt spid="16"/>
                                        </p:tgtEl>
                                      </p:cBhvr>
                                    </p:animEffect>
                                  </p:childTnLst>
                                </p:cTn>
                              </p:par>
                            </p:childTnLst>
                          </p:cTn>
                        </p:par>
                        <p:par>
                          <p:cTn id="138" fill="hold">
                            <p:stCondLst>
                              <p:cond delay="0"/>
                            </p:stCondLst>
                            <p:childTnLst>
                              <p:par>
                                <p:cTn id="139" presetID="10" presetClass="entr" presetSubtype="0" fill="hold" grpId="0" nodeType="withEffect">
                                  <p:stCondLst>
                                    <p:cond delay="320"/>
                                  </p:stCondLst>
                                  <p:childTnLst>
                                    <p:set>
                                      <p:cBhvr>
                                        <p:cTn id="140" dur="1" fill="hold">
                                          <p:stCondLst>
                                            <p:cond delay="0"/>
                                          </p:stCondLst>
                                          <p:attrNameLst>
                                            <p:attrName>style.visibility</p:attrName>
                                          </p:attrNameLst>
                                        </p:cTn>
                                        <p:tgtEl>
                                          <p:spTgt spid="17"/>
                                        </p:tgtEl>
                                      </p:cBhvr>
                                      <p:to>
                                        <p:strVal val="visible"/>
                                      </p:to>
                                    </p:set>
                                    <p:animEffect transition="in" filter="fade">
                                      <p:cBhvr>
                                        <p:cTn id="141" dur="550"/>
                                        <p:tgtEl>
                                          <p:spTgt spid="17"/>
                                        </p:tgtEl>
                                      </p:cBhvr>
                                    </p:animEffect>
                                  </p:childTnLst>
                                </p:cTn>
                              </p:par>
                            </p:childTnLst>
                          </p:cTn>
                        </p:par>
                        <p:par>
                          <p:cTn id="142" fill="hold">
                            <p:stCondLst>
                              <p:cond delay="0"/>
                            </p:stCondLst>
                            <p:childTnLst>
                              <p:par>
                                <p:cTn id="143" presetID="10" presetClass="entr" presetSubtype="0" fill="hold" grpId="0" nodeType="withEffect">
                                  <p:stCondLst>
                                    <p:cond delay="320"/>
                                  </p:stCondLst>
                                  <p:childTnLst>
                                    <p:set>
                                      <p:cBhvr>
                                        <p:cTn id="144" dur="1" fill="hold">
                                          <p:stCondLst>
                                            <p:cond delay="0"/>
                                          </p:stCondLst>
                                          <p:attrNameLst>
                                            <p:attrName>style.visibility</p:attrName>
                                          </p:attrNameLst>
                                        </p:cTn>
                                        <p:tgtEl>
                                          <p:spTgt spid="18"/>
                                        </p:tgtEl>
                                      </p:cBhvr>
                                      <p:to>
                                        <p:strVal val="visible"/>
                                      </p:to>
                                    </p:set>
                                    <p:animEffect transition="in" filter="fade">
                                      <p:cBhvr>
                                        <p:cTn id="145" dur="550"/>
                                        <p:tgtEl>
                                          <p:spTgt spid="18"/>
                                        </p:tgtEl>
                                      </p:cBhvr>
                                    </p:animEffect>
                                  </p:childTnLst>
                                </p:cTn>
                              </p:par>
                            </p:childTnLst>
                          </p:cTn>
                        </p:par>
                        <p:par>
                          <p:cTn id="146" fill="hold">
                            <p:stCondLst>
                              <p:cond delay="0"/>
                            </p:stCondLst>
                            <p:childTnLst>
                              <p:par>
                                <p:cTn id="147" presetID="10" presetClass="entr" presetSubtype="0" fill="hold" grpId="0" nodeType="withEffect">
                                  <p:stCondLst>
                                    <p:cond delay="320"/>
                                  </p:stCondLst>
                                  <p:childTnLst>
                                    <p:set>
                                      <p:cBhvr>
                                        <p:cTn id="148" dur="1" fill="hold">
                                          <p:stCondLst>
                                            <p:cond delay="0"/>
                                          </p:stCondLst>
                                          <p:attrNameLst>
                                            <p:attrName>style.visibility</p:attrName>
                                          </p:attrNameLst>
                                        </p:cTn>
                                        <p:tgtEl>
                                          <p:spTgt spid="19"/>
                                        </p:tgtEl>
                                      </p:cBhvr>
                                      <p:to>
                                        <p:strVal val="visible"/>
                                      </p:to>
                                    </p:set>
                                    <p:animEffect transition="in" filter="fade">
                                      <p:cBhvr>
                                        <p:cTn id="149" dur="550"/>
                                        <p:tgtEl>
                                          <p:spTgt spid="19"/>
                                        </p:tgtEl>
                                      </p:cBhvr>
                                    </p:animEffect>
                                  </p:childTnLst>
                                </p:cTn>
                              </p:par>
                            </p:childTnLst>
                          </p:cTn>
                        </p:par>
                        <p:par>
                          <p:cTn id="150" fill="hold">
                            <p:stCondLst>
                              <p:cond delay="0"/>
                            </p:stCondLst>
                            <p:childTnLst>
                              <p:par>
                                <p:cTn id="151" presetID="10" presetClass="entr" presetSubtype="0" fill="hold" grpId="0" nodeType="withEffect">
                                  <p:stCondLst>
                                    <p:cond delay="320"/>
                                  </p:stCondLst>
                                  <p:childTnLst>
                                    <p:set>
                                      <p:cBhvr>
                                        <p:cTn id="152" dur="1" fill="hold">
                                          <p:stCondLst>
                                            <p:cond delay="0"/>
                                          </p:stCondLst>
                                          <p:attrNameLst>
                                            <p:attrName>style.visibility</p:attrName>
                                          </p:attrNameLst>
                                        </p:cTn>
                                        <p:tgtEl>
                                          <p:spTgt spid="20"/>
                                        </p:tgtEl>
                                      </p:cBhvr>
                                      <p:to>
                                        <p:strVal val="visible"/>
                                      </p:to>
                                    </p:set>
                                    <p:animEffect transition="in" filter="fade">
                                      <p:cBhvr>
                                        <p:cTn id="153" dur="550"/>
                                        <p:tgtEl>
                                          <p:spTgt spid="20"/>
                                        </p:tgtEl>
                                      </p:cBhvr>
                                    </p:animEffect>
                                  </p:childTnLst>
                                </p:cTn>
                              </p:par>
                            </p:childTnLst>
                          </p:cTn>
                        </p:par>
                        <p:par>
                          <p:cTn id="154" fill="hold">
                            <p:stCondLst>
                              <p:cond delay="0"/>
                            </p:stCondLst>
                            <p:childTnLst>
                              <p:par>
                                <p:cTn id="155" presetID="10" presetClass="entr" presetSubtype="0" fill="hold" grpId="0" nodeType="withEffect">
                                  <p:stCondLst>
                                    <p:cond delay="320"/>
                                  </p:stCondLst>
                                  <p:childTnLst>
                                    <p:set>
                                      <p:cBhvr>
                                        <p:cTn id="156" dur="1" fill="hold">
                                          <p:stCondLst>
                                            <p:cond delay="0"/>
                                          </p:stCondLst>
                                          <p:attrNameLst>
                                            <p:attrName>style.visibility</p:attrName>
                                          </p:attrNameLst>
                                        </p:cTn>
                                        <p:tgtEl>
                                          <p:spTgt spid="21"/>
                                        </p:tgtEl>
                                      </p:cBhvr>
                                      <p:to>
                                        <p:strVal val="visible"/>
                                      </p:to>
                                    </p:set>
                                    <p:animEffect transition="in" filter="fade">
                                      <p:cBhvr>
                                        <p:cTn id="157" dur="550"/>
                                        <p:tgtEl>
                                          <p:spTgt spid="21"/>
                                        </p:tgtEl>
                                      </p:cBhvr>
                                    </p:animEffect>
                                  </p:childTnLst>
                                </p:cTn>
                              </p:par>
                            </p:childTnLst>
                          </p:cTn>
                        </p:par>
                        <p:par>
                          <p:cTn id="158" fill="hold">
                            <p:stCondLst>
                              <p:cond delay="0"/>
                            </p:stCondLst>
                            <p:childTnLst>
                              <p:par>
                                <p:cTn id="159" presetID="10" presetClass="entr" presetSubtype="0" fill="hold" grpId="0" nodeType="withEffect">
                                  <p:stCondLst>
                                    <p:cond delay="580"/>
                                  </p:stCondLst>
                                  <p:childTnLst>
                                    <p:set>
                                      <p:cBhvr>
                                        <p:cTn id="160" dur="1" fill="hold">
                                          <p:stCondLst>
                                            <p:cond delay="0"/>
                                          </p:stCondLst>
                                          <p:attrNameLst>
                                            <p:attrName>style.visibility</p:attrName>
                                          </p:attrNameLst>
                                        </p:cTn>
                                        <p:tgtEl>
                                          <p:spTgt spid="22"/>
                                        </p:tgtEl>
                                      </p:cBhvr>
                                      <p:to>
                                        <p:strVal val="visible"/>
                                      </p:to>
                                    </p:set>
                                    <p:animEffect transition="in" filter="fade">
                                      <p:cBhvr>
                                        <p:cTn id="161" dur="550"/>
                                        <p:tgtEl>
                                          <p:spTgt spid="22"/>
                                        </p:tgtEl>
                                      </p:cBhvr>
                                    </p:animEffect>
                                  </p:childTnLst>
                                </p:cTn>
                              </p:par>
                            </p:childTnLst>
                          </p:cTn>
                        </p:par>
                        <p:par>
                          <p:cTn id="162" fill="hold">
                            <p:stCondLst>
                              <p:cond delay="0"/>
                            </p:stCondLst>
                            <p:childTnLst>
                              <p:par>
                                <p:cTn id="163" presetID="10" presetClass="entr" presetSubtype="0" fill="hold" grpId="0" nodeType="withEffect">
                                  <p:stCondLst>
                                    <p:cond delay="580"/>
                                  </p:stCondLst>
                                  <p:childTnLst>
                                    <p:set>
                                      <p:cBhvr>
                                        <p:cTn id="164" dur="1" fill="hold">
                                          <p:stCondLst>
                                            <p:cond delay="0"/>
                                          </p:stCondLst>
                                          <p:attrNameLst>
                                            <p:attrName>style.visibility</p:attrName>
                                          </p:attrNameLst>
                                        </p:cTn>
                                        <p:tgtEl>
                                          <p:spTgt spid="23"/>
                                        </p:tgtEl>
                                      </p:cBhvr>
                                      <p:to>
                                        <p:strVal val="visible"/>
                                      </p:to>
                                    </p:set>
                                    <p:animEffect transition="in" filter="fade">
                                      <p:cBhvr>
                                        <p:cTn id="165" dur="550"/>
                                        <p:tgtEl>
                                          <p:spTgt spid="23"/>
                                        </p:tgtEl>
                                      </p:cBhvr>
                                    </p:animEffect>
                                  </p:childTnLst>
                                </p:cTn>
                              </p:par>
                            </p:childTnLst>
                          </p:cTn>
                        </p:par>
                        <p:par>
                          <p:cTn id="166" fill="hold">
                            <p:stCondLst>
                              <p:cond delay="0"/>
                            </p:stCondLst>
                            <p:childTnLst>
                              <p:par>
                                <p:cTn id="167" presetID="10" presetClass="entr" presetSubtype="0" fill="hold" grpId="0" nodeType="withEffect">
                                  <p:stCondLst>
                                    <p:cond delay="580"/>
                                  </p:stCondLst>
                                  <p:childTnLst>
                                    <p:set>
                                      <p:cBhvr>
                                        <p:cTn id="168" dur="1" fill="hold">
                                          <p:stCondLst>
                                            <p:cond delay="0"/>
                                          </p:stCondLst>
                                          <p:attrNameLst>
                                            <p:attrName>style.visibility</p:attrName>
                                          </p:attrNameLst>
                                        </p:cTn>
                                        <p:tgtEl>
                                          <p:spTgt spid="24"/>
                                        </p:tgtEl>
                                      </p:cBhvr>
                                      <p:to>
                                        <p:strVal val="visible"/>
                                      </p:to>
                                    </p:set>
                                    <p:animEffect transition="in" filter="fade">
                                      <p:cBhvr>
                                        <p:cTn id="169" dur="550"/>
                                        <p:tgtEl>
                                          <p:spTgt spid="24"/>
                                        </p:tgtEl>
                                      </p:cBhvr>
                                    </p:animEffect>
                                  </p:childTnLst>
                                </p:cTn>
                              </p:par>
                            </p:childTnLst>
                          </p:cTn>
                        </p:par>
                        <p:par>
                          <p:cTn id="170" fill="hold">
                            <p:stCondLst>
                              <p:cond delay="0"/>
                            </p:stCondLst>
                            <p:childTnLst>
                              <p:par>
                                <p:cTn id="171" presetID="10" presetClass="entr" presetSubtype="0" fill="hold" grpId="0" nodeType="withEffect">
                                  <p:stCondLst>
                                    <p:cond delay="580"/>
                                  </p:stCondLst>
                                  <p:childTnLst>
                                    <p:set>
                                      <p:cBhvr>
                                        <p:cTn id="172" dur="1" fill="hold">
                                          <p:stCondLst>
                                            <p:cond delay="0"/>
                                          </p:stCondLst>
                                          <p:attrNameLst>
                                            <p:attrName>style.visibility</p:attrName>
                                          </p:attrNameLst>
                                        </p:cTn>
                                        <p:tgtEl>
                                          <p:spTgt spid="25"/>
                                        </p:tgtEl>
                                      </p:cBhvr>
                                      <p:to>
                                        <p:strVal val="visible"/>
                                      </p:to>
                                    </p:set>
                                    <p:animEffect transition="in" filter="fade">
                                      <p:cBhvr>
                                        <p:cTn id="173" dur="550"/>
                                        <p:tgtEl>
                                          <p:spTgt spid="25"/>
                                        </p:tgtEl>
                                      </p:cBhvr>
                                    </p:animEffect>
                                  </p:childTnLst>
                                </p:cTn>
                              </p:par>
                            </p:childTnLst>
                          </p:cTn>
                        </p:par>
                        <p:par>
                          <p:cTn id="174" fill="hold">
                            <p:stCondLst>
                              <p:cond delay="0"/>
                            </p:stCondLst>
                            <p:childTnLst>
                              <p:par>
                                <p:cTn id="175" presetID="10" presetClass="entr" presetSubtype="0" fill="hold" grpId="0" nodeType="withEffect">
                                  <p:stCondLst>
                                    <p:cond delay="580"/>
                                  </p:stCondLst>
                                  <p:childTnLst>
                                    <p:set>
                                      <p:cBhvr>
                                        <p:cTn id="176" dur="1" fill="hold">
                                          <p:stCondLst>
                                            <p:cond delay="0"/>
                                          </p:stCondLst>
                                          <p:attrNameLst>
                                            <p:attrName>style.visibility</p:attrName>
                                          </p:attrNameLst>
                                        </p:cTn>
                                        <p:tgtEl>
                                          <p:spTgt spid="26"/>
                                        </p:tgtEl>
                                      </p:cBhvr>
                                      <p:to>
                                        <p:strVal val="visible"/>
                                      </p:to>
                                    </p:set>
                                    <p:animEffect transition="in" filter="fade">
                                      <p:cBhvr>
                                        <p:cTn id="177" dur="550"/>
                                        <p:tgtEl>
                                          <p:spTgt spid="26"/>
                                        </p:tgtEl>
                                      </p:cBhvr>
                                    </p:animEffect>
                                  </p:childTnLst>
                                </p:cTn>
                              </p:par>
                            </p:childTnLst>
                          </p:cTn>
                        </p:par>
                        <p:par>
                          <p:cTn id="178" fill="hold">
                            <p:stCondLst>
                              <p:cond delay="0"/>
                            </p:stCondLst>
                            <p:childTnLst>
                              <p:par>
                                <p:cTn id="179" presetID="10" presetClass="entr" presetSubtype="0" fill="hold" grpId="0" nodeType="withEffect">
                                  <p:stCondLst>
                                    <p:cond delay="580"/>
                                  </p:stCondLst>
                                  <p:childTnLst>
                                    <p:set>
                                      <p:cBhvr>
                                        <p:cTn id="180" dur="1" fill="hold">
                                          <p:stCondLst>
                                            <p:cond delay="0"/>
                                          </p:stCondLst>
                                          <p:attrNameLst>
                                            <p:attrName>style.visibility</p:attrName>
                                          </p:attrNameLst>
                                        </p:cTn>
                                        <p:tgtEl>
                                          <p:spTgt spid="27"/>
                                        </p:tgtEl>
                                      </p:cBhvr>
                                      <p:to>
                                        <p:strVal val="visible"/>
                                      </p:to>
                                    </p:set>
                                    <p:animEffect transition="in" filter="fade">
                                      <p:cBhvr>
                                        <p:cTn id="181" dur="550"/>
                                        <p:tgtEl>
                                          <p:spTgt spid="27"/>
                                        </p:tgtEl>
                                      </p:cBhvr>
                                    </p:animEffect>
                                  </p:childTnLst>
                                </p:cTn>
                              </p:par>
                            </p:childTnLst>
                          </p:cTn>
                        </p:par>
                        <p:par>
                          <p:cTn id="182" fill="hold">
                            <p:stCondLst>
                              <p:cond delay="0"/>
                            </p:stCondLst>
                            <p:childTnLst>
                              <p:par>
                                <p:cTn id="183" presetID="10" presetClass="entr" presetSubtype="0" fill="hold" grpId="0" nodeType="withEffect">
                                  <p:stCondLst>
                                    <p:cond delay="580"/>
                                  </p:stCondLst>
                                  <p:childTnLst>
                                    <p:set>
                                      <p:cBhvr>
                                        <p:cTn id="184" dur="1" fill="hold">
                                          <p:stCondLst>
                                            <p:cond delay="0"/>
                                          </p:stCondLst>
                                          <p:attrNameLst>
                                            <p:attrName>style.visibility</p:attrName>
                                          </p:attrNameLst>
                                        </p:cTn>
                                        <p:tgtEl>
                                          <p:spTgt spid="28"/>
                                        </p:tgtEl>
                                      </p:cBhvr>
                                      <p:to>
                                        <p:strVal val="visible"/>
                                      </p:to>
                                    </p:set>
                                    <p:animEffect transition="in" filter="fade">
                                      <p:cBhvr>
                                        <p:cTn id="185" dur="550"/>
                                        <p:tgtEl>
                                          <p:spTgt spid="28"/>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21207" y="429768"/>
            <a:ext cx="475488" cy="68580"/>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4712" y="315468"/>
            <a:ext cx="8686800" cy="292608"/>
          </a:xfrm>
          <a:prstGeom prst="rect">
            <a:avLst/>
          </a:prstGeom>
          <a:noFill/>
        </p:spPr>
        <p:txBody>
          <a:bodyPr wrap="square" anchor="t" lIns="0" rIns="0" tIns="0" bIns="0">
            <a:spAutoFit/>
          </a:bodyPr>
          <a:lstStyle/>
          <a:p>
            <a:pPr algn="l">
              <a:spcBef>
                <a:spcPts val="0"/>
              </a:spcBef>
              <a:spcAft>
                <a:spcPts val="0"/>
              </a:spcAft>
            </a:pPr>
            <a:r>
              <a:rPr sz="1150" b="1" i="0" spc="260">
                <a:solidFill>
                  <a:srgbClr val="22D3EE"/>
                </a:solidFill>
                <a:latin typeface="Segoe UI"/>
              </a:rPr>
              <a:t>OUTCOMES · TESTING · ROADMAP</a:t>
            </a:r>
          </a:p>
        </p:txBody>
      </p:sp>
      <p:sp>
        <p:nvSpPr>
          <p:cNvPr id="5" name="TextBox 4"/>
          <p:cNvSpPr txBox="1"/>
          <p:nvPr/>
        </p:nvSpPr>
        <p:spPr>
          <a:xfrm>
            <a:off x="521207" y="603504"/>
            <a:ext cx="11149279" cy="685800"/>
          </a:xfrm>
          <a:prstGeom prst="rect">
            <a:avLst/>
          </a:prstGeom>
          <a:noFill/>
        </p:spPr>
        <p:txBody>
          <a:bodyPr wrap="square" anchor="t" lIns="0" rIns="0" tIns="0" bIns="0">
            <a:spAutoFit/>
          </a:bodyPr>
          <a:lstStyle/>
          <a:p>
            <a:pPr algn="l">
              <a:lnSpc>
                <a:spcPct val="102000"/>
              </a:lnSpc>
              <a:spcBef>
                <a:spcPts val="0"/>
              </a:spcBef>
              <a:spcAft>
                <a:spcPts val="0"/>
              </a:spcAft>
            </a:pPr>
            <a:r>
              <a:rPr sz="2700" b="1" i="0">
                <a:solidFill>
                  <a:srgbClr val="FFFFFF"/>
                </a:solidFill>
                <a:latin typeface="Segoe UI"/>
              </a:rPr>
              <a:t>Results that </a:t>
            </a:r>
            <a:r>
              <a:rPr sz="2700" b="1" i="0">
                <a:gradFill rotWithShape="1">
                  <a:gsLst>
                    <a:gs pos="0">
                      <a:srgbClr val="6366F1"/>
                    </a:gs>
                    <a:gs pos="55000">
                      <a:srgbClr val="8B5CF6"/>
                    </a:gs>
                    <a:gs pos="100000">
                      <a:srgbClr val="06B6D4"/>
                    </a:gs>
                  </a:gsLst>
                  <a:lin ang="0" scaled="1"/>
                </a:gradFill>
                <a:latin typeface="Segoe UI"/>
              </a:rPr>
              <a:t>speak for themselves</a:t>
            </a:r>
          </a:p>
        </p:txBody>
      </p:sp>
      <p:sp>
        <p:nvSpPr>
          <p:cNvPr id="6" name="Rounded Rectangle 5"/>
          <p:cNvSpPr/>
          <p:nvPr/>
        </p:nvSpPr>
        <p:spPr>
          <a:xfrm>
            <a:off x="521207" y="1481328"/>
            <a:ext cx="2142073" cy="107899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1664208"/>
            <a:ext cx="2142073" cy="502920"/>
          </a:xfrm>
          <a:prstGeom prst="rect">
            <a:avLst/>
          </a:prstGeom>
          <a:noFill/>
        </p:spPr>
        <p:txBody>
          <a:bodyPr wrap="square" anchor="t" lIns="0" rIns="0" tIns="0" bIns="0">
            <a:spAutoFit/>
          </a:bodyPr>
          <a:lstStyle/>
          <a:p>
            <a:pPr algn="ctr">
              <a:spcBef>
                <a:spcPts val="0"/>
              </a:spcBef>
              <a:spcAft>
                <a:spcPts val="0"/>
              </a:spcAft>
            </a:pPr>
            <a:r>
              <a:rPr sz="2300" b="1" i="0">
                <a:gradFill rotWithShape="1">
                  <a:gsLst>
                    <a:gs pos="0">
                      <a:srgbClr val="6366F1"/>
                    </a:gs>
                    <a:gs pos="55000">
                      <a:srgbClr val="8B5CF6"/>
                    </a:gs>
                    <a:gs pos="100000">
                      <a:srgbClr val="06B6D4"/>
                    </a:gs>
                  </a:gsLst>
                  <a:lin ang="0" scaled="1"/>
                </a:gradFill>
                <a:latin typeface="Segoe UI"/>
              </a:rPr>
              <a:t>13,000+</a:t>
            </a:r>
          </a:p>
        </p:txBody>
      </p:sp>
      <p:sp>
        <p:nvSpPr>
          <p:cNvPr id="8" name="TextBox 7"/>
          <p:cNvSpPr txBox="1"/>
          <p:nvPr/>
        </p:nvSpPr>
        <p:spPr>
          <a:xfrm>
            <a:off x="521207" y="2176272"/>
            <a:ext cx="2142073" cy="274320"/>
          </a:xfrm>
          <a:prstGeom prst="rect">
            <a:avLst/>
          </a:prstGeom>
          <a:noFill/>
        </p:spPr>
        <p:txBody>
          <a:bodyPr wrap="square" anchor="t" lIns="0" rIns="0" tIns="0" bIns="0">
            <a:spAutoFit/>
          </a:bodyPr>
          <a:lstStyle/>
          <a:p>
            <a:pPr algn="ctr">
              <a:spcBef>
                <a:spcPts val="0"/>
              </a:spcBef>
              <a:spcAft>
                <a:spcPts val="0"/>
              </a:spcAft>
            </a:pPr>
            <a:r>
              <a:rPr sz="1000" b="0" i="0">
                <a:solidFill>
                  <a:srgbClr val="9699CC"/>
                </a:solidFill>
                <a:latin typeface="Segoe UI"/>
              </a:rPr>
              <a:t>lines of code</a:t>
            </a:r>
          </a:p>
        </p:txBody>
      </p:sp>
      <p:sp>
        <p:nvSpPr>
          <p:cNvPr id="9" name="Rounded Rectangle 8"/>
          <p:cNvSpPr/>
          <p:nvPr/>
        </p:nvSpPr>
        <p:spPr>
          <a:xfrm>
            <a:off x="2773009" y="1481328"/>
            <a:ext cx="2142073" cy="107899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73009" y="1664208"/>
            <a:ext cx="2142073" cy="502920"/>
          </a:xfrm>
          <a:prstGeom prst="rect">
            <a:avLst/>
          </a:prstGeom>
          <a:noFill/>
        </p:spPr>
        <p:txBody>
          <a:bodyPr wrap="square" anchor="t" lIns="0" rIns="0" tIns="0" bIns="0">
            <a:spAutoFit/>
          </a:bodyPr>
          <a:lstStyle/>
          <a:p>
            <a:pPr algn="ctr">
              <a:spcBef>
                <a:spcPts val="0"/>
              </a:spcBef>
              <a:spcAft>
                <a:spcPts val="0"/>
              </a:spcAft>
            </a:pPr>
            <a:r>
              <a:rPr sz="2300" b="1" i="0">
                <a:gradFill rotWithShape="1">
                  <a:gsLst>
                    <a:gs pos="0">
                      <a:srgbClr val="6366F1"/>
                    </a:gs>
                    <a:gs pos="55000">
                      <a:srgbClr val="8B5CF6"/>
                    </a:gs>
                    <a:gs pos="100000">
                      <a:srgbClr val="06B6D4"/>
                    </a:gs>
                  </a:gsLst>
                  <a:lin ang="0" scaled="1"/>
                </a:gradFill>
                <a:latin typeface="Segoe UI"/>
              </a:rPr>
              <a:t>110+</a:t>
            </a:r>
          </a:p>
        </p:txBody>
      </p:sp>
      <p:sp>
        <p:nvSpPr>
          <p:cNvPr id="11" name="TextBox 10"/>
          <p:cNvSpPr txBox="1"/>
          <p:nvPr/>
        </p:nvSpPr>
        <p:spPr>
          <a:xfrm>
            <a:off x="2773009" y="2176272"/>
            <a:ext cx="2142073" cy="274320"/>
          </a:xfrm>
          <a:prstGeom prst="rect">
            <a:avLst/>
          </a:prstGeom>
          <a:noFill/>
        </p:spPr>
        <p:txBody>
          <a:bodyPr wrap="square" anchor="t" lIns="0" rIns="0" tIns="0" bIns="0">
            <a:spAutoFit/>
          </a:bodyPr>
          <a:lstStyle/>
          <a:p>
            <a:pPr algn="ctr">
              <a:spcBef>
                <a:spcPts val="0"/>
              </a:spcBef>
              <a:spcAft>
                <a:spcPts val="0"/>
              </a:spcAft>
            </a:pPr>
            <a:r>
              <a:rPr sz="1000" b="0" i="0">
                <a:solidFill>
                  <a:srgbClr val="9699CC"/>
                </a:solidFill>
                <a:latin typeface="Segoe UI"/>
              </a:rPr>
              <a:t>routes · 7 blueprints</a:t>
            </a:r>
          </a:p>
        </p:txBody>
      </p:sp>
      <p:sp>
        <p:nvSpPr>
          <p:cNvPr id="12" name="Rounded Rectangle 11"/>
          <p:cNvSpPr/>
          <p:nvPr/>
        </p:nvSpPr>
        <p:spPr>
          <a:xfrm>
            <a:off x="5024810" y="1481328"/>
            <a:ext cx="2142073" cy="107899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4810" y="1664208"/>
            <a:ext cx="2142073" cy="502920"/>
          </a:xfrm>
          <a:prstGeom prst="rect">
            <a:avLst/>
          </a:prstGeom>
          <a:noFill/>
        </p:spPr>
        <p:txBody>
          <a:bodyPr wrap="square" anchor="t" lIns="0" rIns="0" tIns="0" bIns="0">
            <a:spAutoFit/>
          </a:bodyPr>
          <a:lstStyle/>
          <a:p>
            <a:pPr algn="ctr">
              <a:spcBef>
                <a:spcPts val="0"/>
              </a:spcBef>
              <a:spcAft>
                <a:spcPts val="0"/>
              </a:spcAft>
            </a:pPr>
            <a:r>
              <a:rPr sz="2300" b="1" i="0">
                <a:gradFill rotWithShape="1">
                  <a:gsLst>
                    <a:gs pos="0">
                      <a:srgbClr val="6366F1"/>
                    </a:gs>
                    <a:gs pos="55000">
                      <a:srgbClr val="8B5CF6"/>
                    </a:gs>
                    <a:gs pos="100000">
                      <a:srgbClr val="06B6D4"/>
                    </a:gs>
                  </a:gsLst>
                  <a:lin ang="0" scaled="1"/>
                </a:gradFill>
                <a:latin typeface="Segoe UI"/>
              </a:rPr>
              <a:t>22</a:t>
            </a:r>
          </a:p>
        </p:txBody>
      </p:sp>
      <p:sp>
        <p:nvSpPr>
          <p:cNvPr id="14" name="TextBox 13"/>
          <p:cNvSpPr txBox="1"/>
          <p:nvPr/>
        </p:nvSpPr>
        <p:spPr>
          <a:xfrm>
            <a:off x="5024810" y="2176272"/>
            <a:ext cx="2142073" cy="274320"/>
          </a:xfrm>
          <a:prstGeom prst="rect">
            <a:avLst/>
          </a:prstGeom>
          <a:noFill/>
        </p:spPr>
        <p:txBody>
          <a:bodyPr wrap="square" anchor="t" lIns="0" rIns="0" tIns="0" bIns="0">
            <a:spAutoFit/>
          </a:bodyPr>
          <a:lstStyle/>
          <a:p>
            <a:pPr algn="ctr">
              <a:spcBef>
                <a:spcPts val="0"/>
              </a:spcBef>
              <a:spcAft>
                <a:spcPts val="0"/>
              </a:spcAft>
            </a:pPr>
            <a:r>
              <a:rPr sz="1000" b="0" i="0">
                <a:solidFill>
                  <a:srgbClr val="9699CC"/>
                </a:solidFill>
                <a:latin typeface="Segoe UI"/>
              </a:rPr>
              <a:t>database tables</a:t>
            </a:r>
          </a:p>
        </p:txBody>
      </p:sp>
      <p:sp>
        <p:nvSpPr>
          <p:cNvPr id="15" name="Rounded Rectangle 14"/>
          <p:cNvSpPr/>
          <p:nvPr/>
        </p:nvSpPr>
        <p:spPr>
          <a:xfrm>
            <a:off x="7276612" y="1481328"/>
            <a:ext cx="2142073" cy="107899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76612" y="1664208"/>
            <a:ext cx="2142073" cy="502920"/>
          </a:xfrm>
          <a:prstGeom prst="rect">
            <a:avLst/>
          </a:prstGeom>
          <a:noFill/>
        </p:spPr>
        <p:txBody>
          <a:bodyPr wrap="square" anchor="t" lIns="0" rIns="0" tIns="0" bIns="0">
            <a:spAutoFit/>
          </a:bodyPr>
          <a:lstStyle/>
          <a:p>
            <a:pPr algn="ctr">
              <a:spcBef>
                <a:spcPts val="0"/>
              </a:spcBef>
              <a:spcAft>
                <a:spcPts val="0"/>
              </a:spcAft>
            </a:pPr>
            <a:r>
              <a:rPr sz="2300" b="1" i="0">
                <a:gradFill rotWithShape="1">
                  <a:gsLst>
                    <a:gs pos="0">
                      <a:srgbClr val="6366F1"/>
                    </a:gs>
                    <a:gs pos="55000">
                      <a:srgbClr val="8B5CF6"/>
                    </a:gs>
                    <a:gs pos="100000">
                      <a:srgbClr val="06B6D4"/>
                    </a:gs>
                  </a:gsLst>
                  <a:lin ang="0" scaled="1"/>
                </a:gradFill>
                <a:latin typeface="Segoe UI"/>
              </a:rPr>
              <a:t>50+</a:t>
            </a:r>
          </a:p>
        </p:txBody>
      </p:sp>
      <p:sp>
        <p:nvSpPr>
          <p:cNvPr id="17" name="TextBox 16"/>
          <p:cNvSpPr txBox="1"/>
          <p:nvPr/>
        </p:nvSpPr>
        <p:spPr>
          <a:xfrm>
            <a:off x="7276612" y="2176272"/>
            <a:ext cx="2142073" cy="274320"/>
          </a:xfrm>
          <a:prstGeom prst="rect">
            <a:avLst/>
          </a:prstGeom>
          <a:noFill/>
        </p:spPr>
        <p:txBody>
          <a:bodyPr wrap="square" anchor="t" lIns="0" rIns="0" tIns="0" bIns="0">
            <a:spAutoFit/>
          </a:bodyPr>
          <a:lstStyle/>
          <a:p>
            <a:pPr algn="ctr">
              <a:spcBef>
                <a:spcPts val="0"/>
              </a:spcBef>
              <a:spcAft>
                <a:spcPts val="0"/>
              </a:spcAft>
            </a:pPr>
            <a:r>
              <a:rPr sz="1000" b="0" i="0">
                <a:solidFill>
                  <a:srgbClr val="9699CC"/>
                </a:solidFill>
                <a:latin typeface="Segoe UI"/>
              </a:rPr>
              <a:t>automated tests</a:t>
            </a:r>
          </a:p>
        </p:txBody>
      </p:sp>
      <p:sp>
        <p:nvSpPr>
          <p:cNvPr id="18" name="Rounded Rectangle 17"/>
          <p:cNvSpPr/>
          <p:nvPr/>
        </p:nvSpPr>
        <p:spPr>
          <a:xfrm>
            <a:off x="9528413" y="1481328"/>
            <a:ext cx="2142073" cy="1078992"/>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28413" y="1664208"/>
            <a:ext cx="2142073" cy="502920"/>
          </a:xfrm>
          <a:prstGeom prst="rect">
            <a:avLst/>
          </a:prstGeom>
          <a:noFill/>
        </p:spPr>
        <p:txBody>
          <a:bodyPr wrap="square" anchor="t" lIns="0" rIns="0" tIns="0" bIns="0">
            <a:spAutoFit/>
          </a:bodyPr>
          <a:lstStyle/>
          <a:p>
            <a:pPr algn="ctr">
              <a:spcBef>
                <a:spcPts val="0"/>
              </a:spcBef>
              <a:spcAft>
                <a:spcPts val="0"/>
              </a:spcAft>
            </a:pPr>
            <a:r>
              <a:rPr sz="2300" b="1" i="0">
                <a:gradFill rotWithShape="1">
                  <a:gsLst>
                    <a:gs pos="0">
                      <a:srgbClr val="6366F1"/>
                    </a:gs>
                    <a:gs pos="55000">
                      <a:srgbClr val="8B5CF6"/>
                    </a:gs>
                    <a:gs pos="100000">
                      <a:srgbClr val="06B6D4"/>
                    </a:gs>
                  </a:gsLst>
                  <a:lin ang="0" scaled="1"/>
                </a:gradFill>
                <a:latin typeface="Segoe UI"/>
              </a:rPr>
              <a:t>16 → 0</a:t>
            </a:r>
          </a:p>
        </p:txBody>
      </p:sp>
      <p:sp>
        <p:nvSpPr>
          <p:cNvPr id="20" name="TextBox 19"/>
          <p:cNvSpPr txBox="1"/>
          <p:nvPr/>
        </p:nvSpPr>
        <p:spPr>
          <a:xfrm>
            <a:off x="9528413" y="2176272"/>
            <a:ext cx="2142073" cy="274320"/>
          </a:xfrm>
          <a:prstGeom prst="rect">
            <a:avLst/>
          </a:prstGeom>
          <a:noFill/>
        </p:spPr>
        <p:txBody>
          <a:bodyPr wrap="square" anchor="t" lIns="0" rIns="0" tIns="0" bIns="0">
            <a:spAutoFit/>
          </a:bodyPr>
          <a:lstStyle/>
          <a:p>
            <a:pPr algn="ctr">
              <a:spcBef>
                <a:spcPts val="0"/>
              </a:spcBef>
              <a:spcAft>
                <a:spcPts val="0"/>
              </a:spcAft>
            </a:pPr>
            <a:r>
              <a:rPr sz="1000" b="0" i="0">
                <a:solidFill>
                  <a:srgbClr val="9699CC"/>
                </a:solidFill>
                <a:latin typeface="Segoe UI"/>
              </a:rPr>
              <a:t>defects logged → open</a:t>
            </a:r>
          </a:p>
        </p:txBody>
      </p:sp>
      <p:sp>
        <p:nvSpPr>
          <p:cNvPr id="21" name="Rounded Rectangle 20"/>
          <p:cNvSpPr/>
          <p:nvPr/>
        </p:nvSpPr>
        <p:spPr>
          <a:xfrm>
            <a:off x="521207" y="2852928"/>
            <a:ext cx="5449824" cy="2212848"/>
          </a:xfrm>
          <a:prstGeom prst="roundRect">
            <a:avLst>
              <a:gd name="adj" fmla="val 6000"/>
            </a:avLst>
          </a:prstGeom>
          <a:solidFill>
            <a:srgbClr val="14143A"/>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58952" y="3054096"/>
            <a:ext cx="365760" cy="59436"/>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2944368"/>
            <a:ext cx="4480560" cy="292608"/>
          </a:xfrm>
          <a:prstGeom prst="rect">
            <a:avLst/>
          </a:prstGeom>
          <a:noFill/>
        </p:spPr>
        <p:txBody>
          <a:bodyPr wrap="square" anchor="t" lIns="0" rIns="0" tIns="0" bIns="0">
            <a:spAutoFit/>
          </a:bodyPr>
          <a:lstStyle/>
          <a:p>
            <a:pPr algn="l">
              <a:spcBef>
                <a:spcPts val="0"/>
              </a:spcBef>
              <a:spcAft>
                <a:spcPts val="0"/>
              </a:spcAft>
            </a:pPr>
            <a:r>
              <a:rPr sz="1250" b="1" i="0" spc="140">
                <a:solidFill>
                  <a:srgbClr val="FFFFFF"/>
                </a:solidFill>
                <a:latin typeface="Segoe UI"/>
              </a:rPr>
              <a:t>QUALITY, VERIFIED</a:t>
            </a:r>
          </a:p>
        </p:txBody>
      </p:sp>
      <p:sp>
        <p:nvSpPr>
          <p:cNvPr id="24" name="TextBox 23"/>
          <p:cNvSpPr txBox="1"/>
          <p:nvPr/>
        </p:nvSpPr>
        <p:spPr>
          <a:xfrm>
            <a:off x="758952" y="3364992"/>
            <a:ext cx="4983480" cy="1600200"/>
          </a:xfrm>
          <a:prstGeom prst="rect">
            <a:avLst/>
          </a:prstGeom>
          <a:noFill/>
        </p:spPr>
        <p:txBody>
          <a:bodyPr wrap="square" anchor="t" lIns="0" rIns="0" tIns="0" bIns="0">
            <a:spAutoFit/>
          </a:bodyPr>
          <a:lstStyle/>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pytest suite </a:t>
            </a:r>
            <a:r>
              <a:rPr sz="1180" b="0" i="0">
                <a:solidFill>
                  <a:srgbClr val="CDD1F2"/>
                </a:solidFill>
                <a:latin typeface="Segoe UI"/>
              </a:rPr>
              <a:t>— auth, quiz flow, grading security, TQM tools</a:t>
            </a:r>
          </a:p>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Render checks </a:t>
            </a:r>
            <a:r>
              <a:rPr sz="1180" b="0" i="0">
                <a:solidFill>
                  <a:srgbClr val="CDD1F2"/>
                </a:solidFill>
                <a:latin typeface="Segoe UI"/>
              </a:rPr>
              <a:t>catch template errors before users do</a:t>
            </a:r>
          </a:p>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Every real defect </a:t>
            </a:r>
            <a:r>
              <a:rPr sz="1180" b="0" i="0">
                <a:solidFill>
                  <a:srgbClr val="CDD1F2"/>
                </a:solidFill>
                <a:latin typeface="Segoe UI"/>
              </a:rPr>
              <a:t>logged, root-caused &amp; fixed (100% closure)</a:t>
            </a:r>
          </a:p>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Security by design </a:t>
            </a:r>
            <a:r>
              <a:rPr sz="1180" b="0" i="0">
                <a:solidFill>
                  <a:srgbClr val="CDD1F2"/>
                </a:solidFill>
                <a:latin typeface="Segoe UI"/>
              </a:rPr>
              <a:t>— scrypt hashing, CSRF, rate limiting</a:t>
            </a:r>
          </a:p>
        </p:txBody>
      </p:sp>
      <p:sp>
        <p:nvSpPr>
          <p:cNvPr id="25" name="Rounded Rectangle 24"/>
          <p:cNvSpPr/>
          <p:nvPr/>
        </p:nvSpPr>
        <p:spPr>
          <a:xfrm>
            <a:off x="6217920" y="2852928"/>
            <a:ext cx="5449824" cy="2212848"/>
          </a:xfrm>
          <a:prstGeom prst="roundRect">
            <a:avLst>
              <a:gd name="adj" fmla="val 6000"/>
            </a:avLst>
          </a:prstGeom>
          <a:solidFill>
            <a:srgbClr val="1B1B49"/>
          </a:solidFill>
          <a:ln w="12700">
            <a:solidFill>
              <a:srgbClr val="2D2D68"/>
            </a:solidFill>
          </a:ln>
          <a:effectLst>
            <a:outerShdw blurRad="82296"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55664" y="3054096"/>
            <a:ext cx="365760" cy="59436"/>
          </a:xfrm>
          <a:prstGeom prst="roundRect">
            <a:avLst>
              <a:gd name="adj" fmla="val 50000"/>
            </a:avLst>
          </a:prstGeom>
          <a:gradFill rotWithShape="1">
            <a:gsLst>
              <a:gs pos="0">
                <a:srgbClr val="6366F1"/>
              </a:gs>
              <a:gs pos="55000">
                <a:srgbClr val="8B5CF6"/>
              </a:gs>
              <a:gs pos="100000">
                <a:srgbClr val="06B6D4"/>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31152" y="2944368"/>
            <a:ext cx="4480560" cy="292608"/>
          </a:xfrm>
          <a:prstGeom prst="rect">
            <a:avLst/>
          </a:prstGeom>
          <a:noFill/>
        </p:spPr>
        <p:txBody>
          <a:bodyPr wrap="square" anchor="t" lIns="0" rIns="0" tIns="0" bIns="0">
            <a:spAutoFit/>
          </a:bodyPr>
          <a:lstStyle/>
          <a:p>
            <a:pPr algn="l">
              <a:spcBef>
                <a:spcPts val="0"/>
              </a:spcBef>
              <a:spcAft>
                <a:spcPts val="0"/>
              </a:spcAft>
            </a:pPr>
            <a:r>
              <a:rPr sz="1250" b="1" i="0" spc="140">
                <a:solidFill>
                  <a:srgbClr val="FFFFFF"/>
                </a:solidFill>
                <a:latin typeface="Segoe UI"/>
              </a:rPr>
              <a:t>THE ROAD AHEAD</a:t>
            </a:r>
          </a:p>
        </p:txBody>
      </p:sp>
      <p:sp>
        <p:nvSpPr>
          <p:cNvPr id="28" name="TextBox 27"/>
          <p:cNvSpPr txBox="1"/>
          <p:nvPr/>
        </p:nvSpPr>
        <p:spPr>
          <a:xfrm>
            <a:off x="6455664" y="3364992"/>
            <a:ext cx="4983480" cy="1600200"/>
          </a:xfrm>
          <a:prstGeom prst="rect">
            <a:avLst/>
          </a:prstGeom>
          <a:noFill/>
        </p:spPr>
        <p:txBody>
          <a:bodyPr wrap="square" anchor="t" lIns="0" rIns="0" tIns="0" bIns="0">
            <a:spAutoFit/>
          </a:bodyPr>
          <a:lstStyle/>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Richer assessments </a:t>
            </a:r>
            <a:r>
              <a:rPr sz="1180" b="0" i="0">
                <a:solidFill>
                  <a:srgbClr val="CDD1F2"/>
                </a:solidFill>
                <a:latin typeface="Segoe UI"/>
              </a:rPr>
              <a:t>— more question types &amp; formats</a:t>
            </a:r>
          </a:p>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Deeper analytics </a:t>
            </a:r>
            <a:r>
              <a:rPr sz="1180" b="0" i="0">
                <a:solidFill>
                  <a:srgbClr val="CDD1F2"/>
                </a:solidFill>
                <a:latin typeface="Segoe UI"/>
              </a:rPr>
              <a:t>— more detailed quality reporting</a:t>
            </a:r>
          </a:p>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CI / CD pipeline </a:t>
            </a:r>
            <a:r>
              <a:rPr sz="1180" b="0" i="0">
                <a:solidFill>
                  <a:srgbClr val="CDD1F2"/>
                </a:solidFill>
                <a:latin typeface="Segoe UI"/>
              </a:rPr>
              <a:t>with broader automated test coverage</a:t>
            </a:r>
          </a:p>
          <a:p>
            <a:pPr algn="l" marL="173736" indent="-173736">
              <a:lnSpc>
                <a:spcPct val="112000"/>
              </a:lnSpc>
              <a:spcBef>
                <a:spcPts val="0"/>
              </a:spcBef>
              <a:spcAft>
                <a:spcPts val="800"/>
              </a:spcAft>
            </a:pPr>
            <a:r>
              <a:rPr sz="731" b="1" i="0">
                <a:solidFill>
                  <a:srgbClr val="22D3EE"/>
                </a:solidFill>
                <a:latin typeface="Segoe UI"/>
              </a:rPr>
              <a:t>●  </a:t>
            </a:r>
            <a:r>
              <a:rPr sz="1180" b="1" i="0">
                <a:solidFill>
                  <a:srgbClr val="FFFFFF"/>
                </a:solidFill>
                <a:latin typeface="Segoe UI"/>
              </a:rPr>
              <a:t>Scales further </a:t>
            </a:r>
            <a:r>
              <a:rPr sz="1180" b="0" i="0">
                <a:solidFill>
                  <a:srgbClr val="CDD1F2"/>
                </a:solidFill>
                <a:latin typeface="Segoe UI"/>
              </a:rPr>
              <a:t>— database optimisation &amp; monitoring</a:t>
            </a:r>
          </a:p>
        </p:txBody>
      </p:sp>
      <p:sp>
        <p:nvSpPr>
          <p:cNvPr id="29" name="Rounded Rectangle 28"/>
          <p:cNvSpPr/>
          <p:nvPr/>
        </p:nvSpPr>
        <p:spPr>
          <a:xfrm>
            <a:off x="521207" y="5358384"/>
            <a:ext cx="11149279" cy="932688"/>
          </a:xfrm>
          <a:prstGeom prst="roundRect">
            <a:avLst>
              <a:gd name="adj" fmla="val 14000"/>
            </a:avLst>
          </a:prstGeom>
          <a:gradFill rotWithShape="1">
            <a:gsLst>
              <a:gs pos="0">
                <a:srgbClr val="6366F1"/>
              </a:gs>
              <a:gs pos="55000">
                <a:srgbClr val="8B5CF6"/>
              </a:gs>
              <a:gs pos="100000">
                <a:srgbClr val="06B6D4"/>
              </a:gs>
            </a:gsLst>
            <a:lin ang="0" scaled="1"/>
          </a:gradFill>
          <a:ln>
            <a:noFill/>
          </a:ln>
          <a:effectLst>
            <a:outerShdw blurRad="109728" dist="45720" dir="5400000"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logo.png"/>
          <p:cNvPicPr>
            <a:picLocks noChangeAspect="1"/>
          </p:cNvPicPr>
          <p:nvPr/>
        </p:nvPicPr>
        <p:blipFill>
          <a:blip r:embed="rId3"/>
          <a:stretch>
            <a:fillRect/>
          </a:stretch>
        </p:blipFill>
        <p:spPr>
          <a:xfrm>
            <a:off x="795527" y="5559552"/>
            <a:ext cx="530352" cy="530352"/>
          </a:xfrm>
          <a:prstGeom prst="rect">
            <a:avLst/>
          </a:prstGeom>
        </p:spPr>
      </p:pic>
      <p:sp>
        <p:nvSpPr>
          <p:cNvPr id="31" name="TextBox 30"/>
          <p:cNvSpPr txBox="1"/>
          <p:nvPr/>
        </p:nvSpPr>
        <p:spPr>
          <a:xfrm>
            <a:off x="1508760" y="5358384"/>
            <a:ext cx="6035040" cy="932688"/>
          </a:xfrm>
          <a:prstGeom prst="rect">
            <a:avLst/>
          </a:prstGeom>
          <a:noFill/>
        </p:spPr>
        <p:txBody>
          <a:bodyPr wrap="square" anchor="ctr" lIns="0" rIns="0" tIns="0" bIns="0">
            <a:spAutoFit/>
          </a:bodyPr>
          <a:lstStyle/>
          <a:p>
            <a:pPr algn="l">
              <a:lnSpc>
                <a:spcPct val="105000"/>
              </a:lnSpc>
              <a:spcBef>
                <a:spcPts val="0"/>
              </a:spcBef>
              <a:spcAft>
                <a:spcPts val="0"/>
              </a:spcAft>
            </a:pPr>
            <a:r>
              <a:rPr sz="2100" b="1" i="0">
                <a:solidFill>
                  <a:srgbClr val="FFFFFF"/>
                </a:solidFill>
                <a:latin typeface="Segoe UI"/>
              </a:rPr>
              <a:t>Thank you!</a:t>
            </a:r>
            <a:r>
              <a:rPr sz="1250" b="0" i="0">
                <a:solidFill>
                  <a:srgbClr val="E8EAFF"/>
                </a:solidFill>
                <a:latin typeface="Segoe UI"/>
              </a:rPr>
              <a:t>   Questions &amp; a live demo are most welcome.</a:t>
            </a:r>
          </a:p>
        </p:txBody>
      </p:sp>
      <p:sp>
        <p:nvSpPr>
          <p:cNvPr id="32" name="TextBox 31"/>
          <p:cNvSpPr txBox="1"/>
          <p:nvPr/>
        </p:nvSpPr>
        <p:spPr>
          <a:xfrm>
            <a:off x="7498079" y="5358384"/>
            <a:ext cx="3986784" cy="932688"/>
          </a:xfrm>
          <a:prstGeom prst="rect">
            <a:avLst/>
          </a:prstGeom>
          <a:noFill/>
        </p:spPr>
        <p:txBody>
          <a:bodyPr wrap="square" anchor="ctr" lIns="0" rIns="0" tIns="0" bIns="0">
            <a:spAutoFit/>
          </a:bodyPr>
          <a:lstStyle/>
          <a:p>
            <a:pPr algn="r">
              <a:lnSpc>
                <a:spcPct val="115000"/>
              </a:lnSpc>
              <a:spcBef>
                <a:spcPts val="0"/>
              </a:spcBef>
              <a:spcAft>
                <a:spcPts val="0"/>
              </a:spcAft>
            </a:pPr>
            <a:r>
              <a:rPr sz="1250" b="1" i="0">
                <a:solidFill>
                  <a:srgbClr val="FFFFFF"/>
                </a:solidFill>
                <a:latin typeface="Segoe UI"/>
              </a:rPr>
              <a:t>Ashish</a:t>
            </a:r>
          </a:p>
          <a:p>
            <a:pPr algn="r">
              <a:lnSpc>
                <a:spcPct val="115000"/>
              </a:lnSpc>
              <a:spcBef>
                <a:spcPts val="0"/>
              </a:spcBef>
              <a:spcAft>
                <a:spcPts val="0"/>
              </a:spcAft>
            </a:pPr>
            <a:r>
              <a:rPr sz="1050" b="0" i="0">
                <a:solidFill>
                  <a:srgbClr val="DDE0FF"/>
                </a:solidFill>
                <a:latin typeface="Segoe UI"/>
              </a:rPr>
              <a:t>github.com/Ashishdumka24/QuizMaster</a:t>
            </a:r>
          </a:p>
        </p:txBody>
      </p:sp>
      <p:sp>
        <p:nvSpPr>
          <p:cNvPr id="33" name="TextBox 32"/>
          <p:cNvSpPr txBox="1"/>
          <p:nvPr/>
        </p:nvSpPr>
        <p:spPr>
          <a:xfrm>
            <a:off x="521207" y="6510528"/>
            <a:ext cx="6858000" cy="274320"/>
          </a:xfrm>
          <a:prstGeom prst="rect">
            <a:avLst/>
          </a:prstGeom>
          <a:noFill/>
        </p:spPr>
        <p:txBody>
          <a:bodyPr wrap="square" anchor="t" lIns="0" rIns="0" tIns="0" bIns="0">
            <a:spAutoFit/>
          </a:bodyPr>
          <a:lstStyle/>
          <a:p>
            <a:pPr algn="l">
              <a:spcBef>
                <a:spcPts val="0"/>
              </a:spcBef>
              <a:spcAft>
                <a:spcPts val="0"/>
              </a:spcAft>
            </a:pPr>
            <a:r>
              <a:rPr sz="900" b="1" i="0">
                <a:solidFill>
                  <a:srgbClr val="A5B4FC"/>
                </a:solidFill>
                <a:latin typeface="Segoe UI"/>
              </a:rPr>
              <a:t>QuizMaster</a:t>
            </a:r>
            <a:r>
              <a:rPr sz="900" b="0" i="0">
                <a:solidFill>
                  <a:srgbClr val="6F72AA"/>
                </a:solidFill>
                <a:latin typeface="Segoe UI"/>
              </a:rPr>
              <a:t>  ·  Learn Smarter · Assess Better · Improve Continuously</a:t>
            </a:r>
          </a:p>
        </p:txBody>
      </p:sp>
      <p:sp>
        <p:nvSpPr>
          <p:cNvPr id="34" name="TextBox 33"/>
          <p:cNvSpPr txBox="1"/>
          <p:nvPr/>
        </p:nvSpPr>
        <p:spPr>
          <a:xfrm>
            <a:off x="10207447" y="6510528"/>
            <a:ext cx="1463040" cy="274320"/>
          </a:xfrm>
          <a:prstGeom prst="rect">
            <a:avLst/>
          </a:prstGeom>
          <a:noFill/>
        </p:spPr>
        <p:txBody>
          <a:bodyPr wrap="square" anchor="t" lIns="0" rIns="0" tIns="0" bIns="0">
            <a:spAutoFit/>
          </a:bodyPr>
          <a:lstStyle/>
          <a:p>
            <a:pPr algn="r">
              <a:spcBef>
                <a:spcPts val="0"/>
              </a:spcBef>
              <a:spcAft>
                <a:spcPts val="0"/>
              </a:spcAft>
            </a:pPr>
            <a:r>
              <a:rPr sz="1000" b="1" i="0">
                <a:solidFill>
                  <a:srgbClr val="FFFFFF"/>
                </a:solidFill>
                <a:latin typeface="Segoe UI"/>
              </a:rPr>
              <a:t>11</a:t>
            </a:r>
            <a:r>
              <a:rPr sz="1000" b="0" i="0">
                <a:solidFill>
                  <a:srgbClr val="6F72AA"/>
                </a:solidFill>
                <a:latin typeface="Segoe UI"/>
              </a:rPr>
              <a:t> / 11</a:t>
            </a:r>
          </a:p>
        </p:txBody>
      </p:sp>
    </p:spTree>
  </p:cSld>
  <p:clrMapOvr>
    <a:masterClrMapping/>
  </p:clrMapOvr>
  <p:transition spd="med" advClick="1">
    <p:fade thruBlk="1"/>
  </p:transition>
  <p:timing>
    <p:tnLst>
      <p:par>
        <p:cTn id="1" dur="indefinite" restart="never" nodeType="tmRoot">
          <p:childTnLst>
            <p:seq concurrent="1" nextAc="seek">
              <p:cTn id="2" dur="indefinite" nodeType="mainSeq">
                <p:childTnLst>
                  <p:par>
                    <p:cTn id="101" fill="hold">
                      <p:stCondLst>
                        <p:cond delay="0"/>
                      </p:stCondLst>
                      <p:childTnLst>
                        <p:par>
                          <p:cTn id="102" fill="hold">
                            <p:stCondLst>
                              <p:cond delay="0"/>
                            </p:stCondLst>
                            <p:childTnLst>
                              <p:par>
                                <p:cTn id="103" presetID="10" presetClass="entr" presetSubtype="0" fill="hold" grpId="0" nodeType="withEffect">
                                  <p:stCondLst>
                                    <p:cond delay="0"/>
                                  </p:stCondLst>
                                  <p:childTnLst>
                                    <p:set>
                                      <p:cBhvr>
                                        <p:cTn id="104" dur="1" fill="hold">
                                          <p:stCondLst>
                                            <p:cond delay="0"/>
                                          </p:stCondLst>
                                          <p:attrNameLst>
                                            <p:attrName>style.visibility</p:attrName>
                                          </p:attrNameLst>
                                        </p:cTn>
                                        <p:tgtEl>
                                          <p:spTgt spid="3"/>
                                        </p:tgtEl>
                                      </p:cBhvr>
                                      <p:to>
                                        <p:strVal val="visible"/>
                                      </p:to>
                                    </p:set>
                                    <p:animEffect transition="in" filter="fade">
                                      <p:cBhvr>
                                        <p:cTn id="105" dur="550"/>
                                        <p:tgtEl>
                                          <p:spTgt spid="3"/>
                                        </p:tgtEl>
                                      </p:cBhvr>
                                    </p:animEffect>
                                  </p:childTnLst>
                                </p:cTn>
                              </p:par>
                            </p:childTnLst>
                          </p:cTn>
                        </p:par>
                        <p:par>
                          <p:cTn id="106" fill="hold">
                            <p:stCondLst>
                              <p:cond delay="0"/>
                            </p:stCondLst>
                            <p:childTnLst>
                              <p:par>
                                <p:cTn id="107" presetID="10" presetClass="entr" presetSubtype="0" fill="hold" grpId="0" nodeType="withEffect">
                                  <p:stCondLst>
                                    <p:cond delay="0"/>
                                  </p:stCondLst>
                                  <p:childTnLst>
                                    <p:set>
                                      <p:cBhvr>
                                        <p:cTn id="108" dur="1" fill="hold">
                                          <p:stCondLst>
                                            <p:cond delay="0"/>
                                          </p:stCondLst>
                                          <p:attrNameLst>
                                            <p:attrName>style.visibility</p:attrName>
                                          </p:attrNameLst>
                                        </p:cTn>
                                        <p:tgtEl>
                                          <p:spTgt spid="4"/>
                                        </p:tgtEl>
                                      </p:cBhvr>
                                      <p:to>
                                        <p:strVal val="visible"/>
                                      </p:to>
                                    </p:set>
                                    <p:animEffect transition="in" filter="fade">
                                      <p:cBhvr>
                                        <p:cTn id="109" dur="550"/>
                                        <p:tgtEl>
                                          <p:spTgt spid="4"/>
                                        </p:tgtEl>
                                      </p:cBhvr>
                                    </p:animEffect>
                                  </p:childTnLst>
                                </p:cTn>
                              </p:par>
                            </p:childTnLst>
                          </p:cTn>
                        </p:par>
                        <p:par>
                          <p:cTn id="110" fill="hold">
                            <p:stCondLst>
                              <p:cond delay="0"/>
                            </p:stCondLst>
                            <p:childTnLst>
                              <p:par>
                                <p:cTn id="111" presetID="10" presetClass="entr" presetSubtype="0" fill="hold" grpId="0" nodeType="withEffect">
                                  <p:stCondLst>
                                    <p:cond delay="0"/>
                                  </p:stCondLst>
                                  <p:childTnLst>
                                    <p:set>
                                      <p:cBhvr>
                                        <p:cTn id="112" dur="1" fill="hold">
                                          <p:stCondLst>
                                            <p:cond delay="0"/>
                                          </p:stCondLst>
                                          <p:attrNameLst>
                                            <p:attrName>style.visibility</p:attrName>
                                          </p:attrNameLst>
                                        </p:cTn>
                                        <p:tgtEl>
                                          <p:spTgt spid="5"/>
                                        </p:tgtEl>
                                      </p:cBhvr>
                                      <p:to>
                                        <p:strVal val="visible"/>
                                      </p:to>
                                    </p:set>
                                    <p:animEffect transition="in" filter="fade">
                                      <p:cBhvr>
                                        <p:cTn id="113" dur="550"/>
                                        <p:tgtEl>
                                          <p:spTgt spid="5"/>
                                        </p:tgtEl>
                                      </p:cBhvr>
                                    </p:animEffect>
                                  </p:childTnLst>
                                </p:cTn>
                              </p:par>
                            </p:childTnLst>
                          </p:cTn>
                        </p:par>
                        <p:par>
                          <p:cTn id="114" fill="hold">
                            <p:stCondLst>
                              <p:cond delay="0"/>
                            </p:stCondLst>
                            <p:childTnLst>
                              <p:par>
                                <p:cTn id="115" presetID="10" presetClass="entr" presetSubtype="0" fill="hold" grpId="0" nodeType="withEffect">
                                  <p:stCondLst>
                                    <p:cond delay="160"/>
                                  </p:stCondLst>
                                  <p:childTnLst>
                                    <p:set>
                                      <p:cBhvr>
                                        <p:cTn id="116" dur="1" fill="hold">
                                          <p:stCondLst>
                                            <p:cond delay="0"/>
                                          </p:stCondLst>
                                          <p:attrNameLst>
                                            <p:attrName>style.visibility</p:attrName>
                                          </p:attrNameLst>
                                        </p:cTn>
                                        <p:tgtEl>
                                          <p:spTgt spid="6"/>
                                        </p:tgtEl>
                                      </p:cBhvr>
                                      <p:to>
                                        <p:strVal val="visible"/>
                                      </p:to>
                                    </p:set>
                                    <p:animEffect transition="in" filter="fade">
                                      <p:cBhvr>
                                        <p:cTn id="117" dur="550"/>
                                        <p:tgtEl>
                                          <p:spTgt spid="6"/>
                                        </p:tgtEl>
                                      </p:cBhvr>
                                    </p:animEffect>
                                  </p:childTnLst>
                                </p:cTn>
                              </p:par>
                            </p:childTnLst>
                          </p:cTn>
                        </p:par>
                        <p:par>
                          <p:cTn id="118" fill="hold">
                            <p:stCondLst>
                              <p:cond delay="0"/>
                            </p:stCondLst>
                            <p:childTnLst>
                              <p:par>
                                <p:cTn id="119" presetID="10" presetClass="entr" presetSubtype="0" fill="hold" grpId="0" nodeType="withEffect">
                                  <p:stCondLst>
                                    <p:cond delay="250"/>
                                  </p:stCondLst>
                                  <p:childTnLst>
                                    <p:set>
                                      <p:cBhvr>
                                        <p:cTn id="120" dur="1" fill="hold">
                                          <p:stCondLst>
                                            <p:cond delay="0"/>
                                          </p:stCondLst>
                                          <p:attrNameLst>
                                            <p:attrName>style.visibility</p:attrName>
                                          </p:attrNameLst>
                                        </p:cTn>
                                        <p:tgtEl>
                                          <p:spTgt spid="9"/>
                                        </p:tgtEl>
                                      </p:cBhvr>
                                      <p:to>
                                        <p:strVal val="visible"/>
                                      </p:to>
                                    </p:set>
                                    <p:animEffect transition="in" filter="fade">
                                      <p:cBhvr>
                                        <p:cTn id="121" dur="550"/>
                                        <p:tgtEl>
                                          <p:spTgt spid="9"/>
                                        </p:tgtEl>
                                      </p:cBhvr>
                                    </p:animEffect>
                                  </p:childTnLst>
                                </p:cTn>
                              </p:par>
                            </p:childTnLst>
                          </p:cTn>
                        </p:par>
                        <p:par>
                          <p:cTn id="122" fill="hold">
                            <p:stCondLst>
                              <p:cond delay="0"/>
                            </p:stCondLst>
                            <p:childTnLst>
                              <p:par>
                                <p:cTn id="123" presetID="10" presetClass="entr" presetSubtype="0" fill="hold" grpId="0" nodeType="withEffect">
                                  <p:stCondLst>
                                    <p:cond delay="340"/>
                                  </p:stCondLst>
                                  <p:childTnLst>
                                    <p:set>
                                      <p:cBhvr>
                                        <p:cTn id="124" dur="1" fill="hold">
                                          <p:stCondLst>
                                            <p:cond delay="0"/>
                                          </p:stCondLst>
                                          <p:attrNameLst>
                                            <p:attrName>style.visibility</p:attrName>
                                          </p:attrNameLst>
                                        </p:cTn>
                                        <p:tgtEl>
                                          <p:spTgt spid="12"/>
                                        </p:tgtEl>
                                      </p:cBhvr>
                                      <p:to>
                                        <p:strVal val="visible"/>
                                      </p:to>
                                    </p:set>
                                    <p:animEffect transition="in" filter="fade">
                                      <p:cBhvr>
                                        <p:cTn id="125" dur="550"/>
                                        <p:tgtEl>
                                          <p:spTgt spid="12"/>
                                        </p:tgtEl>
                                      </p:cBhvr>
                                    </p:animEffect>
                                  </p:childTnLst>
                                </p:cTn>
                              </p:par>
                            </p:childTnLst>
                          </p:cTn>
                        </p:par>
                        <p:par>
                          <p:cTn id="126" fill="hold">
                            <p:stCondLst>
                              <p:cond delay="0"/>
                            </p:stCondLst>
                            <p:childTnLst>
                              <p:par>
                                <p:cTn id="127" presetID="10" presetClass="entr" presetSubtype="0" fill="hold" grpId="0" nodeType="withEffect">
                                  <p:stCondLst>
                                    <p:cond delay="430"/>
                                  </p:stCondLst>
                                  <p:childTnLst>
                                    <p:set>
                                      <p:cBhvr>
                                        <p:cTn id="128" dur="1" fill="hold">
                                          <p:stCondLst>
                                            <p:cond delay="0"/>
                                          </p:stCondLst>
                                          <p:attrNameLst>
                                            <p:attrName>style.visibility</p:attrName>
                                          </p:attrNameLst>
                                        </p:cTn>
                                        <p:tgtEl>
                                          <p:spTgt spid="15"/>
                                        </p:tgtEl>
                                      </p:cBhvr>
                                      <p:to>
                                        <p:strVal val="visible"/>
                                      </p:to>
                                    </p:set>
                                    <p:animEffect transition="in" filter="fade">
                                      <p:cBhvr>
                                        <p:cTn id="129" dur="550"/>
                                        <p:tgtEl>
                                          <p:spTgt spid="15"/>
                                        </p:tgtEl>
                                      </p:cBhvr>
                                    </p:animEffect>
                                  </p:childTnLst>
                                </p:cTn>
                              </p:par>
                            </p:childTnLst>
                          </p:cTn>
                        </p:par>
                        <p:par>
                          <p:cTn id="130" fill="hold">
                            <p:stCondLst>
                              <p:cond delay="0"/>
                            </p:stCondLst>
                            <p:childTnLst>
                              <p:par>
                                <p:cTn id="131" presetID="10" presetClass="entr" presetSubtype="0" fill="hold" grpId="0" nodeType="withEffect">
                                  <p:stCondLst>
                                    <p:cond delay="520"/>
                                  </p:stCondLst>
                                  <p:childTnLst>
                                    <p:set>
                                      <p:cBhvr>
                                        <p:cTn id="132" dur="1" fill="hold">
                                          <p:stCondLst>
                                            <p:cond delay="0"/>
                                          </p:stCondLst>
                                          <p:attrNameLst>
                                            <p:attrName>style.visibility</p:attrName>
                                          </p:attrNameLst>
                                        </p:cTn>
                                        <p:tgtEl>
                                          <p:spTgt spid="18"/>
                                        </p:tgtEl>
                                      </p:cBhvr>
                                      <p:to>
                                        <p:strVal val="visible"/>
                                      </p:to>
                                    </p:set>
                                    <p:animEffect transition="in" filter="fade">
                                      <p:cBhvr>
                                        <p:cTn id="133" dur="550"/>
                                        <p:tgtEl>
                                          <p:spTgt spid="18"/>
                                        </p:tgtEl>
                                      </p:cBhvr>
                                    </p:animEffect>
                                  </p:childTnLst>
                                </p:cTn>
                              </p:par>
                            </p:childTnLst>
                          </p:cTn>
                        </p:par>
                        <p:par>
                          <p:cTn id="134" fill="hold">
                            <p:stCondLst>
                              <p:cond delay="0"/>
                            </p:stCondLst>
                            <p:childTnLst>
                              <p:par>
                                <p:cTn id="135" presetID="10" presetClass="entr" presetSubtype="0" fill="hold" grpId="0" nodeType="withEffect">
                                  <p:stCondLst>
                                    <p:cond delay="320"/>
                                  </p:stCondLst>
                                  <p:childTnLst>
                                    <p:set>
                                      <p:cBhvr>
                                        <p:cTn id="136" dur="1" fill="hold">
                                          <p:stCondLst>
                                            <p:cond delay="0"/>
                                          </p:stCondLst>
                                          <p:attrNameLst>
                                            <p:attrName>style.visibility</p:attrName>
                                          </p:attrNameLst>
                                        </p:cTn>
                                        <p:tgtEl>
                                          <p:spTgt spid="21"/>
                                        </p:tgtEl>
                                      </p:cBhvr>
                                      <p:to>
                                        <p:strVal val="visible"/>
                                      </p:to>
                                    </p:set>
                                    <p:animEffect transition="in" filter="fade">
                                      <p:cBhvr>
                                        <p:cTn id="137" dur="550"/>
                                        <p:tgtEl>
                                          <p:spTgt spid="21"/>
                                        </p:tgtEl>
                                      </p:cBhvr>
                                    </p:animEffect>
                                  </p:childTnLst>
                                </p:cTn>
                              </p:par>
                            </p:childTnLst>
                          </p:cTn>
                        </p:par>
                        <p:par>
                          <p:cTn id="138" fill="hold">
                            <p:stCondLst>
                              <p:cond delay="0"/>
                            </p:stCondLst>
                            <p:childTnLst>
                              <p:par>
                                <p:cTn id="139" presetID="10" presetClass="entr" presetSubtype="0" fill="hold" grpId="0" nodeType="withEffect">
                                  <p:stCondLst>
                                    <p:cond delay="440"/>
                                  </p:stCondLst>
                                  <p:childTnLst>
                                    <p:set>
                                      <p:cBhvr>
                                        <p:cTn id="140" dur="1" fill="hold">
                                          <p:stCondLst>
                                            <p:cond delay="0"/>
                                          </p:stCondLst>
                                          <p:attrNameLst>
                                            <p:attrName>style.visibility</p:attrName>
                                          </p:attrNameLst>
                                        </p:cTn>
                                        <p:tgtEl>
                                          <p:spTgt spid="24"/>
                                        </p:tgtEl>
                                      </p:cBhvr>
                                      <p:to>
                                        <p:strVal val="visible"/>
                                      </p:to>
                                    </p:set>
                                    <p:animEffect transition="in" filter="fade">
                                      <p:cBhvr>
                                        <p:cTn id="141" dur="550"/>
                                        <p:tgtEl>
                                          <p:spTgt spid="24"/>
                                        </p:tgtEl>
                                      </p:cBhvr>
                                    </p:animEffect>
                                  </p:childTnLst>
                                </p:cTn>
                              </p:par>
                            </p:childTnLst>
                          </p:cTn>
                        </p:par>
                        <p:par>
                          <p:cTn id="142" fill="hold">
                            <p:stCondLst>
                              <p:cond delay="0"/>
                            </p:stCondLst>
                            <p:childTnLst>
                              <p:par>
                                <p:cTn id="143" presetID="10" presetClass="entr" presetSubtype="0" fill="hold" grpId="0" nodeType="withEffect">
                                  <p:stCondLst>
                                    <p:cond delay="470"/>
                                  </p:stCondLst>
                                  <p:childTnLst>
                                    <p:set>
                                      <p:cBhvr>
                                        <p:cTn id="144" dur="1" fill="hold">
                                          <p:stCondLst>
                                            <p:cond delay="0"/>
                                          </p:stCondLst>
                                          <p:attrNameLst>
                                            <p:attrName>style.visibility</p:attrName>
                                          </p:attrNameLst>
                                        </p:cTn>
                                        <p:tgtEl>
                                          <p:spTgt spid="25"/>
                                        </p:tgtEl>
                                      </p:cBhvr>
                                      <p:to>
                                        <p:strVal val="visible"/>
                                      </p:to>
                                    </p:set>
                                    <p:animEffect transition="in" filter="fade">
                                      <p:cBhvr>
                                        <p:cTn id="145" dur="550"/>
                                        <p:tgtEl>
                                          <p:spTgt spid="25"/>
                                        </p:tgtEl>
                                      </p:cBhvr>
                                    </p:animEffect>
                                  </p:childTnLst>
                                </p:cTn>
                              </p:par>
                            </p:childTnLst>
                          </p:cTn>
                        </p:par>
                        <p:par>
                          <p:cTn id="146" fill="hold">
                            <p:stCondLst>
                              <p:cond delay="0"/>
                            </p:stCondLst>
                            <p:childTnLst>
                              <p:par>
                                <p:cTn id="147" presetID="10" presetClass="entr" presetSubtype="0" fill="hold" grpId="0" nodeType="withEffect">
                                  <p:stCondLst>
                                    <p:cond delay="590"/>
                                  </p:stCondLst>
                                  <p:childTnLst>
                                    <p:set>
                                      <p:cBhvr>
                                        <p:cTn id="148" dur="1" fill="hold">
                                          <p:stCondLst>
                                            <p:cond delay="0"/>
                                          </p:stCondLst>
                                          <p:attrNameLst>
                                            <p:attrName>style.visibility</p:attrName>
                                          </p:attrNameLst>
                                        </p:cTn>
                                        <p:tgtEl>
                                          <p:spTgt spid="28"/>
                                        </p:tgtEl>
                                      </p:cBhvr>
                                      <p:to>
                                        <p:strVal val="visible"/>
                                      </p:to>
                                    </p:set>
                                    <p:animEffect transition="in" filter="fade">
                                      <p:cBhvr>
                                        <p:cTn id="149" dur="550"/>
                                        <p:tgtEl>
                                          <p:spTgt spid="28"/>
                                        </p:tgtEl>
                                      </p:cBhvr>
                                    </p:animEffect>
                                  </p:childTnLst>
                                </p:cTn>
                              </p:par>
                            </p:childTnLst>
                          </p:cTn>
                        </p:par>
                        <p:par>
                          <p:cTn id="150" fill="hold">
                            <p:stCondLst>
                              <p:cond delay="0"/>
                            </p:stCondLst>
                            <p:childTnLst>
                              <p:par>
                                <p:cTn id="151" presetID="10" presetClass="entr" presetSubtype="0" fill="hold" grpId="0" nodeType="withEffect">
                                  <p:stCondLst>
                                    <p:cond delay="680"/>
                                  </p:stCondLst>
                                  <p:childTnLst>
                                    <p:set>
                                      <p:cBhvr>
                                        <p:cTn id="152" dur="1" fill="hold">
                                          <p:stCondLst>
                                            <p:cond delay="0"/>
                                          </p:stCondLst>
                                          <p:attrNameLst>
                                            <p:attrName>style.visibility</p:attrName>
                                          </p:attrNameLst>
                                        </p:cTn>
                                        <p:tgtEl>
                                          <p:spTgt spid="29"/>
                                        </p:tgtEl>
                                      </p:cBhvr>
                                      <p:to>
                                        <p:strVal val="visible"/>
                                      </p:to>
                                    </p:set>
                                    <p:animEffect transition="in" filter="fade">
                                      <p:cBhvr>
                                        <p:cTn id="153" dur="550"/>
                                        <p:tgtEl>
                                          <p:spTgt spid="29"/>
                                        </p:tgtEl>
                                      </p:cBhvr>
                                    </p:animEffect>
                                  </p:childTnLst>
                                </p:cTn>
                              </p:par>
                            </p:childTnLst>
                          </p:cTn>
                        </p:par>
                      </p:childTnLst>
                    </p:cTn>
                  </p:par>
                </p:childTnLst>
              </p:cTn>
              <p:prevCondLst>
                <p:cond delay="indefinite" evt="onClick">
                  <p:tgtEl>
                    <p:sldTgt/>
                  </p:tgtEl>
                </p:cond>
              </p:prevCondLst>
              <p:nextCondLst>
                <p:cond delay="indefinite" evt="onClick">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QuizMaster — Online Quiz, Assessment &amp; TQM Quality Platform</dc:title>
  <dc:subject>BBAT104 Fundamentals of TQM — Project Presentation</dc:subject>
  <dc:creator>Ashish</dc:creator>
  <cp:keywords/>
  <dc:description>Learn Smarter · Assess Better · Improve Continuously. 11-slide deck with presenter notes; manual slide advance.</dc:description>
  <cp:lastModifiedBy>Steve Canny</cp:lastModifiedBy>
  <cp:revision>1</cp:revision>
  <dcterms:created xsi:type="dcterms:W3CDTF">2013-01-27T09:14:16Z</dcterms:created>
  <dcterms:modified xsi:type="dcterms:W3CDTF">2013-01-27T09:15:58Z</dcterms:modified>
  <cp:category/>
</cp:coreProperties>
</file>